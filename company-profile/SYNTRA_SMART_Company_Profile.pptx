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slideLayout" Target="../slideLayouts/slideLayout1.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1.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7619695" y="-3200400"/>
            <a:ext cx="8229600" cy="8229600"/>
          </a:xfrm>
          <a:prstGeom prst="ellipse">
            <a:avLst/>
          </a:prstGeom>
          <a:solidFill>
            <a:srgbClr val="0A84FF">
              <a:alpha val="10000"/>
            </a:srgbClr>
          </a:solidFill>
          <a:ln/>
        </p:spPr>
      </p:sp>
      <p:sp>
        <p:nvSpPr>
          <p:cNvPr id="3" name="Shape 1"/>
          <p:cNvSpPr/>
          <p:nvPr/>
        </p:nvSpPr>
        <p:spPr>
          <a:xfrm>
            <a:off x="-3657600" y="5029200"/>
            <a:ext cx="6400800" cy="6400800"/>
          </a:xfrm>
          <a:prstGeom prst="ellipse">
            <a:avLst/>
          </a:prstGeom>
          <a:solidFill>
            <a:srgbClr val="B9BDC1">
              <a:alpha val="5000"/>
            </a:srgbClr>
          </a:solidFill>
          <a:ln/>
        </p:spPr>
      </p:sp>
      <p:pic>
        <p:nvPicPr>
          <p:cNvPr id="4" name="Image 0" descr="/sessions/youthful-gracious-curie/mnt/outputs/assets/logo_lockup.png">    </p:cNvPr>
          <p:cNvPicPr>
            <a:picLocks noChangeAspect="1"/>
          </p:cNvPicPr>
          <p:nvPr/>
        </p:nvPicPr>
        <p:blipFill>
          <a:blip r:embed="rId1"/>
          <a:stretch>
            <a:fillRect/>
          </a:stretch>
        </p:blipFill>
        <p:spPr>
          <a:xfrm>
            <a:off x="2804008" y="1965960"/>
            <a:ext cx="6583680" cy="3618426"/>
          </a:xfrm>
          <a:prstGeom prst="rect">
            <a:avLst/>
          </a:prstGeom>
        </p:spPr>
      </p:pic>
      <p:sp>
        <p:nvSpPr>
          <p:cNvPr id="5" name="Text 2"/>
          <p:cNvSpPr/>
          <p:nvPr/>
        </p:nvSpPr>
        <p:spPr>
          <a:xfrm>
            <a:off x="0" y="4892040"/>
            <a:ext cx="12191695" cy="365760"/>
          </a:xfrm>
          <a:prstGeom prst="rect">
            <a:avLst/>
          </a:prstGeom>
          <a:noFill/>
          <a:ln/>
        </p:spPr>
        <p:txBody>
          <a:bodyPr wrap="square" lIns="0" tIns="0" rIns="0" bIns="0" rtlCol="0" anchor="ctr"/>
          <a:lstStyle/>
          <a:p>
            <a:pPr algn="ctr" indent="0" marL="0">
              <a:buNone/>
            </a:pPr>
            <a:r>
              <a:rPr lang="en-US" sz="1300" b="1" spc="400" kern="0" dirty="0">
                <a:solidFill>
                  <a:srgbClr val="B9BDC1"/>
                </a:solidFill>
                <a:latin typeface="Arial" pitchFamily="34" charset="0"/>
                <a:ea typeface="Arial" pitchFamily="34" charset="-122"/>
                <a:cs typeface="Arial" pitchFamily="34" charset="-120"/>
              </a:rPr>
              <a:t>GLOBAL COMPANY PROFILE</a:t>
            </a:r>
            <a:endParaRPr lang="en-US" sz="1300" dirty="0"/>
          </a:p>
        </p:txBody>
      </p:sp>
      <p:sp>
        <p:nvSpPr>
          <p:cNvPr id="6" name="Text 3"/>
          <p:cNvSpPr/>
          <p:nvPr/>
        </p:nvSpPr>
        <p:spPr>
          <a:xfrm>
            <a:off x="0" y="6080760"/>
            <a:ext cx="12191695" cy="320040"/>
          </a:xfrm>
          <a:prstGeom prst="rect">
            <a:avLst/>
          </a:prstGeom>
          <a:noFill/>
          <a:ln/>
        </p:spPr>
        <p:txBody>
          <a:bodyPr wrap="square" lIns="0" tIns="0" rIns="0" bIns="0" rtlCol="0" anchor="ctr"/>
          <a:lstStyle/>
          <a:p>
            <a:pPr algn="ctr" indent="0" marL="0">
              <a:buNone/>
            </a:pPr>
            <a:r>
              <a:rPr lang="en-US" sz="1100" spc="200" kern="0" dirty="0">
                <a:solidFill>
                  <a:srgbClr val="8B8E93"/>
                </a:solidFill>
                <a:latin typeface="Calibri" pitchFamily="34" charset="0"/>
                <a:ea typeface="Calibri" pitchFamily="34" charset="-122"/>
                <a:cs typeface="Calibri" pitchFamily="34" charset="-120"/>
              </a:rPr>
              <a:t>2026 EDITION  ·  RIYADH — GLOBAL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CHAIRMAN'S MESSAGE</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02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02 — LEADERSHIP</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536"/>
              </a:lnSpc>
              <a:buNone/>
            </a:pPr>
            <a:r>
              <a:rPr lang="en-US" sz="3400" b="1" dirty="0">
                <a:solidFill>
                  <a:srgbClr val="FFFFFF"/>
                </a:solidFill>
                <a:latin typeface="Arial" pitchFamily="34" charset="0"/>
                <a:ea typeface="Arial" pitchFamily="34" charset="-122"/>
                <a:cs typeface="Arial" pitchFamily="34" charset="-120"/>
              </a:rPr>
              <a:t>A Message from Our Chairman</a:t>
            </a:r>
            <a:endParaRPr lang="en-US" sz="3400" dirty="0"/>
          </a:p>
        </p:txBody>
      </p:sp>
      <p:sp>
        <p:nvSpPr>
          <p:cNvPr id="10" name="Shape 8"/>
          <p:cNvSpPr/>
          <p:nvPr/>
        </p:nvSpPr>
        <p:spPr>
          <a:xfrm>
            <a:off x="10271455" y="914400"/>
            <a:ext cx="640080" cy="640080"/>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10437876" y="1080821"/>
            <a:ext cx="307238" cy="307238"/>
          </a:xfrm>
          <a:prstGeom prst="rect">
            <a:avLst/>
          </a:prstGeom>
        </p:spPr>
      </p:pic>
      <p:sp>
        <p:nvSpPr>
          <p:cNvPr id="12" name="Text 9"/>
          <p:cNvSpPr/>
          <p:nvPr/>
        </p:nvSpPr>
        <p:spPr>
          <a:xfrm>
            <a:off x="685800" y="2331720"/>
            <a:ext cx="6949440" cy="3657600"/>
          </a:xfrm>
          <a:prstGeom prst="rect">
            <a:avLst/>
          </a:prstGeom>
          <a:noFill/>
          <a:ln/>
        </p:spPr>
        <p:txBody>
          <a:bodyPr wrap="square" lIns="0" tIns="0" rIns="0" bIns="0" rtlCol="0" anchor="ctr"/>
          <a:lstStyle/>
          <a:p>
            <a:pPr indent="0" marL="0">
              <a:lnSpc>
                <a:spcPct val="135000"/>
              </a:lnSpc>
              <a:buNone/>
            </a:pPr>
            <a:r>
              <a:rPr lang="en-US" sz="1350" dirty="0">
                <a:solidFill>
                  <a:srgbClr val="C9CCCF"/>
                </a:solidFill>
                <a:latin typeface="Calibri" pitchFamily="34" charset="0"/>
                <a:ea typeface="Calibri" pitchFamily="34" charset="-122"/>
                <a:cs typeface="Calibri" pitchFamily="34" charset="-120"/>
              </a:rPr>
              <a:t>Every industry reaches a point where convenience is no longer enough — where intelligence becomes the standard. SYNTRA SMART was built for that moment.</a:t>
            </a:r>
            <a:endParaRPr lang="en-US" sz="1350" dirty="0"/>
          </a:p>
          <a:p>
            <a:pPr indent="0" marL="0">
              <a:lnSpc>
                <a:spcPct val="135000"/>
              </a:lnSpc>
              <a:buNone/>
            </a:pPr>
            <a:endParaRPr lang="en-US" sz="1350" dirty="0"/>
          </a:p>
          <a:p>
            <a:pPr indent="0" marL="0">
              <a:lnSpc>
                <a:spcPct val="135000"/>
              </a:lnSpc>
              <a:buNone/>
            </a:pPr>
            <a:r>
              <a:rPr lang="en-US" sz="1350" dirty="0">
                <a:solidFill>
                  <a:srgbClr val="C9CCCF"/>
                </a:solidFill>
                <a:latin typeface="Calibri" pitchFamily="34" charset="0"/>
                <a:ea typeface="Calibri" pitchFamily="34" charset="-122"/>
                <a:cs typeface="Calibri" pitchFamily="34" charset="-120"/>
              </a:rPr>
              <a:t>We did not set out to make another smart plug or another app. We set out to build the operating layer for how homes, businesses and cities will run for the next fifty years — quietly, securely and beautifully.</a:t>
            </a:r>
            <a:endParaRPr lang="en-US" sz="1350" dirty="0"/>
          </a:p>
          <a:p>
            <a:pPr indent="0" marL="0">
              <a:lnSpc>
                <a:spcPct val="135000"/>
              </a:lnSpc>
              <a:buNone/>
            </a:pPr>
            <a:endParaRPr lang="en-US" sz="1350" dirty="0"/>
          </a:p>
          <a:p>
            <a:pPr indent="0" marL="0">
              <a:lnSpc>
                <a:spcPct val="135000"/>
              </a:lnSpc>
              <a:buNone/>
            </a:pPr>
            <a:r>
              <a:rPr lang="en-US" sz="1350" dirty="0">
                <a:solidFill>
                  <a:srgbClr val="C9CCCF"/>
                </a:solidFill>
                <a:latin typeface="Calibri" pitchFamily="34" charset="0"/>
                <a:ea typeface="Calibri" pitchFamily="34" charset="-122"/>
                <a:cs typeface="Calibri" pitchFamily="34" charset="-120"/>
              </a:rPr>
              <a:t>From Riyadh to the world, our mission is simple: give every space the intelligence to take care of itself, and give every person back the time technology was always meant to create.</a:t>
            </a:r>
            <a:endParaRPr lang="en-US" sz="1350" dirty="0"/>
          </a:p>
          <a:p>
            <a:pPr indent="0" marL="0">
              <a:lnSpc>
                <a:spcPct val="135000"/>
              </a:lnSpc>
              <a:buNone/>
            </a:pPr>
            <a:endParaRPr lang="en-US" sz="1350" dirty="0"/>
          </a:p>
          <a:p>
            <a:pPr indent="0" marL="0">
              <a:lnSpc>
                <a:spcPct val="135000"/>
              </a:lnSpc>
              <a:buNone/>
            </a:pPr>
            <a:r>
              <a:rPr lang="en-US" sz="1350" dirty="0">
                <a:solidFill>
                  <a:srgbClr val="C9CCCF"/>
                </a:solidFill>
                <a:latin typeface="Calibri" pitchFamily="34" charset="0"/>
                <a:ea typeface="Calibri" pitchFamily="34" charset="-122"/>
                <a:cs typeface="Calibri" pitchFamily="34" charset="-120"/>
              </a:rPr>
              <a:t>This is only the beginning.</a:t>
            </a:r>
            <a:endParaRPr lang="en-US" sz="1350" dirty="0"/>
          </a:p>
        </p:txBody>
      </p:sp>
      <p:sp>
        <p:nvSpPr>
          <p:cNvPr id="13" name="Shape 10"/>
          <p:cNvSpPr/>
          <p:nvPr/>
        </p:nvSpPr>
        <p:spPr>
          <a:xfrm>
            <a:off x="8001000" y="2331720"/>
            <a:ext cx="3520440" cy="2834640"/>
          </a:xfrm>
          <a:prstGeom prst="roundRect">
            <a:avLst>
              <a:gd name="adj" fmla="val 3226"/>
            </a:avLst>
          </a:prstGeom>
          <a:solidFill>
            <a:srgbClr val="141417"/>
          </a:solidFill>
          <a:ln w="12700">
            <a:solidFill>
              <a:srgbClr val="242528"/>
            </a:solidFill>
            <a:prstDash val="solid"/>
          </a:ln>
        </p:spPr>
      </p:sp>
      <p:sp>
        <p:nvSpPr>
          <p:cNvPr id="14" name="Text 11"/>
          <p:cNvSpPr/>
          <p:nvPr/>
        </p:nvSpPr>
        <p:spPr>
          <a:xfrm>
            <a:off x="8275320" y="3977640"/>
            <a:ext cx="301752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ANAS ELIMAM</a:t>
            </a:r>
            <a:endParaRPr lang="en-US" sz="1600" dirty="0"/>
          </a:p>
        </p:txBody>
      </p:sp>
      <p:sp>
        <p:nvSpPr>
          <p:cNvPr id="15" name="Text 12"/>
          <p:cNvSpPr/>
          <p:nvPr/>
        </p:nvSpPr>
        <p:spPr>
          <a:xfrm>
            <a:off x="8275320" y="4343400"/>
            <a:ext cx="3017520" cy="548640"/>
          </a:xfrm>
          <a:prstGeom prst="rect">
            <a:avLst/>
          </a:prstGeom>
          <a:noFill/>
          <a:ln/>
        </p:spPr>
        <p:txBody>
          <a:bodyPr wrap="square" lIns="0" tIns="0" rIns="0" bIns="0" rtlCol="0" anchor="ctr"/>
          <a:lstStyle/>
          <a:p>
            <a:pPr indent="0" marL="0">
              <a:lnSpc>
                <a:spcPct val="130000"/>
              </a:lnSpc>
              <a:buNone/>
            </a:pPr>
            <a:r>
              <a:rPr lang="en-US" sz="1050" dirty="0">
                <a:solidFill>
                  <a:srgbClr val="8B8E93"/>
                </a:solidFill>
                <a:latin typeface="Calibri" pitchFamily="34" charset="0"/>
                <a:ea typeface="Calibri" pitchFamily="34" charset="-122"/>
                <a:cs typeface="Calibri" pitchFamily="34" charset="-120"/>
              </a:rPr>
              <a:t>Founder &amp; Chairman</a:t>
            </a:r>
            <a:endParaRPr lang="en-US" sz="1050" dirty="0"/>
          </a:p>
          <a:p>
            <a:pPr indent="0" marL="0">
              <a:lnSpc>
                <a:spcPct val="130000"/>
              </a:lnSpc>
              <a:buNone/>
            </a:pPr>
            <a:r>
              <a:rPr lang="en-US" sz="1050" dirty="0">
                <a:solidFill>
                  <a:srgbClr val="8B8E93"/>
                </a:solidFill>
                <a:latin typeface="Calibri" pitchFamily="34" charset="0"/>
                <a:ea typeface="Calibri" pitchFamily="34" charset="-122"/>
                <a:cs typeface="Calibri" pitchFamily="34" charset="-120"/>
              </a:rPr>
              <a:t>SYNTRA SMART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ABOUT SYNTRA</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03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03 — ABOUT SYNTRA</a:t>
            </a:r>
            <a:endParaRPr lang="en-US" sz="1300" dirty="0"/>
          </a:p>
        </p:txBody>
      </p:sp>
      <p:sp>
        <p:nvSpPr>
          <p:cNvPr id="9" name="Text 7"/>
          <p:cNvSpPr/>
          <p:nvPr/>
        </p:nvSpPr>
        <p:spPr>
          <a:xfrm>
            <a:off x="640080" y="1344168"/>
            <a:ext cx="10881360" cy="1463040"/>
          </a:xfrm>
          <a:prstGeom prst="rect">
            <a:avLst/>
          </a:prstGeom>
          <a:noFill/>
          <a:ln/>
        </p:spPr>
        <p:txBody>
          <a:bodyPr wrap="square" lIns="0" tIns="0" rIns="0" bIns="0" rtlCol="0" anchor="ctr"/>
          <a:lstStyle/>
          <a:p>
            <a:pPr algn="l" indent="0" marL="0">
              <a:lnSpc>
                <a:spcPts val="3536"/>
              </a:lnSpc>
              <a:buNone/>
            </a:pPr>
            <a:r>
              <a:rPr lang="en-US" sz="3400" b="1" dirty="0">
                <a:solidFill>
                  <a:srgbClr val="FFFFFF"/>
                </a:solidFill>
                <a:latin typeface="Arial" pitchFamily="34" charset="0"/>
                <a:ea typeface="Arial" pitchFamily="34" charset="-122"/>
                <a:cs typeface="Arial" pitchFamily="34" charset="-120"/>
              </a:rPr>
              <a:t>One Ecosystem.</a:t>
            </a:r>
            <a:endParaRPr lang="en-US" sz="3400" dirty="0"/>
          </a:p>
          <a:p>
            <a:pPr algn="l" indent="0" marL="0">
              <a:lnSpc>
                <a:spcPts val="3536"/>
              </a:lnSpc>
              <a:buNone/>
            </a:pPr>
            <a:r>
              <a:rPr lang="en-US" sz="3400" b="1" dirty="0">
                <a:solidFill>
                  <a:srgbClr val="FFFFFF"/>
                </a:solidFill>
                <a:latin typeface="Arial" pitchFamily="34" charset="0"/>
                <a:ea typeface="Arial" pitchFamily="34" charset="-122"/>
                <a:cs typeface="Arial" pitchFamily="34" charset="-120"/>
              </a:rPr>
              <a:t>Every Connected Space.</a:t>
            </a:r>
            <a:endParaRPr lang="en-US" sz="3400" dirty="0"/>
          </a:p>
        </p:txBody>
      </p:sp>
      <p:sp>
        <p:nvSpPr>
          <p:cNvPr id="10" name="Text 8"/>
          <p:cNvSpPr/>
          <p:nvPr/>
        </p:nvSpPr>
        <p:spPr>
          <a:xfrm>
            <a:off x="685800" y="2788920"/>
            <a:ext cx="6675120" cy="1828800"/>
          </a:xfrm>
          <a:prstGeom prst="rect">
            <a:avLst/>
          </a:prstGeom>
          <a:noFill/>
          <a:ln/>
        </p:spPr>
        <p:txBody>
          <a:bodyPr wrap="square" lIns="0" tIns="0" rIns="0" bIns="0" rtlCol="0" anchor="ctr"/>
          <a:lstStyle/>
          <a:p>
            <a:pPr indent="0" marL="0">
              <a:lnSpc>
                <a:spcPct val="135000"/>
              </a:lnSpc>
              <a:buNone/>
            </a:pPr>
            <a:r>
              <a:rPr lang="en-US" sz="1350" dirty="0">
                <a:solidFill>
                  <a:srgbClr val="C9CCCF"/>
                </a:solidFill>
                <a:latin typeface="Calibri" pitchFamily="34" charset="0"/>
                <a:ea typeface="Calibri" pitchFamily="34" charset="-122"/>
                <a:cs typeface="Calibri" pitchFamily="34" charset="-120"/>
              </a:rPr>
              <a:t>SYNTRA SMART is a global smart-technology company engineering the connected home, building and city of the future. We design, manufacture and unify an entire ecosystem of devices, AI intelligence and cloud infrastructure under a single premium standard — built to move as one system, not a collection of gadgets.</a:t>
            </a:r>
            <a:endParaRPr lang="en-US" sz="1350" dirty="0"/>
          </a:p>
        </p:txBody>
      </p:sp>
      <p:sp>
        <p:nvSpPr>
          <p:cNvPr id="11" name="Shape 9"/>
          <p:cNvSpPr/>
          <p:nvPr/>
        </p:nvSpPr>
        <p:spPr>
          <a:xfrm>
            <a:off x="8001000" y="2651760"/>
            <a:ext cx="1645920" cy="868680"/>
          </a:xfrm>
          <a:prstGeom prst="roundRect">
            <a:avLst>
              <a:gd name="adj" fmla="val 9474"/>
            </a:avLst>
          </a:prstGeom>
          <a:solidFill>
            <a:srgbClr val="141417"/>
          </a:solidFill>
          <a:ln w="12700">
            <a:solidFill>
              <a:srgbClr val="242528"/>
            </a:solidFill>
            <a:prstDash val="solid"/>
          </a:ln>
        </p:spPr>
      </p:sp>
      <p:sp>
        <p:nvSpPr>
          <p:cNvPr id="12" name="Text 10"/>
          <p:cNvSpPr/>
          <p:nvPr/>
        </p:nvSpPr>
        <p:spPr>
          <a:xfrm>
            <a:off x="8183880" y="2834640"/>
            <a:ext cx="1280160" cy="457200"/>
          </a:xfrm>
          <a:prstGeom prst="rect">
            <a:avLst/>
          </a:prstGeom>
          <a:noFill/>
          <a:ln/>
        </p:spPr>
        <p:txBody>
          <a:bodyPr wrap="square" lIns="0" tIns="0" rIns="0" bIns="0" rtlCol="0" anchor="ctr"/>
          <a:lstStyle/>
          <a:p>
            <a:pPr indent="0" marL="0">
              <a:buNone/>
            </a:pPr>
            <a:r>
              <a:rPr lang="en-US" sz="1800" b="1" dirty="0">
                <a:solidFill>
                  <a:srgbClr val="0A84FF"/>
                </a:solidFill>
                <a:latin typeface="Arial" pitchFamily="34" charset="0"/>
                <a:ea typeface="Arial" pitchFamily="34" charset="-122"/>
                <a:cs typeface="Arial" pitchFamily="34" charset="-120"/>
              </a:rPr>
              <a:t>2023</a:t>
            </a:r>
            <a:endParaRPr lang="en-US" sz="1800" dirty="0"/>
          </a:p>
        </p:txBody>
      </p:sp>
      <p:sp>
        <p:nvSpPr>
          <p:cNvPr id="13" name="Text 11"/>
          <p:cNvSpPr/>
          <p:nvPr/>
        </p:nvSpPr>
        <p:spPr>
          <a:xfrm>
            <a:off x="8183880" y="3273552"/>
            <a:ext cx="1280160" cy="457200"/>
          </a:xfrm>
          <a:prstGeom prst="rect">
            <a:avLst/>
          </a:prstGeom>
          <a:noFill/>
          <a:ln/>
        </p:spPr>
        <p:txBody>
          <a:bodyPr wrap="square" lIns="0" tIns="0" rIns="0" bIns="0" rtlCol="0" anchor="ctr"/>
          <a:lstStyle/>
          <a:p>
            <a:pPr indent="0" marL="0">
              <a:buNone/>
            </a:pPr>
            <a:r>
              <a:rPr lang="en-US" sz="950" dirty="0">
                <a:solidFill>
                  <a:srgbClr val="C9CCCF"/>
                </a:solidFill>
                <a:latin typeface="Calibri" pitchFamily="34" charset="0"/>
                <a:ea typeface="Calibri" pitchFamily="34" charset="-122"/>
                <a:cs typeface="Calibri" pitchFamily="34" charset="-120"/>
              </a:rPr>
              <a:t>Founded</a:t>
            </a:r>
            <a:endParaRPr lang="en-US" sz="950" dirty="0"/>
          </a:p>
        </p:txBody>
      </p:sp>
      <p:sp>
        <p:nvSpPr>
          <p:cNvPr id="14" name="Shape 12"/>
          <p:cNvSpPr/>
          <p:nvPr/>
        </p:nvSpPr>
        <p:spPr>
          <a:xfrm>
            <a:off x="9921240" y="2651760"/>
            <a:ext cx="1645920" cy="868680"/>
          </a:xfrm>
          <a:prstGeom prst="roundRect">
            <a:avLst>
              <a:gd name="adj" fmla="val 9474"/>
            </a:avLst>
          </a:prstGeom>
          <a:solidFill>
            <a:srgbClr val="141417"/>
          </a:solidFill>
          <a:ln w="12700">
            <a:solidFill>
              <a:srgbClr val="242528"/>
            </a:solidFill>
            <a:prstDash val="solid"/>
          </a:ln>
        </p:spPr>
      </p:sp>
      <p:sp>
        <p:nvSpPr>
          <p:cNvPr id="15" name="Text 13"/>
          <p:cNvSpPr/>
          <p:nvPr/>
        </p:nvSpPr>
        <p:spPr>
          <a:xfrm>
            <a:off x="10104120" y="2834640"/>
            <a:ext cx="1280160" cy="457200"/>
          </a:xfrm>
          <a:prstGeom prst="rect">
            <a:avLst/>
          </a:prstGeom>
          <a:noFill/>
          <a:ln/>
        </p:spPr>
        <p:txBody>
          <a:bodyPr wrap="square" lIns="0" tIns="0" rIns="0" bIns="0" rtlCol="0" anchor="ctr"/>
          <a:lstStyle/>
          <a:p>
            <a:pPr indent="0" marL="0">
              <a:buNone/>
            </a:pPr>
            <a:r>
              <a:rPr lang="en-US" sz="1800" b="1" dirty="0">
                <a:solidFill>
                  <a:srgbClr val="0A84FF"/>
                </a:solidFill>
                <a:latin typeface="Arial" pitchFamily="34" charset="0"/>
                <a:ea typeface="Arial" pitchFamily="34" charset="-122"/>
                <a:cs typeface="Arial" pitchFamily="34" charset="-120"/>
              </a:rPr>
              <a:t>Riyadh, KSA</a:t>
            </a:r>
            <a:endParaRPr lang="en-US" sz="1800" dirty="0"/>
          </a:p>
        </p:txBody>
      </p:sp>
      <p:sp>
        <p:nvSpPr>
          <p:cNvPr id="16" name="Text 14"/>
          <p:cNvSpPr/>
          <p:nvPr/>
        </p:nvSpPr>
        <p:spPr>
          <a:xfrm>
            <a:off x="10104120" y="3273552"/>
            <a:ext cx="1280160" cy="457200"/>
          </a:xfrm>
          <a:prstGeom prst="rect">
            <a:avLst/>
          </a:prstGeom>
          <a:noFill/>
          <a:ln/>
        </p:spPr>
        <p:txBody>
          <a:bodyPr wrap="square" lIns="0" tIns="0" rIns="0" bIns="0" rtlCol="0" anchor="ctr"/>
          <a:lstStyle/>
          <a:p>
            <a:pPr indent="0" marL="0">
              <a:buNone/>
            </a:pPr>
            <a:r>
              <a:rPr lang="en-US" sz="950" dirty="0">
                <a:solidFill>
                  <a:srgbClr val="C9CCCF"/>
                </a:solidFill>
                <a:latin typeface="Calibri" pitchFamily="34" charset="0"/>
                <a:ea typeface="Calibri" pitchFamily="34" charset="-122"/>
                <a:cs typeface="Calibri" pitchFamily="34" charset="-120"/>
              </a:rPr>
              <a:t>Global Headquarters</a:t>
            </a:r>
            <a:endParaRPr lang="en-US" sz="950" dirty="0"/>
          </a:p>
        </p:txBody>
      </p:sp>
      <p:sp>
        <p:nvSpPr>
          <p:cNvPr id="17" name="Shape 15"/>
          <p:cNvSpPr/>
          <p:nvPr/>
        </p:nvSpPr>
        <p:spPr>
          <a:xfrm>
            <a:off x="8001000" y="3794760"/>
            <a:ext cx="1645920" cy="868680"/>
          </a:xfrm>
          <a:prstGeom prst="roundRect">
            <a:avLst>
              <a:gd name="adj" fmla="val 9474"/>
            </a:avLst>
          </a:prstGeom>
          <a:solidFill>
            <a:srgbClr val="141417"/>
          </a:solidFill>
          <a:ln w="12700">
            <a:solidFill>
              <a:srgbClr val="242528"/>
            </a:solidFill>
            <a:prstDash val="solid"/>
          </a:ln>
        </p:spPr>
      </p:sp>
      <p:sp>
        <p:nvSpPr>
          <p:cNvPr id="18" name="Text 16"/>
          <p:cNvSpPr/>
          <p:nvPr/>
        </p:nvSpPr>
        <p:spPr>
          <a:xfrm>
            <a:off x="8183880" y="3977640"/>
            <a:ext cx="1280160" cy="457200"/>
          </a:xfrm>
          <a:prstGeom prst="rect">
            <a:avLst/>
          </a:prstGeom>
          <a:noFill/>
          <a:ln/>
        </p:spPr>
        <p:txBody>
          <a:bodyPr wrap="square" lIns="0" tIns="0" rIns="0" bIns="0" rtlCol="0" anchor="ctr"/>
          <a:lstStyle/>
          <a:p>
            <a:pPr indent="0" marL="0">
              <a:buNone/>
            </a:pPr>
            <a:r>
              <a:rPr lang="en-US" sz="1800" b="1" dirty="0">
                <a:solidFill>
                  <a:srgbClr val="0A84FF"/>
                </a:solidFill>
                <a:latin typeface="Arial" pitchFamily="34" charset="0"/>
                <a:ea typeface="Arial" pitchFamily="34" charset="-122"/>
                <a:cs typeface="Arial" pitchFamily="34" charset="-120"/>
              </a:rPr>
              <a:t>14+</a:t>
            </a:r>
            <a:endParaRPr lang="en-US" sz="1800" dirty="0"/>
          </a:p>
        </p:txBody>
      </p:sp>
      <p:sp>
        <p:nvSpPr>
          <p:cNvPr id="19" name="Text 17"/>
          <p:cNvSpPr/>
          <p:nvPr/>
        </p:nvSpPr>
        <p:spPr>
          <a:xfrm>
            <a:off x="8183880" y="4416552"/>
            <a:ext cx="1280160" cy="457200"/>
          </a:xfrm>
          <a:prstGeom prst="rect">
            <a:avLst/>
          </a:prstGeom>
          <a:noFill/>
          <a:ln/>
        </p:spPr>
        <p:txBody>
          <a:bodyPr wrap="square" lIns="0" tIns="0" rIns="0" bIns="0" rtlCol="0" anchor="ctr"/>
          <a:lstStyle/>
          <a:p>
            <a:pPr indent="0" marL="0">
              <a:buNone/>
            </a:pPr>
            <a:r>
              <a:rPr lang="en-US" sz="950" dirty="0">
                <a:solidFill>
                  <a:srgbClr val="C9CCCF"/>
                </a:solidFill>
                <a:latin typeface="Calibri" pitchFamily="34" charset="0"/>
                <a:ea typeface="Calibri" pitchFamily="34" charset="-122"/>
                <a:cs typeface="Calibri" pitchFamily="34" charset="-120"/>
              </a:rPr>
              <a:t>Product Categories</a:t>
            </a:r>
            <a:endParaRPr lang="en-US" sz="950" dirty="0"/>
          </a:p>
        </p:txBody>
      </p:sp>
      <p:sp>
        <p:nvSpPr>
          <p:cNvPr id="20" name="Shape 18"/>
          <p:cNvSpPr/>
          <p:nvPr/>
        </p:nvSpPr>
        <p:spPr>
          <a:xfrm>
            <a:off x="9921240" y="3794760"/>
            <a:ext cx="1645920" cy="868680"/>
          </a:xfrm>
          <a:prstGeom prst="roundRect">
            <a:avLst>
              <a:gd name="adj" fmla="val 9474"/>
            </a:avLst>
          </a:prstGeom>
          <a:solidFill>
            <a:srgbClr val="141417"/>
          </a:solidFill>
          <a:ln w="12700">
            <a:solidFill>
              <a:srgbClr val="242528"/>
            </a:solidFill>
            <a:prstDash val="solid"/>
          </a:ln>
        </p:spPr>
      </p:sp>
      <p:sp>
        <p:nvSpPr>
          <p:cNvPr id="21" name="Text 19"/>
          <p:cNvSpPr/>
          <p:nvPr/>
        </p:nvSpPr>
        <p:spPr>
          <a:xfrm>
            <a:off x="10104120" y="3977640"/>
            <a:ext cx="1280160" cy="457200"/>
          </a:xfrm>
          <a:prstGeom prst="rect">
            <a:avLst/>
          </a:prstGeom>
          <a:noFill/>
          <a:ln/>
        </p:spPr>
        <p:txBody>
          <a:bodyPr wrap="square" lIns="0" tIns="0" rIns="0" bIns="0" rtlCol="0" anchor="ctr"/>
          <a:lstStyle/>
          <a:p>
            <a:pPr indent="0" marL="0">
              <a:buNone/>
            </a:pPr>
            <a:r>
              <a:rPr lang="en-US" sz="1800" b="1" dirty="0">
                <a:solidFill>
                  <a:srgbClr val="0A84FF"/>
                </a:solidFill>
                <a:latin typeface="Arial" pitchFamily="34" charset="0"/>
                <a:ea typeface="Arial" pitchFamily="34" charset="-122"/>
                <a:cs typeface="Arial" pitchFamily="34" charset="-120"/>
              </a:rPr>
              <a:t>2026</a:t>
            </a:r>
            <a:endParaRPr lang="en-US" sz="1800" dirty="0"/>
          </a:p>
        </p:txBody>
      </p:sp>
      <p:sp>
        <p:nvSpPr>
          <p:cNvPr id="22" name="Text 20"/>
          <p:cNvSpPr/>
          <p:nvPr/>
        </p:nvSpPr>
        <p:spPr>
          <a:xfrm>
            <a:off x="10104120" y="4416552"/>
            <a:ext cx="1280160" cy="457200"/>
          </a:xfrm>
          <a:prstGeom prst="rect">
            <a:avLst/>
          </a:prstGeom>
          <a:noFill/>
          <a:ln/>
        </p:spPr>
        <p:txBody>
          <a:bodyPr wrap="square" lIns="0" tIns="0" rIns="0" bIns="0" rtlCol="0" anchor="ctr"/>
          <a:lstStyle/>
          <a:p>
            <a:pPr indent="0" marL="0">
              <a:buNone/>
            </a:pPr>
            <a:r>
              <a:rPr lang="en-US" sz="950" dirty="0">
                <a:solidFill>
                  <a:srgbClr val="C9CCCF"/>
                </a:solidFill>
                <a:latin typeface="Calibri" pitchFamily="34" charset="0"/>
                <a:ea typeface="Calibri" pitchFamily="34" charset="-122"/>
                <a:cs typeface="Calibri" pitchFamily="34" charset="-120"/>
              </a:rPr>
              <a:t>Global Launch</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OUR STORY</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04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04 — OUR STORY</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Built to End the Fragmentation</a:t>
            </a:r>
            <a:endParaRPr lang="en-US" sz="3200" dirty="0"/>
          </a:p>
        </p:txBody>
      </p:sp>
      <p:sp>
        <p:nvSpPr>
          <p:cNvPr id="10" name="Shape 8"/>
          <p:cNvSpPr/>
          <p:nvPr/>
        </p:nvSpPr>
        <p:spPr>
          <a:xfrm>
            <a:off x="685800" y="2542032"/>
            <a:ext cx="91440" cy="91440"/>
          </a:xfrm>
          <a:prstGeom prst="ellipse">
            <a:avLst/>
          </a:prstGeom>
          <a:solidFill>
            <a:srgbClr val="0A84FF"/>
          </a:solidFill>
          <a:ln/>
        </p:spPr>
      </p:sp>
      <p:sp>
        <p:nvSpPr>
          <p:cNvPr id="11" name="Text 9"/>
          <p:cNvSpPr/>
          <p:nvPr/>
        </p:nvSpPr>
        <p:spPr>
          <a:xfrm>
            <a:off x="960120" y="2423160"/>
            <a:ext cx="9966960" cy="960120"/>
          </a:xfrm>
          <a:prstGeom prst="rect">
            <a:avLst/>
          </a:prstGeom>
          <a:noFill/>
          <a:ln/>
        </p:spPr>
        <p:txBody>
          <a:bodyPr wrap="square" lIns="0" tIns="0" rIns="0" bIns="0" rtlCol="0" anchor="ctr"/>
          <a:lstStyle/>
          <a:p>
            <a:pPr indent="0" marL="0">
              <a:lnSpc>
                <a:spcPct val="130000"/>
              </a:lnSpc>
              <a:buNone/>
            </a:pPr>
            <a:r>
              <a:rPr lang="en-US" sz="1350" dirty="0">
                <a:solidFill>
                  <a:srgbClr val="C9CCCF"/>
                </a:solidFill>
                <a:latin typeface="Calibri" pitchFamily="34" charset="0"/>
                <a:ea typeface="Calibri" pitchFamily="34" charset="-122"/>
                <a:cs typeface="Calibri" pitchFamily="34" charset="-120"/>
              </a:rPr>
              <a:t>SYNTRA SMART began with a simple frustration: the smart home industry had built brilliant devices and a broken experience — dozens of apps, competing standards, hubs that never spoke to one another.</a:t>
            </a:r>
            <a:endParaRPr lang="en-US" sz="1350" dirty="0"/>
          </a:p>
        </p:txBody>
      </p:sp>
      <p:sp>
        <p:nvSpPr>
          <p:cNvPr id="12" name="Shape 10"/>
          <p:cNvSpPr/>
          <p:nvPr/>
        </p:nvSpPr>
        <p:spPr>
          <a:xfrm>
            <a:off x="685800" y="3712464"/>
            <a:ext cx="91440" cy="91440"/>
          </a:xfrm>
          <a:prstGeom prst="ellipse">
            <a:avLst/>
          </a:prstGeom>
          <a:solidFill>
            <a:srgbClr val="0A84FF"/>
          </a:solidFill>
          <a:ln/>
        </p:spPr>
      </p:sp>
      <p:sp>
        <p:nvSpPr>
          <p:cNvPr id="13" name="Text 11"/>
          <p:cNvSpPr/>
          <p:nvPr/>
        </p:nvSpPr>
        <p:spPr>
          <a:xfrm>
            <a:off x="960120" y="3593592"/>
            <a:ext cx="9966960" cy="960120"/>
          </a:xfrm>
          <a:prstGeom prst="rect">
            <a:avLst/>
          </a:prstGeom>
          <a:noFill/>
          <a:ln/>
        </p:spPr>
        <p:txBody>
          <a:bodyPr wrap="square" lIns="0" tIns="0" rIns="0" bIns="0" rtlCol="0" anchor="ctr"/>
          <a:lstStyle/>
          <a:p>
            <a:pPr indent="0" marL="0">
              <a:lnSpc>
                <a:spcPct val="130000"/>
              </a:lnSpc>
              <a:buNone/>
            </a:pPr>
            <a:r>
              <a:rPr lang="en-US" sz="1350" dirty="0">
                <a:solidFill>
                  <a:srgbClr val="C9CCCF"/>
                </a:solidFill>
                <a:latin typeface="Calibri" pitchFamily="34" charset="0"/>
                <a:ea typeface="Calibri" pitchFamily="34" charset="-122"/>
                <a:cs typeface="Calibri" pitchFamily="34" charset="-120"/>
              </a:rPr>
              <a:t>We started SYNTRA to end that fragmentation. One ecosystem. One intelligence layer. One design language — engineered from the silicon up to work as a single, seamless system.</a:t>
            </a:r>
            <a:endParaRPr lang="en-US" sz="1350" dirty="0"/>
          </a:p>
        </p:txBody>
      </p:sp>
      <p:sp>
        <p:nvSpPr>
          <p:cNvPr id="14" name="Shape 12"/>
          <p:cNvSpPr/>
          <p:nvPr/>
        </p:nvSpPr>
        <p:spPr>
          <a:xfrm>
            <a:off x="685800" y="4882896"/>
            <a:ext cx="91440" cy="91440"/>
          </a:xfrm>
          <a:prstGeom prst="ellipse">
            <a:avLst/>
          </a:prstGeom>
          <a:solidFill>
            <a:srgbClr val="0A84FF"/>
          </a:solidFill>
          <a:ln/>
        </p:spPr>
      </p:sp>
      <p:sp>
        <p:nvSpPr>
          <p:cNvPr id="15" name="Text 13"/>
          <p:cNvSpPr/>
          <p:nvPr/>
        </p:nvSpPr>
        <p:spPr>
          <a:xfrm>
            <a:off x="960120" y="4764024"/>
            <a:ext cx="9966960" cy="960120"/>
          </a:xfrm>
          <a:prstGeom prst="rect">
            <a:avLst/>
          </a:prstGeom>
          <a:noFill/>
          <a:ln/>
        </p:spPr>
        <p:txBody>
          <a:bodyPr wrap="square" lIns="0" tIns="0" rIns="0" bIns="0" rtlCol="0" anchor="ctr"/>
          <a:lstStyle/>
          <a:p>
            <a:pPr indent="0" marL="0">
              <a:lnSpc>
                <a:spcPct val="130000"/>
              </a:lnSpc>
              <a:buNone/>
            </a:pPr>
            <a:r>
              <a:rPr lang="en-US" sz="1350" dirty="0">
                <a:solidFill>
                  <a:srgbClr val="C9CCCF"/>
                </a:solidFill>
                <a:latin typeface="Calibri" pitchFamily="34" charset="0"/>
                <a:ea typeface="Calibri" pitchFamily="34" charset="-122"/>
                <a:cs typeface="Calibri" pitchFamily="34" charset="-120"/>
              </a:rPr>
              <a:t>What began as a small engineering team in Riyadh is now building the infrastructure for smart living across the Gulf, Europe and beyond.</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VISION</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05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85800" y="1920240"/>
            <a:ext cx="5486400" cy="365760"/>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VISION</a:t>
            </a:r>
            <a:endParaRPr lang="en-US" sz="1300" dirty="0"/>
          </a:p>
        </p:txBody>
      </p:sp>
      <p:sp>
        <p:nvSpPr>
          <p:cNvPr id="9" name="Text 7"/>
          <p:cNvSpPr/>
          <p:nvPr/>
        </p:nvSpPr>
        <p:spPr>
          <a:xfrm>
            <a:off x="685800" y="2377440"/>
            <a:ext cx="10424160" cy="1737360"/>
          </a:xfrm>
          <a:prstGeom prst="rect">
            <a:avLst/>
          </a:prstGeom>
          <a:noFill/>
          <a:ln/>
        </p:spPr>
        <p:txBody>
          <a:bodyPr wrap="square" lIns="0" tIns="0" rIns="0" bIns="0" rtlCol="0" anchor="ctr"/>
          <a:lstStyle/>
          <a:p>
            <a:pPr indent="0" marL="0">
              <a:lnSpc>
                <a:spcPts val="4400"/>
              </a:lnSpc>
              <a:buNone/>
            </a:pPr>
            <a:r>
              <a:rPr lang="en-US" sz="3600" b="1" dirty="0">
                <a:solidFill>
                  <a:srgbClr val="FFFFFF"/>
                </a:solidFill>
                <a:latin typeface="Arial" pitchFamily="34" charset="0"/>
                <a:ea typeface="Arial" pitchFamily="34" charset="-122"/>
                <a:cs typeface="Arial" pitchFamily="34" charset="-120"/>
              </a:rPr>
              <a:t>A world where every space — home, hotel, hospital or headquarters — is intelligent by default.</a:t>
            </a:r>
            <a:endParaRPr lang="en-US" sz="3600" dirty="0"/>
          </a:p>
        </p:txBody>
      </p:sp>
      <p:sp>
        <p:nvSpPr>
          <p:cNvPr id="10" name="Text 8"/>
          <p:cNvSpPr/>
          <p:nvPr/>
        </p:nvSpPr>
        <p:spPr>
          <a:xfrm>
            <a:off x="685800" y="4251960"/>
            <a:ext cx="8686800" cy="822960"/>
          </a:xfrm>
          <a:prstGeom prst="rect">
            <a:avLst/>
          </a:prstGeom>
          <a:noFill/>
          <a:ln/>
        </p:spPr>
        <p:txBody>
          <a:bodyPr wrap="square" lIns="0" tIns="0" rIns="0" bIns="0" rtlCol="0" anchor="ctr"/>
          <a:lstStyle/>
          <a:p>
            <a:pPr indent="0" marL="0">
              <a:lnSpc>
                <a:spcPct val="130000"/>
              </a:lnSpc>
              <a:buNone/>
            </a:pPr>
            <a:r>
              <a:rPr lang="en-US" sz="1500" dirty="0">
                <a:solidFill>
                  <a:srgbClr val="C9CCCF"/>
                </a:solidFill>
                <a:latin typeface="Calibri" pitchFamily="34" charset="0"/>
                <a:ea typeface="Calibri" pitchFamily="34" charset="-122"/>
                <a:cs typeface="Calibri" pitchFamily="34" charset="-120"/>
              </a:rPr>
              <a:t>Where technology disappears into the architecture, and comfort, security and efficiency simply happen.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MISSION</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06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85800" y="1920240"/>
            <a:ext cx="5486400" cy="365760"/>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MISSION</a:t>
            </a:r>
            <a:endParaRPr lang="en-US" sz="1300" dirty="0"/>
          </a:p>
        </p:txBody>
      </p:sp>
      <p:sp>
        <p:nvSpPr>
          <p:cNvPr id="9" name="Text 7"/>
          <p:cNvSpPr/>
          <p:nvPr/>
        </p:nvSpPr>
        <p:spPr>
          <a:xfrm>
            <a:off x="685800" y="2377440"/>
            <a:ext cx="10424160" cy="1737360"/>
          </a:xfrm>
          <a:prstGeom prst="rect">
            <a:avLst/>
          </a:prstGeom>
          <a:noFill/>
          <a:ln/>
        </p:spPr>
        <p:txBody>
          <a:bodyPr wrap="square" lIns="0" tIns="0" rIns="0" bIns="0" rtlCol="0" anchor="ctr"/>
          <a:lstStyle/>
          <a:p>
            <a:pPr indent="0" marL="0">
              <a:lnSpc>
                <a:spcPts val="4400"/>
              </a:lnSpc>
              <a:buNone/>
            </a:pPr>
            <a:r>
              <a:rPr lang="en-US" sz="3600" b="1" dirty="0">
                <a:solidFill>
                  <a:srgbClr val="FFFFFF"/>
                </a:solidFill>
                <a:latin typeface="Arial" pitchFamily="34" charset="0"/>
                <a:ea typeface="Arial" pitchFamily="34" charset="-122"/>
                <a:cs typeface="Arial" pitchFamily="34" charset="-120"/>
              </a:rPr>
              <a:t>To engineer the most seamless, secure and intelligent connected-living ecosystem on Earth.</a:t>
            </a:r>
            <a:endParaRPr lang="en-US" sz="3600" dirty="0"/>
          </a:p>
        </p:txBody>
      </p:sp>
      <p:sp>
        <p:nvSpPr>
          <p:cNvPr id="10" name="Text 8"/>
          <p:cNvSpPr/>
          <p:nvPr/>
        </p:nvSpPr>
        <p:spPr>
          <a:xfrm>
            <a:off x="685800" y="4251960"/>
            <a:ext cx="8686800" cy="822960"/>
          </a:xfrm>
          <a:prstGeom prst="rect">
            <a:avLst/>
          </a:prstGeom>
          <a:noFill/>
          <a:ln/>
        </p:spPr>
        <p:txBody>
          <a:bodyPr wrap="square" lIns="0" tIns="0" rIns="0" bIns="0" rtlCol="0" anchor="ctr"/>
          <a:lstStyle/>
          <a:p>
            <a:pPr indent="0" marL="0">
              <a:lnSpc>
                <a:spcPct val="130000"/>
              </a:lnSpc>
              <a:buNone/>
            </a:pPr>
            <a:r>
              <a:rPr lang="en-US" sz="1500" dirty="0">
                <a:solidFill>
                  <a:srgbClr val="C9CCCF"/>
                </a:solidFill>
                <a:latin typeface="Calibri" pitchFamily="34" charset="0"/>
                <a:ea typeface="Calibri" pitchFamily="34" charset="-122"/>
                <a:cs typeface="Calibri" pitchFamily="34" charset="-120"/>
              </a:rPr>
              <a:t>And to make it accessible to every home and enterprise, everywhere.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3F4"/>
        </a:solidFill>
      </p:bgPr>
    </p:bg>
    <p:spTree>
      <p:nvGrpSpPr>
        <p:cNvPr id="1" name=""/>
        <p:cNvGrpSpPr/>
        <p:nvPr/>
      </p:nvGrpSpPr>
      <p:grpSpPr>
        <a:xfrm>
          <a:off x="0" y="0"/>
          <a:ext cx="0" cy="0"/>
          <a:chOff x="0" y="0"/>
          <a:chExt cx="0" cy="0"/>
        </a:xfrm>
      </p:grpSpPr>
      <p:sp>
        <p:nvSpPr>
          <p:cNvPr id="2" name="Shape 0"/>
          <p:cNvSpPr/>
          <p:nvPr/>
        </p:nvSpPr>
        <p:spPr>
          <a:xfrm>
            <a:off x="9082735" y="-2377440"/>
            <a:ext cx="6400800" cy="6400800"/>
          </a:xfrm>
          <a:prstGeom prst="ellipse">
            <a:avLst/>
          </a:prstGeom>
          <a:solidFill>
            <a:srgbClr val="0A84FF">
              <a:alpha val="5000"/>
            </a:srgbClr>
          </a:solidFill>
          <a:ln/>
        </p:spPr>
      </p:sp>
      <p:sp>
        <p:nvSpPr>
          <p:cNvPr id="3" name="Text 1"/>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111214"/>
                </a:solidFill>
                <a:latin typeface="Arial" pitchFamily="34" charset="0"/>
                <a:ea typeface="Arial" pitchFamily="34" charset="-122"/>
                <a:cs typeface="Arial" pitchFamily="34" charset="-120"/>
              </a:rPr>
              <a:t>SYNTRA SMART</a:t>
            </a:r>
            <a:endParaRPr lang="en-US" sz="1050" dirty="0"/>
          </a:p>
        </p:txBody>
      </p:sp>
      <p:sp>
        <p:nvSpPr>
          <p:cNvPr id="4" name="Text 2"/>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5B5F63"/>
                </a:solidFill>
                <a:latin typeface="Arial" pitchFamily="34" charset="0"/>
                <a:ea typeface="Arial" pitchFamily="34" charset="-122"/>
                <a:cs typeface="Arial" pitchFamily="34" charset="-120"/>
              </a:rPr>
              <a:t>CORE VALUES</a:t>
            </a:r>
            <a:endParaRPr lang="en-US" sz="900" dirty="0"/>
          </a:p>
        </p:txBody>
      </p:sp>
      <p:sp>
        <p:nvSpPr>
          <p:cNvPr id="5" name="Text 3"/>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5B5F63"/>
                </a:solidFill>
                <a:latin typeface="Calibri" pitchFamily="34" charset="0"/>
                <a:ea typeface="Calibri" pitchFamily="34" charset="-122"/>
                <a:cs typeface="Calibri" pitchFamily="34" charset="-120"/>
              </a:rPr>
              <a:t>07 / 37   —   SYNTRA SMART GLOBAL COMPANY PROFILE</a:t>
            </a:r>
            <a:endParaRPr lang="en-US" sz="800" dirty="0"/>
          </a:p>
        </p:txBody>
      </p:sp>
      <p:sp>
        <p:nvSpPr>
          <p:cNvPr id="6" name="Text 4"/>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5B5F63"/>
                </a:solidFill>
                <a:latin typeface="Arial" pitchFamily="34" charset="0"/>
                <a:ea typeface="Arial" pitchFamily="34" charset="-122"/>
                <a:cs typeface="Arial" pitchFamily="34" charset="-120"/>
              </a:rPr>
              <a:t>SMART LIVING. SEAMLESSLY CONNECTED.</a:t>
            </a:r>
            <a:endParaRPr lang="en-US" sz="800" dirty="0"/>
          </a:p>
        </p:txBody>
      </p:sp>
      <p:sp>
        <p:nvSpPr>
          <p:cNvPr id="7" name="Text 5"/>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07 — CORE VALUES</a:t>
            </a:r>
            <a:endParaRPr lang="en-US" sz="1300" dirty="0"/>
          </a:p>
        </p:txBody>
      </p:sp>
      <p:sp>
        <p:nvSpPr>
          <p:cNvPr id="8" name="Text 6"/>
          <p:cNvSpPr/>
          <p:nvPr/>
        </p:nvSpPr>
        <p:spPr>
          <a:xfrm>
            <a:off x="640080" y="1344168"/>
            <a:ext cx="10881360" cy="1051560"/>
          </a:xfrm>
          <a:prstGeom prst="rect">
            <a:avLst/>
          </a:prstGeom>
          <a:noFill/>
          <a:ln/>
        </p:spPr>
        <p:txBody>
          <a:bodyPr wrap="square" lIns="0" tIns="0" rIns="0" bIns="0" rtlCol="0" anchor="ctr"/>
          <a:lstStyle/>
          <a:p>
            <a:pPr algn="l" indent="0" marL="0">
              <a:lnSpc>
                <a:spcPts val="3536"/>
              </a:lnSpc>
              <a:buNone/>
            </a:pPr>
            <a:r>
              <a:rPr lang="en-US" sz="3400" b="1" dirty="0">
                <a:solidFill>
                  <a:srgbClr val="111214"/>
                </a:solidFill>
                <a:latin typeface="Arial" pitchFamily="34" charset="0"/>
                <a:ea typeface="Arial" pitchFamily="34" charset="-122"/>
                <a:cs typeface="Arial" pitchFamily="34" charset="-120"/>
              </a:rPr>
              <a:t>What We Build By</a:t>
            </a:r>
            <a:endParaRPr lang="en-US" sz="3400" dirty="0"/>
          </a:p>
        </p:txBody>
      </p:sp>
      <p:sp>
        <p:nvSpPr>
          <p:cNvPr id="9" name="Shape 7"/>
          <p:cNvSpPr/>
          <p:nvPr/>
        </p:nvSpPr>
        <p:spPr>
          <a:xfrm>
            <a:off x="685800" y="2331720"/>
            <a:ext cx="3441192" cy="1769364"/>
          </a:xfrm>
          <a:prstGeom prst="roundRect">
            <a:avLst>
              <a:gd name="adj" fmla="val 4651"/>
            </a:avLst>
          </a:prstGeom>
          <a:solidFill>
            <a:srgbClr val="FFFFFF"/>
          </a:solidFill>
          <a:ln w="12700">
            <a:solidFill>
              <a:srgbClr val="E4E5E6"/>
            </a:solidFill>
            <a:prstDash val="solid"/>
          </a:ln>
          <a:effectLst>
            <a:outerShdw sx="100000" sy="100000" kx="0" ky="0" algn="bl" rotWithShape="0" blurRad="101600" dist="25400" dir="5400000">
              <a:srgbClr val="9AA0A6">
                <a:alpha val="25000"/>
              </a:srgbClr>
            </a:outerShdw>
          </a:effectLst>
        </p:spPr>
      </p:sp>
      <p:sp>
        <p:nvSpPr>
          <p:cNvPr id="10" name="Shape 8"/>
          <p:cNvSpPr/>
          <p:nvPr/>
        </p:nvSpPr>
        <p:spPr>
          <a:xfrm>
            <a:off x="905256" y="2532888"/>
            <a:ext cx="457200" cy="457200"/>
          </a:xfrm>
          <a:prstGeom prst="ellipse">
            <a:avLst/>
          </a:prstGeom>
          <a:solidFill>
            <a:srgbClr val="FFFFFF"/>
          </a:solidFill>
          <a:ln w="12700">
            <a:solidFill>
              <a:srgbClr val="E3E4E5"/>
            </a:solidFill>
            <a:prstDash val="solid"/>
          </a:ln>
        </p:spPr>
      </p:sp>
      <p:pic>
        <p:nvPicPr>
          <p:cNvPr id="11" name="Image 0" descr="preencoded.png">    </p:cNvPr>
          <p:cNvPicPr>
            <a:picLocks noChangeAspect="1"/>
          </p:cNvPicPr>
          <p:nvPr/>
        </p:nvPicPr>
        <p:blipFill>
          <a:blip r:embed="rId1"/>
          <a:stretch>
            <a:fillRect/>
          </a:stretch>
        </p:blipFill>
        <p:spPr>
          <a:xfrm>
            <a:off x="1024128" y="2651760"/>
            <a:ext cx="219456" cy="219456"/>
          </a:xfrm>
          <a:prstGeom prst="rect">
            <a:avLst/>
          </a:prstGeom>
        </p:spPr>
      </p:pic>
      <p:sp>
        <p:nvSpPr>
          <p:cNvPr id="12" name="Text 9"/>
          <p:cNvSpPr/>
          <p:nvPr/>
        </p:nvSpPr>
        <p:spPr>
          <a:xfrm>
            <a:off x="905256" y="3118104"/>
            <a:ext cx="3002280" cy="365760"/>
          </a:xfrm>
          <a:prstGeom prst="rect">
            <a:avLst/>
          </a:prstGeom>
          <a:noFill/>
          <a:ln/>
        </p:spPr>
        <p:txBody>
          <a:bodyPr wrap="square" lIns="0" tIns="0" rIns="0" bIns="0" rtlCol="0" anchor="ctr"/>
          <a:lstStyle/>
          <a:p>
            <a:pPr indent="0" marL="0">
              <a:buNone/>
            </a:pPr>
            <a:r>
              <a:rPr lang="en-US" sz="1250" b="1" dirty="0">
                <a:solidFill>
                  <a:srgbClr val="111214"/>
                </a:solidFill>
                <a:latin typeface="Arial" pitchFamily="34" charset="0"/>
                <a:ea typeface="Arial" pitchFamily="34" charset="-122"/>
                <a:cs typeface="Arial" pitchFamily="34" charset="-120"/>
              </a:rPr>
              <a:t>Excellence</a:t>
            </a:r>
            <a:endParaRPr lang="en-US" sz="1250" dirty="0"/>
          </a:p>
        </p:txBody>
      </p:sp>
      <p:sp>
        <p:nvSpPr>
          <p:cNvPr id="13" name="Text 10"/>
          <p:cNvSpPr/>
          <p:nvPr/>
        </p:nvSpPr>
        <p:spPr>
          <a:xfrm>
            <a:off x="905256" y="3447288"/>
            <a:ext cx="3002280" cy="489204"/>
          </a:xfrm>
          <a:prstGeom prst="rect">
            <a:avLst/>
          </a:prstGeom>
          <a:noFill/>
          <a:ln/>
        </p:spPr>
        <p:txBody>
          <a:bodyPr wrap="square" lIns="0" tIns="0" rIns="0" bIns="0" rtlCol="0" anchor="ctr"/>
          <a:lstStyle/>
          <a:p>
            <a:pPr indent="0" marL="0">
              <a:lnSpc>
                <a:spcPct val="118000"/>
              </a:lnSpc>
              <a:buNone/>
            </a:pPr>
            <a:r>
              <a:rPr lang="en-US" sz="950" dirty="0">
                <a:solidFill>
                  <a:srgbClr val="5B5F63"/>
                </a:solidFill>
                <a:latin typeface="Calibri" pitchFamily="34" charset="0"/>
                <a:ea typeface="Calibri" pitchFamily="34" charset="-122"/>
                <a:cs typeface="Calibri" pitchFamily="34" charset="-120"/>
              </a:rPr>
              <a:t>We ship nothing we would not put in our own homes.</a:t>
            </a:r>
            <a:endParaRPr lang="en-US" sz="950" dirty="0"/>
          </a:p>
        </p:txBody>
      </p:sp>
      <p:sp>
        <p:nvSpPr>
          <p:cNvPr id="14" name="Shape 11"/>
          <p:cNvSpPr/>
          <p:nvPr/>
        </p:nvSpPr>
        <p:spPr>
          <a:xfrm>
            <a:off x="4383024" y="2331720"/>
            <a:ext cx="3441192" cy="1769364"/>
          </a:xfrm>
          <a:prstGeom prst="roundRect">
            <a:avLst>
              <a:gd name="adj" fmla="val 4651"/>
            </a:avLst>
          </a:prstGeom>
          <a:solidFill>
            <a:srgbClr val="FFFFFF"/>
          </a:solidFill>
          <a:ln w="12700">
            <a:solidFill>
              <a:srgbClr val="E4E5E6"/>
            </a:solidFill>
            <a:prstDash val="solid"/>
          </a:ln>
          <a:effectLst>
            <a:outerShdw sx="100000" sy="100000" kx="0" ky="0" algn="bl" rotWithShape="0" blurRad="101600" dist="25400" dir="5400000">
              <a:srgbClr val="9AA0A6">
                <a:alpha val="25000"/>
              </a:srgbClr>
            </a:outerShdw>
          </a:effectLst>
        </p:spPr>
      </p:sp>
      <p:sp>
        <p:nvSpPr>
          <p:cNvPr id="15" name="Shape 12"/>
          <p:cNvSpPr/>
          <p:nvPr/>
        </p:nvSpPr>
        <p:spPr>
          <a:xfrm>
            <a:off x="4602480" y="2532888"/>
            <a:ext cx="457200" cy="457200"/>
          </a:xfrm>
          <a:prstGeom prst="ellipse">
            <a:avLst/>
          </a:prstGeom>
          <a:solidFill>
            <a:srgbClr val="FFFFFF"/>
          </a:solidFill>
          <a:ln w="12700">
            <a:solidFill>
              <a:srgbClr val="E3E4E5"/>
            </a:solidFill>
            <a:prstDash val="solid"/>
          </a:ln>
        </p:spPr>
      </p:sp>
      <p:pic>
        <p:nvPicPr>
          <p:cNvPr id="16" name="Image 1" descr="preencoded.png">    </p:cNvPr>
          <p:cNvPicPr>
            <a:picLocks noChangeAspect="1"/>
          </p:cNvPicPr>
          <p:nvPr/>
        </p:nvPicPr>
        <p:blipFill>
          <a:blip r:embed="rId2"/>
          <a:stretch>
            <a:fillRect/>
          </a:stretch>
        </p:blipFill>
        <p:spPr>
          <a:xfrm>
            <a:off x="4721352" y="2651760"/>
            <a:ext cx="219456" cy="219456"/>
          </a:xfrm>
          <a:prstGeom prst="rect">
            <a:avLst/>
          </a:prstGeom>
        </p:spPr>
      </p:pic>
      <p:sp>
        <p:nvSpPr>
          <p:cNvPr id="17" name="Text 13"/>
          <p:cNvSpPr/>
          <p:nvPr/>
        </p:nvSpPr>
        <p:spPr>
          <a:xfrm>
            <a:off x="4602480" y="3118104"/>
            <a:ext cx="3002280" cy="365760"/>
          </a:xfrm>
          <a:prstGeom prst="rect">
            <a:avLst/>
          </a:prstGeom>
          <a:noFill/>
          <a:ln/>
        </p:spPr>
        <p:txBody>
          <a:bodyPr wrap="square" lIns="0" tIns="0" rIns="0" bIns="0" rtlCol="0" anchor="ctr"/>
          <a:lstStyle/>
          <a:p>
            <a:pPr indent="0" marL="0">
              <a:buNone/>
            </a:pPr>
            <a:r>
              <a:rPr lang="en-US" sz="1250" b="1" dirty="0">
                <a:solidFill>
                  <a:srgbClr val="111214"/>
                </a:solidFill>
                <a:latin typeface="Arial" pitchFamily="34" charset="0"/>
                <a:ea typeface="Arial" pitchFamily="34" charset="-122"/>
                <a:cs typeface="Arial" pitchFamily="34" charset="-120"/>
              </a:rPr>
              <a:t>Innovation</a:t>
            </a:r>
            <a:endParaRPr lang="en-US" sz="1250" dirty="0"/>
          </a:p>
        </p:txBody>
      </p:sp>
      <p:sp>
        <p:nvSpPr>
          <p:cNvPr id="18" name="Text 14"/>
          <p:cNvSpPr/>
          <p:nvPr/>
        </p:nvSpPr>
        <p:spPr>
          <a:xfrm>
            <a:off x="4602480" y="3447288"/>
            <a:ext cx="3002280" cy="489204"/>
          </a:xfrm>
          <a:prstGeom prst="rect">
            <a:avLst/>
          </a:prstGeom>
          <a:noFill/>
          <a:ln/>
        </p:spPr>
        <p:txBody>
          <a:bodyPr wrap="square" lIns="0" tIns="0" rIns="0" bIns="0" rtlCol="0" anchor="ctr"/>
          <a:lstStyle/>
          <a:p>
            <a:pPr indent="0" marL="0">
              <a:lnSpc>
                <a:spcPct val="118000"/>
              </a:lnSpc>
              <a:buNone/>
            </a:pPr>
            <a:r>
              <a:rPr lang="en-US" sz="950" dirty="0">
                <a:solidFill>
                  <a:srgbClr val="5B5F63"/>
                </a:solidFill>
                <a:latin typeface="Calibri" pitchFamily="34" charset="0"/>
                <a:ea typeface="Calibri" pitchFamily="34" charset="-122"/>
                <a:cs typeface="Calibri" pitchFamily="34" charset="-120"/>
              </a:rPr>
              <a:t>We build ahead of the standard, not behind it.</a:t>
            </a:r>
            <a:endParaRPr lang="en-US" sz="950" dirty="0"/>
          </a:p>
        </p:txBody>
      </p:sp>
      <p:sp>
        <p:nvSpPr>
          <p:cNvPr id="19" name="Shape 15"/>
          <p:cNvSpPr/>
          <p:nvPr/>
        </p:nvSpPr>
        <p:spPr>
          <a:xfrm>
            <a:off x="8080248" y="2331720"/>
            <a:ext cx="3441192" cy="1769364"/>
          </a:xfrm>
          <a:prstGeom prst="roundRect">
            <a:avLst>
              <a:gd name="adj" fmla="val 4651"/>
            </a:avLst>
          </a:prstGeom>
          <a:solidFill>
            <a:srgbClr val="FFFFFF"/>
          </a:solidFill>
          <a:ln w="12700">
            <a:solidFill>
              <a:srgbClr val="E4E5E6"/>
            </a:solidFill>
            <a:prstDash val="solid"/>
          </a:ln>
          <a:effectLst>
            <a:outerShdw sx="100000" sy="100000" kx="0" ky="0" algn="bl" rotWithShape="0" blurRad="101600" dist="25400" dir="5400000">
              <a:srgbClr val="9AA0A6">
                <a:alpha val="25000"/>
              </a:srgbClr>
            </a:outerShdw>
          </a:effectLst>
        </p:spPr>
      </p:sp>
      <p:sp>
        <p:nvSpPr>
          <p:cNvPr id="20" name="Shape 16"/>
          <p:cNvSpPr/>
          <p:nvPr/>
        </p:nvSpPr>
        <p:spPr>
          <a:xfrm>
            <a:off x="8299704" y="2532888"/>
            <a:ext cx="457200" cy="457200"/>
          </a:xfrm>
          <a:prstGeom prst="ellipse">
            <a:avLst/>
          </a:prstGeom>
          <a:solidFill>
            <a:srgbClr val="FFFFFF"/>
          </a:solidFill>
          <a:ln w="12700">
            <a:solidFill>
              <a:srgbClr val="E3E4E5"/>
            </a:solidFill>
            <a:prstDash val="solid"/>
          </a:ln>
        </p:spPr>
      </p:sp>
      <p:pic>
        <p:nvPicPr>
          <p:cNvPr id="21" name="Image 2" descr="preencoded.png">    </p:cNvPr>
          <p:cNvPicPr>
            <a:picLocks noChangeAspect="1"/>
          </p:cNvPicPr>
          <p:nvPr/>
        </p:nvPicPr>
        <p:blipFill>
          <a:blip r:embed="rId3"/>
          <a:stretch>
            <a:fillRect/>
          </a:stretch>
        </p:blipFill>
        <p:spPr>
          <a:xfrm>
            <a:off x="8418576" y="2651760"/>
            <a:ext cx="219456" cy="219456"/>
          </a:xfrm>
          <a:prstGeom prst="rect">
            <a:avLst/>
          </a:prstGeom>
        </p:spPr>
      </p:pic>
      <p:sp>
        <p:nvSpPr>
          <p:cNvPr id="22" name="Text 17"/>
          <p:cNvSpPr/>
          <p:nvPr/>
        </p:nvSpPr>
        <p:spPr>
          <a:xfrm>
            <a:off x="8299704" y="3118104"/>
            <a:ext cx="3002280" cy="365760"/>
          </a:xfrm>
          <a:prstGeom prst="rect">
            <a:avLst/>
          </a:prstGeom>
          <a:noFill/>
          <a:ln/>
        </p:spPr>
        <p:txBody>
          <a:bodyPr wrap="square" lIns="0" tIns="0" rIns="0" bIns="0" rtlCol="0" anchor="ctr"/>
          <a:lstStyle/>
          <a:p>
            <a:pPr indent="0" marL="0">
              <a:buNone/>
            </a:pPr>
            <a:r>
              <a:rPr lang="en-US" sz="1250" b="1" dirty="0">
                <a:solidFill>
                  <a:srgbClr val="111214"/>
                </a:solidFill>
                <a:latin typeface="Arial" pitchFamily="34" charset="0"/>
                <a:ea typeface="Arial" pitchFamily="34" charset="-122"/>
                <a:cs typeface="Arial" pitchFamily="34" charset="-120"/>
              </a:rPr>
              <a:t>Security</a:t>
            </a:r>
            <a:endParaRPr lang="en-US" sz="1250" dirty="0"/>
          </a:p>
        </p:txBody>
      </p:sp>
      <p:sp>
        <p:nvSpPr>
          <p:cNvPr id="23" name="Text 18"/>
          <p:cNvSpPr/>
          <p:nvPr/>
        </p:nvSpPr>
        <p:spPr>
          <a:xfrm>
            <a:off x="8299704" y="3447288"/>
            <a:ext cx="3002280" cy="489204"/>
          </a:xfrm>
          <a:prstGeom prst="rect">
            <a:avLst/>
          </a:prstGeom>
          <a:noFill/>
          <a:ln/>
        </p:spPr>
        <p:txBody>
          <a:bodyPr wrap="square" lIns="0" tIns="0" rIns="0" bIns="0" rtlCol="0" anchor="ctr"/>
          <a:lstStyle/>
          <a:p>
            <a:pPr indent="0" marL="0">
              <a:lnSpc>
                <a:spcPct val="118000"/>
              </a:lnSpc>
              <a:buNone/>
            </a:pPr>
            <a:r>
              <a:rPr lang="en-US" sz="950" dirty="0">
                <a:solidFill>
                  <a:srgbClr val="5B5F63"/>
                </a:solidFill>
                <a:latin typeface="Calibri" pitchFamily="34" charset="0"/>
                <a:ea typeface="Calibri" pitchFamily="34" charset="-122"/>
                <a:cs typeface="Calibri" pitchFamily="34" charset="-120"/>
              </a:rPr>
              <a:t>Privacy and protection are engineered in, never bolted on.</a:t>
            </a:r>
            <a:endParaRPr lang="en-US" sz="950" dirty="0"/>
          </a:p>
        </p:txBody>
      </p:sp>
      <p:sp>
        <p:nvSpPr>
          <p:cNvPr id="24" name="Shape 19"/>
          <p:cNvSpPr/>
          <p:nvPr/>
        </p:nvSpPr>
        <p:spPr>
          <a:xfrm>
            <a:off x="685800" y="4357116"/>
            <a:ext cx="3441192" cy="1769364"/>
          </a:xfrm>
          <a:prstGeom prst="roundRect">
            <a:avLst>
              <a:gd name="adj" fmla="val 4651"/>
            </a:avLst>
          </a:prstGeom>
          <a:solidFill>
            <a:srgbClr val="FFFFFF"/>
          </a:solidFill>
          <a:ln w="12700">
            <a:solidFill>
              <a:srgbClr val="E4E5E6"/>
            </a:solidFill>
            <a:prstDash val="solid"/>
          </a:ln>
          <a:effectLst>
            <a:outerShdw sx="100000" sy="100000" kx="0" ky="0" algn="bl" rotWithShape="0" blurRad="101600" dist="25400" dir="5400000">
              <a:srgbClr val="9AA0A6">
                <a:alpha val="25000"/>
              </a:srgbClr>
            </a:outerShdw>
          </a:effectLst>
        </p:spPr>
      </p:sp>
      <p:sp>
        <p:nvSpPr>
          <p:cNvPr id="25" name="Shape 20"/>
          <p:cNvSpPr/>
          <p:nvPr/>
        </p:nvSpPr>
        <p:spPr>
          <a:xfrm>
            <a:off x="905256" y="4558284"/>
            <a:ext cx="457200" cy="457200"/>
          </a:xfrm>
          <a:prstGeom prst="ellipse">
            <a:avLst/>
          </a:prstGeom>
          <a:solidFill>
            <a:srgbClr val="FFFFFF"/>
          </a:solidFill>
          <a:ln w="12700">
            <a:solidFill>
              <a:srgbClr val="E3E4E5"/>
            </a:solidFill>
            <a:prstDash val="solid"/>
          </a:ln>
        </p:spPr>
      </p:sp>
      <p:pic>
        <p:nvPicPr>
          <p:cNvPr id="26" name="Image 3" descr="preencoded.png">    </p:cNvPr>
          <p:cNvPicPr>
            <a:picLocks noChangeAspect="1"/>
          </p:cNvPicPr>
          <p:nvPr/>
        </p:nvPicPr>
        <p:blipFill>
          <a:blip r:embed="rId4"/>
          <a:stretch>
            <a:fillRect/>
          </a:stretch>
        </p:blipFill>
        <p:spPr>
          <a:xfrm>
            <a:off x="1024128" y="4677156"/>
            <a:ext cx="219456" cy="219456"/>
          </a:xfrm>
          <a:prstGeom prst="rect">
            <a:avLst/>
          </a:prstGeom>
        </p:spPr>
      </p:pic>
      <p:sp>
        <p:nvSpPr>
          <p:cNvPr id="27" name="Text 21"/>
          <p:cNvSpPr/>
          <p:nvPr/>
        </p:nvSpPr>
        <p:spPr>
          <a:xfrm>
            <a:off x="905256" y="5143500"/>
            <a:ext cx="3002280" cy="365760"/>
          </a:xfrm>
          <a:prstGeom prst="rect">
            <a:avLst/>
          </a:prstGeom>
          <a:noFill/>
          <a:ln/>
        </p:spPr>
        <p:txBody>
          <a:bodyPr wrap="square" lIns="0" tIns="0" rIns="0" bIns="0" rtlCol="0" anchor="ctr"/>
          <a:lstStyle/>
          <a:p>
            <a:pPr indent="0" marL="0">
              <a:buNone/>
            </a:pPr>
            <a:r>
              <a:rPr lang="en-US" sz="1250" b="1" dirty="0">
                <a:solidFill>
                  <a:srgbClr val="111214"/>
                </a:solidFill>
                <a:latin typeface="Arial" pitchFamily="34" charset="0"/>
                <a:ea typeface="Arial" pitchFamily="34" charset="-122"/>
                <a:cs typeface="Arial" pitchFamily="34" charset="-120"/>
              </a:rPr>
              <a:t>Simplicity</a:t>
            </a:r>
            <a:endParaRPr lang="en-US" sz="1250" dirty="0"/>
          </a:p>
        </p:txBody>
      </p:sp>
      <p:sp>
        <p:nvSpPr>
          <p:cNvPr id="28" name="Text 22"/>
          <p:cNvSpPr/>
          <p:nvPr/>
        </p:nvSpPr>
        <p:spPr>
          <a:xfrm>
            <a:off x="905256" y="5472684"/>
            <a:ext cx="3002280" cy="489204"/>
          </a:xfrm>
          <a:prstGeom prst="rect">
            <a:avLst/>
          </a:prstGeom>
          <a:noFill/>
          <a:ln/>
        </p:spPr>
        <p:txBody>
          <a:bodyPr wrap="square" lIns="0" tIns="0" rIns="0" bIns="0" rtlCol="0" anchor="ctr"/>
          <a:lstStyle/>
          <a:p>
            <a:pPr indent="0" marL="0">
              <a:lnSpc>
                <a:spcPct val="118000"/>
              </a:lnSpc>
              <a:buNone/>
            </a:pPr>
            <a:r>
              <a:rPr lang="en-US" sz="950" dirty="0">
                <a:solidFill>
                  <a:srgbClr val="5B5F63"/>
                </a:solidFill>
                <a:latin typeface="Calibri" pitchFamily="34" charset="0"/>
                <a:ea typeface="Calibri" pitchFamily="34" charset="-122"/>
                <a:cs typeface="Calibri" pitchFamily="34" charset="-120"/>
              </a:rPr>
              <a:t>Power should feel effortless.</a:t>
            </a:r>
            <a:endParaRPr lang="en-US" sz="950" dirty="0"/>
          </a:p>
        </p:txBody>
      </p:sp>
      <p:sp>
        <p:nvSpPr>
          <p:cNvPr id="29" name="Shape 23"/>
          <p:cNvSpPr/>
          <p:nvPr/>
        </p:nvSpPr>
        <p:spPr>
          <a:xfrm>
            <a:off x="4383024" y="4357116"/>
            <a:ext cx="3441192" cy="1769364"/>
          </a:xfrm>
          <a:prstGeom prst="roundRect">
            <a:avLst>
              <a:gd name="adj" fmla="val 4651"/>
            </a:avLst>
          </a:prstGeom>
          <a:solidFill>
            <a:srgbClr val="FFFFFF"/>
          </a:solidFill>
          <a:ln w="12700">
            <a:solidFill>
              <a:srgbClr val="E4E5E6"/>
            </a:solidFill>
            <a:prstDash val="solid"/>
          </a:ln>
          <a:effectLst>
            <a:outerShdw sx="100000" sy="100000" kx="0" ky="0" algn="bl" rotWithShape="0" blurRad="101600" dist="25400" dir="5400000">
              <a:srgbClr val="9AA0A6">
                <a:alpha val="25000"/>
              </a:srgbClr>
            </a:outerShdw>
          </a:effectLst>
        </p:spPr>
      </p:sp>
      <p:sp>
        <p:nvSpPr>
          <p:cNvPr id="30" name="Shape 24"/>
          <p:cNvSpPr/>
          <p:nvPr/>
        </p:nvSpPr>
        <p:spPr>
          <a:xfrm>
            <a:off x="4602480" y="4558284"/>
            <a:ext cx="457200" cy="457200"/>
          </a:xfrm>
          <a:prstGeom prst="ellipse">
            <a:avLst/>
          </a:prstGeom>
          <a:solidFill>
            <a:srgbClr val="FFFFFF"/>
          </a:solidFill>
          <a:ln w="12700">
            <a:solidFill>
              <a:srgbClr val="E3E4E5"/>
            </a:solidFill>
            <a:prstDash val="solid"/>
          </a:ln>
        </p:spPr>
      </p:sp>
      <p:pic>
        <p:nvPicPr>
          <p:cNvPr id="31" name="Image 4" descr="preencoded.png">    </p:cNvPr>
          <p:cNvPicPr>
            <a:picLocks noChangeAspect="1"/>
          </p:cNvPicPr>
          <p:nvPr/>
        </p:nvPicPr>
        <p:blipFill>
          <a:blip r:embed="rId5"/>
          <a:stretch>
            <a:fillRect/>
          </a:stretch>
        </p:blipFill>
        <p:spPr>
          <a:xfrm>
            <a:off x="4721352" y="4677156"/>
            <a:ext cx="219456" cy="219456"/>
          </a:xfrm>
          <a:prstGeom prst="rect">
            <a:avLst/>
          </a:prstGeom>
        </p:spPr>
      </p:pic>
      <p:sp>
        <p:nvSpPr>
          <p:cNvPr id="32" name="Text 25"/>
          <p:cNvSpPr/>
          <p:nvPr/>
        </p:nvSpPr>
        <p:spPr>
          <a:xfrm>
            <a:off x="4602480" y="5143500"/>
            <a:ext cx="3002280" cy="365760"/>
          </a:xfrm>
          <a:prstGeom prst="rect">
            <a:avLst/>
          </a:prstGeom>
          <a:noFill/>
          <a:ln/>
        </p:spPr>
        <p:txBody>
          <a:bodyPr wrap="square" lIns="0" tIns="0" rIns="0" bIns="0" rtlCol="0" anchor="ctr"/>
          <a:lstStyle/>
          <a:p>
            <a:pPr indent="0" marL="0">
              <a:buNone/>
            </a:pPr>
            <a:r>
              <a:rPr lang="en-US" sz="1250" b="1" dirty="0">
                <a:solidFill>
                  <a:srgbClr val="111214"/>
                </a:solidFill>
                <a:latin typeface="Arial" pitchFamily="34" charset="0"/>
                <a:ea typeface="Arial" pitchFamily="34" charset="-122"/>
                <a:cs typeface="Arial" pitchFamily="34" charset="-120"/>
              </a:rPr>
              <a:t>Trust</a:t>
            </a:r>
            <a:endParaRPr lang="en-US" sz="1250" dirty="0"/>
          </a:p>
        </p:txBody>
      </p:sp>
      <p:sp>
        <p:nvSpPr>
          <p:cNvPr id="33" name="Text 26"/>
          <p:cNvSpPr/>
          <p:nvPr/>
        </p:nvSpPr>
        <p:spPr>
          <a:xfrm>
            <a:off x="4602480" y="5472684"/>
            <a:ext cx="3002280" cy="489204"/>
          </a:xfrm>
          <a:prstGeom prst="rect">
            <a:avLst/>
          </a:prstGeom>
          <a:noFill/>
          <a:ln/>
        </p:spPr>
        <p:txBody>
          <a:bodyPr wrap="square" lIns="0" tIns="0" rIns="0" bIns="0" rtlCol="0" anchor="ctr"/>
          <a:lstStyle/>
          <a:p>
            <a:pPr indent="0" marL="0">
              <a:lnSpc>
                <a:spcPct val="118000"/>
              </a:lnSpc>
              <a:buNone/>
            </a:pPr>
            <a:r>
              <a:rPr lang="en-US" sz="950" dirty="0">
                <a:solidFill>
                  <a:srgbClr val="5B5F63"/>
                </a:solidFill>
                <a:latin typeface="Calibri" pitchFamily="34" charset="0"/>
                <a:ea typeface="Calibri" pitchFamily="34" charset="-122"/>
                <a:cs typeface="Calibri" pitchFamily="34" charset="-120"/>
              </a:rPr>
              <a:t>Every device, every time, without exception.</a:t>
            </a:r>
            <a:endParaRPr lang="en-US" sz="950" dirty="0"/>
          </a:p>
        </p:txBody>
      </p:sp>
      <p:sp>
        <p:nvSpPr>
          <p:cNvPr id="34" name="Shape 27"/>
          <p:cNvSpPr/>
          <p:nvPr/>
        </p:nvSpPr>
        <p:spPr>
          <a:xfrm>
            <a:off x="8080248" y="4357116"/>
            <a:ext cx="3441192" cy="1769364"/>
          </a:xfrm>
          <a:prstGeom prst="roundRect">
            <a:avLst>
              <a:gd name="adj" fmla="val 4651"/>
            </a:avLst>
          </a:prstGeom>
          <a:solidFill>
            <a:srgbClr val="FFFFFF"/>
          </a:solidFill>
          <a:ln w="12700">
            <a:solidFill>
              <a:srgbClr val="E4E5E6"/>
            </a:solidFill>
            <a:prstDash val="solid"/>
          </a:ln>
          <a:effectLst>
            <a:outerShdw sx="100000" sy="100000" kx="0" ky="0" algn="bl" rotWithShape="0" blurRad="101600" dist="25400" dir="5400000">
              <a:srgbClr val="9AA0A6">
                <a:alpha val="25000"/>
              </a:srgbClr>
            </a:outerShdw>
          </a:effectLst>
        </p:spPr>
      </p:sp>
      <p:sp>
        <p:nvSpPr>
          <p:cNvPr id="35" name="Shape 28"/>
          <p:cNvSpPr/>
          <p:nvPr/>
        </p:nvSpPr>
        <p:spPr>
          <a:xfrm>
            <a:off x="8299704" y="4558284"/>
            <a:ext cx="457200" cy="457200"/>
          </a:xfrm>
          <a:prstGeom prst="ellipse">
            <a:avLst/>
          </a:prstGeom>
          <a:solidFill>
            <a:srgbClr val="FFFFFF"/>
          </a:solidFill>
          <a:ln w="12700">
            <a:solidFill>
              <a:srgbClr val="E3E4E5"/>
            </a:solidFill>
            <a:prstDash val="solid"/>
          </a:ln>
        </p:spPr>
      </p:sp>
      <p:pic>
        <p:nvPicPr>
          <p:cNvPr id="36" name="Image 5" descr="preencoded.png">    </p:cNvPr>
          <p:cNvPicPr>
            <a:picLocks noChangeAspect="1"/>
          </p:cNvPicPr>
          <p:nvPr/>
        </p:nvPicPr>
        <p:blipFill>
          <a:blip r:embed="rId6"/>
          <a:stretch>
            <a:fillRect/>
          </a:stretch>
        </p:blipFill>
        <p:spPr>
          <a:xfrm>
            <a:off x="8418576" y="4677156"/>
            <a:ext cx="219456" cy="219456"/>
          </a:xfrm>
          <a:prstGeom prst="rect">
            <a:avLst/>
          </a:prstGeom>
        </p:spPr>
      </p:pic>
      <p:sp>
        <p:nvSpPr>
          <p:cNvPr id="37" name="Text 29"/>
          <p:cNvSpPr/>
          <p:nvPr/>
        </p:nvSpPr>
        <p:spPr>
          <a:xfrm>
            <a:off x="8299704" y="5143500"/>
            <a:ext cx="3002280" cy="365760"/>
          </a:xfrm>
          <a:prstGeom prst="rect">
            <a:avLst/>
          </a:prstGeom>
          <a:noFill/>
          <a:ln/>
        </p:spPr>
        <p:txBody>
          <a:bodyPr wrap="square" lIns="0" tIns="0" rIns="0" bIns="0" rtlCol="0" anchor="ctr"/>
          <a:lstStyle/>
          <a:p>
            <a:pPr indent="0" marL="0">
              <a:buNone/>
            </a:pPr>
            <a:r>
              <a:rPr lang="en-US" sz="1250" b="1" dirty="0">
                <a:solidFill>
                  <a:srgbClr val="111214"/>
                </a:solidFill>
                <a:latin typeface="Arial" pitchFamily="34" charset="0"/>
                <a:ea typeface="Arial" pitchFamily="34" charset="-122"/>
                <a:cs typeface="Arial" pitchFamily="34" charset="-120"/>
              </a:rPr>
              <a:t>Sustainability</a:t>
            </a:r>
            <a:endParaRPr lang="en-US" sz="1250" dirty="0"/>
          </a:p>
        </p:txBody>
      </p:sp>
      <p:sp>
        <p:nvSpPr>
          <p:cNvPr id="38" name="Text 30"/>
          <p:cNvSpPr/>
          <p:nvPr/>
        </p:nvSpPr>
        <p:spPr>
          <a:xfrm>
            <a:off x="8299704" y="5472684"/>
            <a:ext cx="3002280" cy="489204"/>
          </a:xfrm>
          <a:prstGeom prst="rect">
            <a:avLst/>
          </a:prstGeom>
          <a:noFill/>
          <a:ln/>
        </p:spPr>
        <p:txBody>
          <a:bodyPr wrap="square" lIns="0" tIns="0" rIns="0" bIns="0" rtlCol="0" anchor="ctr"/>
          <a:lstStyle/>
          <a:p>
            <a:pPr indent="0" marL="0">
              <a:lnSpc>
                <a:spcPct val="118000"/>
              </a:lnSpc>
              <a:buNone/>
            </a:pPr>
            <a:r>
              <a:rPr lang="en-US" sz="950" dirty="0">
                <a:solidFill>
                  <a:srgbClr val="5B5F63"/>
                </a:solidFill>
                <a:latin typeface="Calibri" pitchFamily="34" charset="0"/>
                <a:ea typeface="Calibri" pitchFamily="34" charset="-122"/>
                <a:cs typeface="Calibri" pitchFamily="34" charset="-120"/>
              </a:rPr>
              <a:t>Designed to last, built to matter.</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WHY SYNTRA</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08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08 — WHY SYNTRA</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120"/>
              </a:lnSpc>
              <a:buNone/>
            </a:pPr>
            <a:r>
              <a:rPr lang="en-US" sz="3000" b="1" dirty="0">
                <a:solidFill>
                  <a:srgbClr val="FFFFFF"/>
                </a:solidFill>
                <a:latin typeface="Arial" pitchFamily="34" charset="0"/>
                <a:ea typeface="Arial" pitchFamily="34" charset="-122"/>
                <a:cs typeface="Arial" pitchFamily="34" charset="-120"/>
              </a:rPr>
              <a:t>Five Reasons the World Is Moving to SYNTRA</a:t>
            </a:r>
            <a:endParaRPr lang="en-US" sz="3000" dirty="0"/>
          </a:p>
        </p:txBody>
      </p:sp>
      <p:sp>
        <p:nvSpPr>
          <p:cNvPr id="10" name="Shape 8"/>
          <p:cNvSpPr/>
          <p:nvPr/>
        </p:nvSpPr>
        <p:spPr>
          <a:xfrm>
            <a:off x="685800" y="2423160"/>
            <a:ext cx="512064" cy="512064"/>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818937" y="2556297"/>
            <a:ext cx="245791" cy="245791"/>
          </a:xfrm>
          <a:prstGeom prst="rect">
            <a:avLst/>
          </a:prstGeom>
        </p:spPr>
      </p:pic>
      <p:sp>
        <p:nvSpPr>
          <p:cNvPr id="12" name="Text 9"/>
          <p:cNvSpPr/>
          <p:nvPr/>
        </p:nvSpPr>
        <p:spPr>
          <a:xfrm>
            <a:off x="1399032" y="2395728"/>
            <a:ext cx="9802368"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One Ecosystem</a:t>
            </a:r>
            <a:endParaRPr lang="en-US" sz="1400" dirty="0"/>
          </a:p>
        </p:txBody>
      </p:sp>
      <p:sp>
        <p:nvSpPr>
          <p:cNvPr id="13" name="Text 10"/>
          <p:cNvSpPr/>
          <p:nvPr/>
        </p:nvSpPr>
        <p:spPr>
          <a:xfrm>
            <a:off x="1399032" y="2670048"/>
            <a:ext cx="9802368" cy="365760"/>
          </a:xfrm>
          <a:prstGeom prst="rect">
            <a:avLst/>
          </a:prstGeom>
          <a:noFill/>
          <a:ln/>
        </p:spPr>
        <p:txBody>
          <a:bodyPr wrap="square" lIns="0" tIns="0" rIns="0" bIns="0" rtlCol="0" anchor="ctr"/>
          <a:lstStyle/>
          <a:p>
            <a:pPr indent="0" marL="0">
              <a:buNone/>
            </a:pPr>
            <a:r>
              <a:rPr lang="en-US" sz="1100" dirty="0">
                <a:solidFill>
                  <a:srgbClr val="C9CCCF"/>
                </a:solidFill>
                <a:latin typeface="Calibri" pitchFamily="34" charset="0"/>
                <a:ea typeface="Calibri" pitchFamily="34" charset="-122"/>
                <a:cs typeface="Calibri" pitchFamily="34" charset="-120"/>
              </a:rPr>
              <a:t>Every device, one intelligence layer — no fragmented apps.</a:t>
            </a:r>
            <a:endParaRPr lang="en-US" sz="1100" dirty="0"/>
          </a:p>
        </p:txBody>
      </p:sp>
      <p:sp>
        <p:nvSpPr>
          <p:cNvPr id="14" name="Shape 11"/>
          <p:cNvSpPr/>
          <p:nvPr/>
        </p:nvSpPr>
        <p:spPr>
          <a:xfrm>
            <a:off x="685800" y="3200400"/>
            <a:ext cx="512064" cy="512064"/>
          </a:xfrm>
          <a:prstGeom prst="ellipse">
            <a:avLst/>
          </a:prstGeom>
          <a:solidFill>
            <a:srgbClr val="1B1C1F"/>
          </a:solidFill>
          <a:ln w="12700">
            <a:solidFill>
              <a:srgbClr val="2C2D30"/>
            </a:solidFill>
            <a:prstDash val="solid"/>
          </a:ln>
        </p:spPr>
      </p:sp>
      <p:pic>
        <p:nvPicPr>
          <p:cNvPr id="15" name="Image 1" descr="preencoded.png">    </p:cNvPr>
          <p:cNvPicPr>
            <a:picLocks noChangeAspect="1"/>
          </p:cNvPicPr>
          <p:nvPr/>
        </p:nvPicPr>
        <p:blipFill>
          <a:blip r:embed="rId2"/>
          <a:stretch>
            <a:fillRect/>
          </a:stretch>
        </p:blipFill>
        <p:spPr>
          <a:xfrm>
            <a:off x="818937" y="3333537"/>
            <a:ext cx="245791" cy="245791"/>
          </a:xfrm>
          <a:prstGeom prst="rect">
            <a:avLst/>
          </a:prstGeom>
        </p:spPr>
      </p:pic>
      <p:sp>
        <p:nvSpPr>
          <p:cNvPr id="16" name="Text 12"/>
          <p:cNvSpPr/>
          <p:nvPr/>
        </p:nvSpPr>
        <p:spPr>
          <a:xfrm>
            <a:off x="1399032" y="3172968"/>
            <a:ext cx="9802368"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Open by Design</a:t>
            </a:r>
            <a:endParaRPr lang="en-US" sz="1400" dirty="0"/>
          </a:p>
        </p:txBody>
      </p:sp>
      <p:sp>
        <p:nvSpPr>
          <p:cNvPr id="17" name="Text 13"/>
          <p:cNvSpPr/>
          <p:nvPr/>
        </p:nvSpPr>
        <p:spPr>
          <a:xfrm>
            <a:off x="1399032" y="3447288"/>
            <a:ext cx="9802368" cy="365760"/>
          </a:xfrm>
          <a:prstGeom prst="rect">
            <a:avLst/>
          </a:prstGeom>
          <a:noFill/>
          <a:ln/>
        </p:spPr>
        <p:txBody>
          <a:bodyPr wrap="square" lIns="0" tIns="0" rIns="0" bIns="0" rtlCol="0" anchor="ctr"/>
          <a:lstStyle/>
          <a:p>
            <a:pPr indent="0" marL="0">
              <a:buNone/>
            </a:pPr>
            <a:r>
              <a:rPr lang="en-US" sz="1100" dirty="0">
                <a:solidFill>
                  <a:srgbClr val="C9CCCF"/>
                </a:solidFill>
                <a:latin typeface="Calibri" pitchFamily="34" charset="0"/>
                <a:ea typeface="Calibri" pitchFamily="34" charset="-122"/>
                <a:cs typeface="Calibri" pitchFamily="34" charset="-120"/>
              </a:rPr>
              <a:t>Native Matter, Z-Wave, Zigbee, Thread and Home Assistant.</a:t>
            </a:r>
            <a:endParaRPr lang="en-US" sz="1100" dirty="0"/>
          </a:p>
        </p:txBody>
      </p:sp>
      <p:sp>
        <p:nvSpPr>
          <p:cNvPr id="18" name="Shape 14"/>
          <p:cNvSpPr/>
          <p:nvPr/>
        </p:nvSpPr>
        <p:spPr>
          <a:xfrm>
            <a:off x="685800" y="3977640"/>
            <a:ext cx="512064" cy="512064"/>
          </a:xfrm>
          <a:prstGeom prst="ellipse">
            <a:avLst/>
          </a:prstGeom>
          <a:solidFill>
            <a:srgbClr val="1B1C1F"/>
          </a:solidFill>
          <a:ln w="12700">
            <a:solidFill>
              <a:srgbClr val="2C2D30"/>
            </a:solidFill>
            <a:prstDash val="solid"/>
          </a:ln>
        </p:spPr>
      </p:sp>
      <p:pic>
        <p:nvPicPr>
          <p:cNvPr id="19" name="Image 2" descr="preencoded.png">    </p:cNvPr>
          <p:cNvPicPr>
            <a:picLocks noChangeAspect="1"/>
          </p:cNvPicPr>
          <p:nvPr/>
        </p:nvPicPr>
        <p:blipFill>
          <a:blip r:embed="rId3"/>
          <a:stretch>
            <a:fillRect/>
          </a:stretch>
        </p:blipFill>
        <p:spPr>
          <a:xfrm>
            <a:off x="818937" y="4110777"/>
            <a:ext cx="245791" cy="245791"/>
          </a:xfrm>
          <a:prstGeom prst="rect">
            <a:avLst/>
          </a:prstGeom>
        </p:spPr>
      </p:pic>
      <p:sp>
        <p:nvSpPr>
          <p:cNvPr id="20" name="Text 15"/>
          <p:cNvSpPr/>
          <p:nvPr/>
        </p:nvSpPr>
        <p:spPr>
          <a:xfrm>
            <a:off x="1399032" y="3950208"/>
            <a:ext cx="9802368"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AI-Native</a:t>
            </a:r>
            <a:endParaRPr lang="en-US" sz="1400" dirty="0"/>
          </a:p>
        </p:txBody>
      </p:sp>
      <p:sp>
        <p:nvSpPr>
          <p:cNvPr id="21" name="Text 16"/>
          <p:cNvSpPr/>
          <p:nvPr/>
        </p:nvSpPr>
        <p:spPr>
          <a:xfrm>
            <a:off x="1399032" y="4224528"/>
            <a:ext cx="9802368" cy="365760"/>
          </a:xfrm>
          <a:prstGeom prst="rect">
            <a:avLst/>
          </a:prstGeom>
          <a:noFill/>
          <a:ln/>
        </p:spPr>
        <p:txBody>
          <a:bodyPr wrap="square" lIns="0" tIns="0" rIns="0" bIns="0" rtlCol="0" anchor="ctr"/>
          <a:lstStyle/>
          <a:p>
            <a:pPr indent="0" marL="0">
              <a:buNone/>
            </a:pPr>
            <a:r>
              <a:rPr lang="en-US" sz="1100" dirty="0">
                <a:solidFill>
                  <a:srgbClr val="C9CCCF"/>
                </a:solidFill>
                <a:latin typeface="Calibri" pitchFamily="34" charset="0"/>
                <a:ea typeface="Calibri" pitchFamily="34" charset="-122"/>
                <a:cs typeface="Calibri" pitchFamily="34" charset="-120"/>
              </a:rPr>
              <a:t>Automation that learns your space, not just reacts to it.</a:t>
            </a:r>
            <a:endParaRPr lang="en-US" sz="1100" dirty="0"/>
          </a:p>
        </p:txBody>
      </p:sp>
      <p:sp>
        <p:nvSpPr>
          <p:cNvPr id="22" name="Shape 17"/>
          <p:cNvSpPr/>
          <p:nvPr/>
        </p:nvSpPr>
        <p:spPr>
          <a:xfrm>
            <a:off x="685800" y="4754880"/>
            <a:ext cx="512064" cy="512064"/>
          </a:xfrm>
          <a:prstGeom prst="ellipse">
            <a:avLst/>
          </a:prstGeom>
          <a:solidFill>
            <a:srgbClr val="1B1C1F"/>
          </a:solidFill>
          <a:ln w="12700">
            <a:solidFill>
              <a:srgbClr val="2C2D30"/>
            </a:solidFill>
            <a:prstDash val="solid"/>
          </a:ln>
        </p:spPr>
      </p:sp>
      <p:pic>
        <p:nvPicPr>
          <p:cNvPr id="23" name="Image 3" descr="preencoded.png">    </p:cNvPr>
          <p:cNvPicPr>
            <a:picLocks noChangeAspect="1"/>
          </p:cNvPicPr>
          <p:nvPr/>
        </p:nvPicPr>
        <p:blipFill>
          <a:blip r:embed="rId4"/>
          <a:stretch>
            <a:fillRect/>
          </a:stretch>
        </p:blipFill>
        <p:spPr>
          <a:xfrm>
            <a:off x="818937" y="4888017"/>
            <a:ext cx="245791" cy="245791"/>
          </a:xfrm>
          <a:prstGeom prst="rect">
            <a:avLst/>
          </a:prstGeom>
        </p:spPr>
      </p:pic>
      <p:sp>
        <p:nvSpPr>
          <p:cNvPr id="24" name="Text 18"/>
          <p:cNvSpPr/>
          <p:nvPr/>
        </p:nvSpPr>
        <p:spPr>
          <a:xfrm>
            <a:off x="1399032" y="4727448"/>
            <a:ext cx="9802368"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Enterprise-Grade</a:t>
            </a:r>
            <a:endParaRPr lang="en-US" sz="1400" dirty="0"/>
          </a:p>
        </p:txBody>
      </p:sp>
      <p:sp>
        <p:nvSpPr>
          <p:cNvPr id="25" name="Text 19"/>
          <p:cNvSpPr/>
          <p:nvPr/>
        </p:nvSpPr>
        <p:spPr>
          <a:xfrm>
            <a:off x="1399032" y="5001768"/>
            <a:ext cx="9802368" cy="365760"/>
          </a:xfrm>
          <a:prstGeom prst="rect">
            <a:avLst/>
          </a:prstGeom>
          <a:noFill/>
          <a:ln/>
        </p:spPr>
        <p:txBody>
          <a:bodyPr wrap="square" lIns="0" tIns="0" rIns="0" bIns="0" rtlCol="0" anchor="ctr"/>
          <a:lstStyle/>
          <a:p>
            <a:pPr indent="0" marL="0">
              <a:buNone/>
            </a:pPr>
            <a:r>
              <a:rPr lang="en-US" sz="1100" dirty="0">
                <a:solidFill>
                  <a:srgbClr val="C9CCCF"/>
                </a:solidFill>
                <a:latin typeface="Calibri" pitchFamily="34" charset="0"/>
                <a:ea typeface="Calibri" pitchFamily="34" charset="-122"/>
                <a:cs typeface="Calibri" pitchFamily="34" charset="-120"/>
              </a:rPr>
              <a:t>Residential comfort, industrial-grade reliability.</a:t>
            </a:r>
            <a:endParaRPr lang="en-US" sz="1100" dirty="0"/>
          </a:p>
        </p:txBody>
      </p:sp>
      <p:sp>
        <p:nvSpPr>
          <p:cNvPr id="26" name="Shape 20"/>
          <p:cNvSpPr/>
          <p:nvPr/>
        </p:nvSpPr>
        <p:spPr>
          <a:xfrm>
            <a:off x="685800" y="5532120"/>
            <a:ext cx="512064" cy="512064"/>
          </a:xfrm>
          <a:prstGeom prst="ellipse">
            <a:avLst/>
          </a:prstGeom>
          <a:solidFill>
            <a:srgbClr val="1B1C1F"/>
          </a:solidFill>
          <a:ln w="12700">
            <a:solidFill>
              <a:srgbClr val="2C2D30"/>
            </a:solidFill>
            <a:prstDash val="solid"/>
          </a:ln>
        </p:spPr>
      </p:sp>
      <p:pic>
        <p:nvPicPr>
          <p:cNvPr id="27" name="Image 4" descr="preencoded.png">    </p:cNvPr>
          <p:cNvPicPr>
            <a:picLocks noChangeAspect="1"/>
          </p:cNvPicPr>
          <p:nvPr/>
        </p:nvPicPr>
        <p:blipFill>
          <a:blip r:embed="rId5"/>
          <a:stretch>
            <a:fillRect/>
          </a:stretch>
        </p:blipFill>
        <p:spPr>
          <a:xfrm>
            <a:off x="818937" y="5665257"/>
            <a:ext cx="245791" cy="245791"/>
          </a:xfrm>
          <a:prstGeom prst="rect">
            <a:avLst/>
          </a:prstGeom>
        </p:spPr>
      </p:pic>
      <p:sp>
        <p:nvSpPr>
          <p:cNvPr id="28" name="Text 21"/>
          <p:cNvSpPr/>
          <p:nvPr/>
        </p:nvSpPr>
        <p:spPr>
          <a:xfrm>
            <a:off x="1399032" y="5504688"/>
            <a:ext cx="9802368"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Built for Longevity</a:t>
            </a:r>
            <a:endParaRPr lang="en-US" sz="1400" dirty="0"/>
          </a:p>
        </p:txBody>
      </p:sp>
      <p:sp>
        <p:nvSpPr>
          <p:cNvPr id="29" name="Text 22"/>
          <p:cNvSpPr/>
          <p:nvPr/>
        </p:nvSpPr>
        <p:spPr>
          <a:xfrm>
            <a:off x="1399032" y="5779008"/>
            <a:ext cx="9802368" cy="365760"/>
          </a:xfrm>
          <a:prstGeom prst="rect">
            <a:avLst/>
          </a:prstGeom>
          <a:noFill/>
          <a:ln/>
        </p:spPr>
        <p:txBody>
          <a:bodyPr wrap="square" lIns="0" tIns="0" rIns="0" bIns="0" rtlCol="0" anchor="ctr"/>
          <a:lstStyle/>
          <a:p>
            <a:pPr indent="0" marL="0">
              <a:buNone/>
            </a:pPr>
            <a:r>
              <a:rPr lang="en-US" sz="1100" dirty="0">
                <a:solidFill>
                  <a:srgbClr val="C9CCCF"/>
                </a:solidFill>
                <a:latin typeface="Calibri" pitchFamily="34" charset="0"/>
                <a:ea typeface="Calibri" pitchFamily="34" charset="-122"/>
                <a:cs typeface="Calibri" pitchFamily="34" charset="-120"/>
              </a:rPr>
              <a:t>Premium materials, decade-long software support.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09 / 37   —   SYNTRA SMART GLOBAL COMPANY PROFILE</a:t>
            </a:r>
            <a:endParaRPr lang="en-US" sz="800" dirty="0"/>
          </a:p>
        </p:txBody>
      </p:sp>
      <p:sp>
        <p:nvSpPr>
          <p:cNvPr id="6" name="Text 4"/>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7" name="Text 5"/>
          <p:cNvSpPr/>
          <p:nvPr/>
        </p:nvSpPr>
        <p:spPr>
          <a:xfrm>
            <a:off x="502920" y="1691640"/>
            <a:ext cx="7315200" cy="1828800"/>
          </a:xfrm>
          <a:prstGeom prst="rect">
            <a:avLst/>
          </a:prstGeom>
          <a:noFill/>
          <a:ln/>
        </p:spPr>
        <p:txBody>
          <a:bodyPr wrap="square" lIns="0" tIns="0" rIns="0" bIns="0" rtlCol="0" anchor="ctr"/>
          <a:lstStyle/>
          <a:p>
            <a:pPr indent="0" marL="0">
              <a:buNone/>
            </a:pPr>
            <a:r>
              <a:rPr lang="en-US" sz="15000" b="1" dirty="0">
                <a:solidFill>
                  <a:srgbClr val="1A1B1E"/>
                </a:solidFill>
                <a:latin typeface="Arial" pitchFamily="34" charset="0"/>
                <a:ea typeface="Arial" pitchFamily="34" charset="-122"/>
                <a:cs typeface="Arial" pitchFamily="34" charset="-120"/>
              </a:rPr>
              <a:t>09</a:t>
            </a:r>
            <a:endParaRPr lang="en-US" sz="15000" dirty="0"/>
          </a:p>
        </p:txBody>
      </p:sp>
      <p:sp>
        <p:nvSpPr>
          <p:cNvPr id="8" name="Text 6"/>
          <p:cNvSpPr/>
          <p:nvPr/>
        </p:nvSpPr>
        <p:spPr>
          <a:xfrm>
            <a:off x="685800" y="3246120"/>
            <a:ext cx="9144000" cy="365760"/>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ECOSYSTEM</a:t>
            </a:r>
            <a:endParaRPr lang="en-US" sz="1300" dirty="0"/>
          </a:p>
        </p:txBody>
      </p:sp>
      <p:sp>
        <p:nvSpPr>
          <p:cNvPr id="9" name="Text 7"/>
          <p:cNvSpPr/>
          <p:nvPr/>
        </p:nvSpPr>
        <p:spPr>
          <a:xfrm>
            <a:off x="685800" y="3639312"/>
            <a:ext cx="10515600" cy="1371600"/>
          </a:xfrm>
          <a:prstGeom prst="rect">
            <a:avLst/>
          </a:prstGeom>
          <a:noFill/>
          <a:ln/>
        </p:spPr>
        <p:txBody>
          <a:bodyPr wrap="square" lIns="0" tIns="0" rIns="0" bIns="0" rtlCol="0" anchor="ctr"/>
          <a:lstStyle/>
          <a:p>
            <a:pPr indent="0" marL="0">
              <a:lnSpc>
                <a:spcPts val="4800"/>
              </a:lnSpc>
              <a:buNone/>
            </a:pPr>
            <a:r>
              <a:rPr lang="en-US" sz="4600" b="1" dirty="0">
                <a:solidFill>
                  <a:srgbClr val="FFFFFF"/>
                </a:solidFill>
                <a:latin typeface="Arial" pitchFamily="34" charset="0"/>
                <a:ea typeface="Arial" pitchFamily="34" charset="-122"/>
                <a:cs typeface="Arial" pitchFamily="34" charset="-120"/>
              </a:rPr>
              <a:t>Our Ecosystem</a:t>
            </a:r>
            <a:endParaRPr lang="en-US" sz="4600" dirty="0"/>
          </a:p>
        </p:txBody>
      </p:sp>
      <p:sp>
        <p:nvSpPr>
          <p:cNvPr id="10" name="Text 8"/>
          <p:cNvSpPr/>
          <p:nvPr/>
        </p:nvSpPr>
        <p:spPr>
          <a:xfrm>
            <a:off x="685800" y="4892040"/>
            <a:ext cx="8229600" cy="640080"/>
          </a:xfrm>
          <a:prstGeom prst="rect">
            <a:avLst/>
          </a:prstGeom>
          <a:noFill/>
          <a:ln/>
        </p:spPr>
        <p:txBody>
          <a:bodyPr wrap="square" lIns="0" tIns="0" rIns="0" bIns="0" rtlCol="0" anchor="ctr"/>
          <a:lstStyle/>
          <a:p>
            <a:pPr indent="0" marL="0">
              <a:lnSpc>
                <a:spcPct val="130000"/>
              </a:lnSpc>
              <a:buNone/>
            </a:pPr>
            <a:r>
              <a:rPr lang="en-US" sz="1400" dirty="0">
                <a:solidFill>
                  <a:srgbClr val="C9CCCF"/>
                </a:solidFill>
                <a:latin typeface="Calibri" pitchFamily="34" charset="0"/>
                <a:ea typeface="Calibri" pitchFamily="34" charset="-122"/>
                <a:cs typeface="Calibri" pitchFamily="34" charset="-120"/>
              </a:rPr>
              <a:t>Eight pillars, engineered as one continuous system.</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OUR ECOSYSTEM</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10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09 — OUR ECOSYSTEM</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Eight Pillars. One System.</a:t>
            </a:r>
            <a:endParaRPr lang="en-US" sz="3200" dirty="0"/>
          </a:p>
        </p:txBody>
      </p:sp>
      <p:sp>
        <p:nvSpPr>
          <p:cNvPr id="10" name="Shape 8"/>
          <p:cNvSpPr/>
          <p:nvPr/>
        </p:nvSpPr>
        <p:spPr>
          <a:xfrm>
            <a:off x="685800" y="2331720"/>
            <a:ext cx="2516886" cy="1769364"/>
          </a:xfrm>
          <a:prstGeom prst="roundRect">
            <a:avLst>
              <a:gd name="adj" fmla="val 4651"/>
            </a:avLst>
          </a:prstGeom>
          <a:solidFill>
            <a:srgbClr val="141417"/>
          </a:solidFill>
          <a:ln w="12700">
            <a:solidFill>
              <a:srgbClr val="242528"/>
            </a:solidFill>
            <a:prstDash val="solid"/>
          </a:ln>
        </p:spPr>
      </p:sp>
      <p:sp>
        <p:nvSpPr>
          <p:cNvPr id="11" name="Shape 9"/>
          <p:cNvSpPr/>
          <p:nvPr/>
        </p:nvSpPr>
        <p:spPr>
          <a:xfrm>
            <a:off x="905256" y="2532888"/>
            <a:ext cx="457200" cy="457200"/>
          </a:xfrm>
          <a:prstGeom prst="ellipse">
            <a:avLst/>
          </a:prstGeom>
          <a:solidFill>
            <a:srgbClr val="1B1C1F"/>
          </a:solidFill>
          <a:ln w="12700">
            <a:solidFill>
              <a:srgbClr val="2C2D30"/>
            </a:solidFill>
            <a:prstDash val="solid"/>
          </a:ln>
        </p:spPr>
      </p:sp>
      <p:pic>
        <p:nvPicPr>
          <p:cNvPr id="12" name="Image 0" descr="preencoded.png">    </p:cNvPr>
          <p:cNvPicPr>
            <a:picLocks noChangeAspect="1"/>
          </p:cNvPicPr>
          <p:nvPr/>
        </p:nvPicPr>
        <p:blipFill>
          <a:blip r:embed="rId1"/>
          <a:stretch>
            <a:fillRect/>
          </a:stretch>
        </p:blipFill>
        <p:spPr>
          <a:xfrm>
            <a:off x="1024128" y="2651760"/>
            <a:ext cx="219456" cy="219456"/>
          </a:xfrm>
          <a:prstGeom prst="rect">
            <a:avLst/>
          </a:prstGeom>
        </p:spPr>
      </p:pic>
      <p:sp>
        <p:nvSpPr>
          <p:cNvPr id="13" name="Text 10"/>
          <p:cNvSpPr/>
          <p:nvPr/>
        </p:nvSpPr>
        <p:spPr>
          <a:xfrm>
            <a:off x="905256" y="311810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Smart Home</a:t>
            </a:r>
            <a:endParaRPr lang="en-US" sz="1250" dirty="0"/>
          </a:p>
        </p:txBody>
      </p:sp>
      <p:sp>
        <p:nvSpPr>
          <p:cNvPr id="14" name="Text 11"/>
          <p:cNvSpPr/>
          <p:nvPr/>
        </p:nvSpPr>
        <p:spPr>
          <a:xfrm>
            <a:off x="905256" y="3447288"/>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Every room, device and routine in one system.</a:t>
            </a:r>
            <a:endParaRPr lang="en-US" sz="950" dirty="0"/>
          </a:p>
        </p:txBody>
      </p:sp>
      <p:sp>
        <p:nvSpPr>
          <p:cNvPr id="15" name="Shape 12"/>
          <p:cNvSpPr/>
          <p:nvPr/>
        </p:nvSpPr>
        <p:spPr>
          <a:xfrm>
            <a:off x="3458718" y="2331720"/>
            <a:ext cx="2516886" cy="1769364"/>
          </a:xfrm>
          <a:prstGeom prst="roundRect">
            <a:avLst>
              <a:gd name="adj" fmla="val 4651"/>
            </a:avLst>
          </a:prstGeom>
          <a:solidFill>
            <a:srgbClr val="141417"/>
          </a:solidFill>
          <a:ln w="12700">
            <a:solidFill>
              <a:srgbClr val="242528"/>
            </a:solidFill>
            <a:prstDash val="solid"/>
          </a:ln>
        </p:spPr>
      </p:sp>
      <p:sp>
        <p:nvSpPr>
          <p:cNvPr id="16" name="Shape 13"/>
          <p:cNvSpPr/>
          <p:nvPr/>
        </p:nvSpPr>
        <p:spPr>
          <a:xfrm>
            <a:off x="3678174" y="2532888"/>
            <a:ext cx="457200" cy="457200"/>
          </a:xfrm>
          <a:prstGeom prst="ellipse">
            <a:avLst/>
          </a:prstGeom>
          <a:solidFill>
            <a:srgbClr val="1B1C1F"/>
          </a:solidFill>
          <a:ln w="12700">
            <a:solidFill>
              <a:srgbClr val="2C2D30"/>
            </a:solidFill>
            <a:prstDash val="solid"/>
          </a:ln>
        </p:spPr>
      </p:sp>
      <p:pic>
        <p:nvPicPr>
          <p:cNvPr id="17" name="Image 1" descr="preencoded.png">    </p:cNvPr>
          <p:cNvPicPr>
            <a:picLocks noChangeAspect="1"/>
          </p:cNvPicPr>
          <p:nvPr/>
        </p:nvPicPr>
        <p:blipFill>
          <a:blip r:embed="rId2"/>
          <a:stretch>
            <a:fillRect/>
          </a:stretch>
        </p:blipFill>
        <p:spPr>
          <a:xfrm>
            <a:off x="3797046" y="2651760"/>
            <a:ext cx="219456" cy="219456"/>
          </a:xfrm>
          <a:prstGeom prst="rect">
            <a:avLst/>
          </a:prstGeom>
        </p:spPr>
      </p:pic>
      <p:sp>
        <p:nvSpPr>
          <p:cNvPr id="18" name="Text 14"/>
          <p:cNvSpPr/>
          <p:nvPr/>
        </p:nvSpPr>
        <p:spPr>
          <a:xfrm>
            <a:off x="3678174" y="311810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Artificial Intelligence</a:t>
            </a:r>
            <a:endParaRPr lang="en-US" sz="1250" dirty="0"/>
          </a:p>
        </p:txBody>
      </p:sp>
      <p:sp>
        <p:nvSpPr>
          <p:cNvPr id="19" name="Text 15"/>
          <p:cNvSpPr/>
          <p:nvPr/>
        </p:nvSpPr>
        <p:spPr>
          <a:xfrm>
            <a:off x="3678174" y="3447288"/>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Predictive intelligence that adapts to how you live.</a:t>
            </a:r>
            <a:endParaRPr lang="en-US" sz="950" dirty="0"/>
          </a:p>
        </p:txBody>
      </p:sp>
      <p:sp>
        <p:nvSpPr>
          <p:cNvPr id="20" name="Shape 16"/>
          <p:cNvSpPr/>
          <p:nvPr/>
        </p:nvSpPr>
        <p:spPr>
          <a:xfrm>
            <a:off x="6231636" y="2331720"/>
            <a:ext cx="2516886" cy="1769364"/>
          </a:xfrm>
          <a:prstGeom prst="roundRect">
            <a:avLst>
              <a:gd name="adj" fmla="val 4651"/>
            </a:avLst>
          </a:prstGeom>
          <a:solidFill>
            <a:srgbClr val="141417"/>
          </a:solidFill>
          <a:ln w="12700">
            <a:solidFill>
              <a:srgbClr val="242528"/>
            </a:solidFill>
            <a:prstDash val="solid"/>
          </a:ln>
        </p:spPr>
      </p:sp>
      <p:sp>
        <p:nvSpPr>
          <p:cNvPr id="21" name="Shape 17"/>
          <p:cNvSpPr/>
          <p:nvPr/>
        </p:nvSpPr>
        <p:spPr>
          <a:xfrm>
            <a:off x="6451092" y="2532888"/>
            <a:ext cx="457200" cy="457200"/>
          </a:xfrm>
          <a:prstGeom prst="ellipse">
            <a:avLst/>
          </a:prstGeom>
          <a:solidFill>
            <a:srgbClr val="1B1C1F"/>
          </a:solidFill>
          <a:ln w="12700">
            <a:solidFill>
              <a:srgbClr val="2C2D30"/>
            </a:solidFill>
            <a:prstDash val="solid"/>
          </a:ln>
        </p:spPr>
      </p:sp>
      <p:pic>
        <p:nvPicPr>
          <p:cNvPr id="22" name="Image 2" descr="preencoded.png">    </p:cNvPr>
          <p:cNvPicPr>
            <a:picLocks noChangeAspect="1"/>
          </p:cNvPicPr>
          <p:nvPr/>
        </p:nvPicPr>
        <p:blipFill>
          <a:blip r:embed="rId3"/>
          <a:stretch>
            <a:fillRect/>
          </a:stretch>
        </p:blipFill>
        <p:spPr>
          <a:xfrm>
            <a:off x="6569964" y="2651760"/>
            <a:ext cx="219456" cy="219456"/>
          </a:xfrm>
          <a:prstGeom prst="rect">
            <a:avLst/>
          </a:prstGeom>
        </p:spPr>
      </p:pic>
      <p:sp>
        <p:nvSpPr>
          <p:cNvPr id="23" name="Text 18"/>
          <p:cNvSpPr/>
          <p:nvPr/>
        </p:nvSpPr>
        <p:spPr>
          <a:xfrm>
            <a:off x="6451092" y="311810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IoT</a:t>
            </a:r>
            <a:endParaRPr lang="en-US" sz="1250" dirty="0"/>
          </a:p>
        </p:txBody>
      </p:sp>
      <p:sp>
        <p:nvSpPr>
          <p:cNvPr id="24" name="Text 19"/>
          <p:cNvSpPr/>
          <p:nvPr/>
        </p:nvSpPr>
        <p:spPr>
          <a:xfrm>
            <a:off x="6451092" y="3447288"/>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Thousands of connected points, one unified network.</a:t>
            </a:r>
            <a:endParaRPr lang="en-US" sz="950" dirty="0"/>
          </a:p>
        </p:txBody>
      </p:sp>
      <p:sp>
        <p:nvSpPr>
          <p:cNvPr id="25" name="Shape 20"/>
          <p:cNvSpPr/>
          <p:nvPr/>
        </p:nvSpPr>
        <p:spPr>
          <a:xfrm>
            <a:off x="9004554" y="2331720"/>
            <a:ext cx="2516886" cy="1769364"/>
          </a:xfrm>
          <a:prstGeom prst="roundRect">
            <a:avLst>
              <a:gd name="adj" fmla="val 4651"/>
            </a:avLst>
          </a:prstGeom>
          <a:solidFill>
            <a:srgbClr val="141417"/>
          </a:solidFill>
          <a:ln w="12700">
            <a:solidFill>
              <a:srgbClr val="242528"/>
            </a:solidFill>
            <a:prstDash val="solid"/>
          </a:ln>
        </p:spPr>
      </p:sp>
      <p:sp>
        <p:nvSpPr>
          <p:cNvPr id="26" name="Shape 21"/>
          <p:cNvSpPr/>
          <p:nvPr/>
        </p:nvSpPr>
        <p:spPr>
          <a:xfrm>
            <a:off x="9224010" y="2532888"/>
            <a:ext cx="457200" cy="457200"/>
          </a:xfrm>
          <a:prstGeom prst="ellipse">
            <a:avLst/>
          </a:prstGeom>
          <a:solidFill>
            <a:srgbClr val="1B1C1F"/>
          </a:solidFill>
          <a:ln w="12700">
            <a:solidFill>
              <a:srgbClr val="2C2D30"/>
            </a:solidFill>
            <a:prstDash val="solid"/>
          </a:ln>
        </p:spPr>
      </p:sp>
      <p:pic>
        <p:nvPicPr>
          <p:cNvPr id="27" name="Image 3" descr="preencoded.png">    </p:cNvPr>
          <p:cNvPicPr>
            <a:picLocks noChangeAspect="1"/>
          </p:cNvPicPr>
          <p:nvPr/>
        </p:nvPicPr>
        <p:blipFill>
          <a:blip r:embed="rId4"/>
          <a:stretch>
            <a:fillRect/>
          </a:stretch>
        </p:blipFill>
        <p:spPr>
          <a:xfrm>
            <a:off x="9342882" y="2651760"/>
            <a:ext cx="219456" cy="219456"/>
          </a:xfrm>
          <a:prstGeom prst="rect">
            <a:avLst/>
          </a:prstGeom>
        </p:spPr>
      </p:pic>
      <p:sp>
        <p:nvSpPr>
          <p:cNvPr id="28" name="Text 22"/>
          <p:cNvSpPr/>
          <p:nvPr/>
        </p:nvSpPr>
        <p:spPr>
          <a:xfrm>
            <a:off x="9224010" y="311810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Cloud Platform</a:t>
            </a:r>
            <a:endParaRPr lang="en-US" sz="1250" dirty="0"/>
          </a:p>
        </p:txBody>
      </p:sp>
      <p:sp>
        <p:nvSpPr>
          <p:cNvPr id="29" name="Text 23"/>
          <p:cNvSpPr/>
          <p:nvPr/>
        </p:nvSpPr>
        <p:spPr>
          <a:xfrm>
            <a:off x="9224010" y="3447288"/>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Global infrastructure for real-time, secure control.</a:t>
            </a:r>
            <a:endParaRPr lang="en-US" sz="950" dirty="0"/>
          </a:p>
        </p:txBody>
      </p:sp>
      <p:sp>
        <p:nvSpPr>
          <p:cNvPr id="30" name="Shape 24"/>
          <p:cNvSpPr/>
          <p:nvPr/>
        </p:nvSpPr>
        <p:spPr>
          <a:xfrm>
            <a:off x="685800" y="4357116"/>
            <a:ext cx="2516886" cy="1769364"/>
          </a:xfrm>
          <a:prstGeom prst="roundRect">
            <a:avLst>
              <a:gd name="adj" fmla="val 4651"/>
            </a:avLst>
          </a:prstGeom>
          <a:solidFill>
            <a:srgbClr val="141417"/>
          </a:solidFill>
          <a:ln w="12700">
            <a:solidFill>
              <a:srgbClr val="242528"/>
            </a:solidFill>
            <a:prstDash val="solid"/>
          </a:ln>
        </p:spPr>
      </p:sp>
      <p:sp>
        <p:nvSpPr>
          <p:cNvPr id="31" name="Shape 25"/>
          <p:cNvSpPr/>
          <p:nvPr/>
        </p:nvSpPr>
        <p:spPr>
          <a:xfrm>
            <a:off x="905256" y="4558284"/>
            <a:ext cx="457200" cy="457200"/>
          </a:xfrm>
          <a:prstGeom prst="ellipse">
            <a:avLst/>
          </a:prstGeom>
          <a:solidFill>
            <a:srgbClr val="1B1C1F"/>
          </a:solidFill>
          <a:ln w="12700">
            <a:solidFill>
              <a:srgbClr val="2C2D30"/>
            </a:solidFill>
            <a:prstDash val="solid"/>
          </a:ln>
        </p:spPr>
      </p:sp>
      <p:pic>
        <p:nvPicPr>
          <p:cNvPr id="32" name="Image 4" descr="preencoded.png">    </p:cNvPr>
          <p:cNvPicPr>
            <a:picLocks noChangeAspect="1"/>
          </p:cNvPicPr>
          <p:nvPr/>
        </p:nvPicPr>
        <p:blipFill>
          <a:blip r:embed="rId5"/>
          <a:stretch>
            <a:fillRect/>
          </a:stretch>
        </p:blipFill>
        <p:spPr>
          <a:xfrm>
            <a:off x="1024128" y="4677156"/>
            <a:ext cx="219456" cy="219456"/>
          </a:xfrm>
          <a:prstGeom prst="rect">
            <a:avLst/>
          </a:prstGeom>
        </p:spPr>
      </p:pic>
      <p:sp>
        <p:nvSpPr>
          <p:cNvPr id="33" name="Text 26"/>
          <p:cNvSpPr/>
          <p:nvPr/>
        </p:nvSpPr>
        <p:spPr>
          <a:xfrm>
            <a:off x="905256" y="5143500"/>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Mobile Applications</a:t>
            </a:r>
            <a:endParaRPr lang="en-US" sz="1250" dirty="0"/>
          </a:p>
        </p:txBody>
      </p:sp>
      <p:sp>
        <p:nvSpPr>
          <p:cNvPr id="34" name="Text 27"/>
          <p:cNvSpPr/>
          <p:nvPr/>
        </p:nvSpPr>
        <p:spPr>
          <a:xfrm>
            <a:off x="905256" y="5472684"/>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One app. Every device. Every room.</a:t>
            </a:r>
            <a:endParaRPr lang="en-US" sz="950" dirty="0"/>
          </a:p>
        </p:txBody>
      </p:sp>
      <p:sp>
        <p:nvSpPr>
          <p:cNvPr id="35" name="Shape 28"/>
          <p:cNvSpPr/>
          <p:nvPr/>
        </p:nvSpPr>
        <p:spPr>
          <a:xfrm>
            <a:off x="3458718" y="4357116"/>
            <a:ext cx="2516886" cy="1769364"/>
          </a:xfrm>
          <a:prstGeom prst="roundRect">
            <a:avLst>
              <a:gd name="adj" fmla="val 4651"/>
            </a:avLst>
          </a:prstGeom>
          <a:solidFill>
            <a:srgbClr val="141417"/>
          </a:solidFill>
          <a:ln w="12700">
            <a:solidFill>
              <a:srgbClr val="242528"/>
            </a:solidFill>
            <a:prstDash val="solid"/>
          </a:ln>
        </p:spPr>
      </p:sp>
      <p:sp>
        <p:nvSpPr>
          <p:cNvPr id="36" name="Shape 29"/>
          <p:cNvSpPr/>
          <p:nvPr/>
        </p:nvSpPr>
        <p:spPr>
          <a:xfrm>
            <a:off x="3678174" y="4558284"/>
            <a:ext cx="457200" cy="457200"/>
          </a:xfrm>
          <a:prstGeom prst="ellipse">
            <a:avLst/>
          </a:prstGeom>
          <a:solidFill>
            <a:srgbClr val="1B1C1F"/>
          </a:solidFill>
          <a:ln w="12700">
            <a:solidFill>
              <a:srgbClr val="2C2D30"/>
            </a:solidFill>
            <a:prstDash val="solid"/>
          </a:ln>
        </p:spPr>
      </p:sp>
      <p:pic>
        <p:nvPicPr>
          <p:cNvPr id="37" name="Image 5" descr="preencoded.png">    </p:cNvPr>
          <p:cNvPicPr>
            <a:picLocks noChangeAspect="1"/>
          </p:cNvPicPr>
          <p:nvPr/>
        </p:nvPicPr>
        <p:blipFill>
          <a:blip r:embed="rId6"/>
          <a:stretch>
            <a:fillRect/>
          </a:stretch>
        </p:blipFill>
        <p:spPr>
          <a:xfrm>
            <a:off x="3797046" y="4677156"/>
            <a:ext cx="219456" cy="219456"/>
          </a:xfrm>
          <a:prstGeom prst="rect">
            <a:avLst/>
          </a:prstGeom>
        </p:spPr>
      </p:pic>
      <p:sp>
        <p:nvSpPr>
          <p:cNvPr id="38" name="Text 30"/>
          <p:cNvSpPr/>
          <p:nvPr/>
        </p:nvSpPr>
        <p:spPr>
          <a:xfrm>
            <a:off x="3678174" y="5143500"/>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Automation</a:t>
            </a:r>
            <a:endParaRPr lang="en-US" sz="1250" dirty="0"/>
          </a:p>
        </p:txBody>
      </p:sp>
      <p:sp>
        <p:nvSpPr>
          <p:cNvPr id="39" name="Text 31"/>
          <p:cNvSpPr/>
          <p:nvPr/>
        </p:nvSpPr>
        <p:spPr>
          <a:xfrm>
            <a:off x="3678174" y="5472684"/>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Scenes and routines that run themselves.</a:t>
            </a:r>
            <a:endParaRPr lang="en-US" sz="950" dirty="0"/>
          </a:p>
        </p:txBody>
      </p:sp>
      <p:sp>
        <p:nvSpPr>
          <p:cNvPr id="40" name="Shape 32"/>
          <p:cNvSpPr/>
          <p:nvPr/>
        </p:nvSpPr>
        <p:spPr>
          <a:xfrm>
            <a:off x="6231636" y="4357116"/>
            <a:ext cx="2516886" cy="1769364"/>
          </a:xfrm>
          <a:prstGeom prst="roundRect">
            <a:avLst>
              <a:gd name="adj" fmla="val 4651"/>
            </a:avLst>
          </a:prstGeom>
          <a:solidFill>
            <a:srgbClr val="141417"/>
          </a:solidFill>
          <a:ln w="12700">
            <a:solidFill>
              <a:srgbClr val="242528"/>
            </a:solidFill>
            <a:prstDash val="solid"/>
          </a:ln>
        </p:spPr>
      </p:sp>
      <p:sp>
        <p:nvSpPr>
          <p:cNvPr id="41" name="Shape 33"/>
          <p:cNvSpPr/>
          <p:nvPr/>
        </p:nvSpPr>
        <p:spPr>
          <a:xfrm>
            <a:off x="6451092" y="4558284"/>
            <a:ext cx="457200" cy="457200"/>
          </a:xfrm>
          <a:prstGeom prst="ellipse">
            <a:avLst/>
          </a:prstGeom>
          <a:solidFill>
            <a:srgbClr val="1B1C1F"/>
          </a:solidFill>
          <a:ln w="12700">
            <a:solidFill>
              <a:srgbClr val="2C2D30"/>
            </a:solidFill>
            <a:prstDash val="solid"/>
          </a:ln>
        </p:spPr>
      </p:sp>
      <p:pic>
        <p:nvPicPr>
          <p:cNvPr id="42" name="Image 6" descr="preencoded.png">    </p:cNvPr>
          <p:cNvPicPr>
            <a:picLocks noChangeAspect="1"/>
          </p:cNvPicPr>
          <p:nvPr/>
        </p:nvPicPr>
        <p:blipFill>
          <a:blip r:embed="rId7"/>
          <a:stretch>
            <a:fillRect/>
          </a:stretch>
        </p:blipFill>
        <p:spPr>
          <a:xfrm>
            <a:off x="6569964" y="4677156"/>
            <a:ext cx="219456" cy="219456"/>
          </a:xfrm>
          <a:prstGeom prst="rect">
            <a:avLst/>
          </a:prstGeom>
        </p:spPr>
      </p:pic>
      <p:sp>
        <p:nvSpPr>
          <p:cNvPr id="43" name="Text 34"/>
          <p:cNvSpPr/>
          <p:nvPr/>
        </p:nvSpPr>
        <p:spPr>
          <a:xfrm>
            <a:off x="6451092" y="5143500"/>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Security</a:t>
            </a:r>
            <a:endParaRPr lang="en-US" sz="1250" dirty="0"/>
          </a:p>
        </p:txBody>
      </p:sp>
      <p:sp>
        <p:nvSpPr>
          <p:cNvPr id="44" name="Text 35"/>
          <p:cNvSpPr/>
          <p:nvPr/>
        </p:nvSpPr>
        <p:spPr>
          <a:xfrm>
            <a:off x="6451092" y="5472684"/>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End-to-end encryption, on-device and in the cloud.</a:t>
            </a:r>
            <a:endParaRPr lang="en-US" sz="950" dirty="0"/>
          </a:p>
        </p:txBody>
      </p:sp>
      <p:sp>
        <p:nvSpPr>
          <p:cNvPr id="45" name="Shape 36"/>
          <p:cNvSpPr/>
          <p:nvPr/>
        </p:nvSpPr>
        <p:spPr>
          <a:xfrm>
            <a:off x="9004554" y="4357116"/>
            <a:ext cx="2516886" cy="1769364"/>
          </a:xfrm>
          <a:prstGeom prst="roundRect">
            <a:avLst>
              <a:gd name="adj" fmla="val 4651"/>
            </a:avLst>
          </a:prstGeom>
          <a:solidFill>
            <a:srgbClr val="141417"/>
          </a:solidFill>
          <a:ln w="12700">
            <a:solidFill>
              <a:srgbClr val="242528"/>
            </a:solidFill>
            <a:prstDash val="solid"/>
          </a:ln>
        </p:spPr>
      </p:sp>
      <p:sp>
        <p:nvSpPr>
          <p:cNvPr id="46" name="Shape 37"/>
          <p:cNvSpPr/>
          <p:nvPr/>
        </p:nvSpPr>
        <p:spPr>
          <a:xfrm>
            <a:off x="9224010" y="4558284"/>
            <a:ext cx="457200" cy="457200"/>
          </a:xfrm>
          <a:prstGeom prst="ellipse">
            <a:avLst/>
          </a:prstGeom>
          <a:solidFill>
            <a:srgbClr val="1B1C1F"/>
          </a:solidFill>
          <a:ln w="12700">
            <a:solidFill>
              <a:srgbClr val="2C2D30"/>
            </a:solidFill>
            <a:prstDash val="solid"/>
          </a:ln>
        </p:spPr>
      </p:sp>
      <p:pic>
        <p:nvPicPr>
          <p:cNvPr id="47" name="Image 7" descr="preencoded.png">    </p:cNvPr>
          <p:cNvPicPr>
            <a:picLocks noChangeAspect="1"/>
          </p:cNvPicPr>
          <p:nvPr/>
        </p:nvPicPr>
        <p:blipFill>
          <a:blip r:embed="rId8"/>
          <a:stretch>
            <a:fillRect/>
          </a:stretch>
        </p:blipFill>
        <p:spPr>
          <a:xfrm>
            <a:off x="9342882" y="4677156"/>
            <a:ext cx="219456" cy="219456"/>
          </a:xfrm>
          <a:prstGeom prst="rect">
            <a:avLst/>
          </a:prstGeom>
        </p:spPr>
      </p:pic>
      <p:sp>
        <p:nvSpPr>
          <p:cNvPr id="48" name="Text 38"/>
          <p:cNvSpPr/>
          <p:nvPr/>
        </p:nvSpPr>
        <p:spPr>
          <a:xfrm>
            <a:off x="9224010" y="5143500"/>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Connectivity</a:t>
            </a:r>
            <a:endParaRPr lang="en-US" sz="1250" dirty="0"/>
          </a:p>
        </p:txBody>
      </p:sp>
      <p:sp>
        <p:nvSpPr>
          <p:cNvPr id="49" name="Text 39"/>
          <p:cNvSpPr/>
          <p:nvPr/>
        </p:nvSpPr>
        <p:spPr>
          <a:xfrm>
            <a:off x="9224010" y="5472684"/>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Matter, Z-Wave, Zigbee, Wi-Fi, BLE and Thread — natively.</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PRODUCT CATEGORIES</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11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10 — PRODUCT CATEGORIES</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A Complete Device Portfolio</a:t>
            </a:r>
            <a:endParaRPr lang="en-US" sz="3200" dirty="0"/>
          </a:p>
        </p:txBody>
      </p:sp>
      <p:sp>
        <p:nvSpPr>
          <p:cNvPr id="10" name="Shape 8"/>
          <p:cNvSpPr/>
          <p:nvPr/>
        </p:nvSpPr>
        <p:spPr>
          <a:xfrm>
            <a:off x="685800" y="2331720"/>
            <a:ext cx="2516886" cy="1769364"/>
          </a:xfrm>
          <a:prstGeom prst="roundRect">
            <a:avLst>
              <a:gd name="adj" fmla="val 4651"/>
            </a:avLst>
          </a:prstGeom>
          <a:solidFill>
            <a:srgbClr val="141417"/>
          </a:solidFill>
          <a:ln w="12700">
            <a:solidFill>
              <a:srgbClr val="242528"/>
            </a:solidFill>
            <a:prstDash val="solid"/>
          </a:ln>
        </p:spPr>
      </p:sp>
      <p:sp>
        <p:nvSpPr>
          <p:cNvPr id="11" name="Shape 9"/>
          <p:cNvSpPr/>
          <p:nvPr/>
        </p:nvSpPr>
        <p:spPr>
          <a:xfrm>
            <a:off x="905256" y="2532888"/>
            <a:ext cx="457200" cy="457200"/>
          </a:xfrm>
          <a:prstGeom prst="ellipse">
            <a:avLst/>
          </a:prstGeom>
          <a:solidFill>
            <a:srgbClr val="1B1C1F"/>
          </a:solidFill>
          <a:ln w="12700">
            <a:solidFill>
              <a:srgbClr val="2C2D30"/>
            </a:solidFill>
            <a:prstDash val="solid"/>
          </a:ln>
        </p:spPr>
      </p:sp>
      <p:pic>
        <p:nvPicPr>
          <p:cNvPr id="12" name="Image 0" descr="preencoded.png">    </p:cNvPr>
          <p:cNvPicPr>
            <a:picLocks noChangeAspect="1"/>
          </p:cNvPicPr>
          <p:nvPr/>
        </p:nvPicPr>
        <p:blipFill>
          <a:blip r:embed="rId1"/>
          <a:stretch>
            <a:fillRect/>
          </a:stretch>
        </p:blipFill>
        <p:spPr>
          <a:xfrm>
            <a:off x="1024128" y="2651760"/>
            <a:ext cx="219456" cy="219456"/>
          </a:xfrm>
          <a:prstGeom prst="rect">
            <a:avLst/>
          </a:prstGeom>
        </p:spPr>
      </p:pic>
      <p:sp>
        <p:nvSpPr>
          <p:cNvPr id="13" name="Text 10"/>
          <p:cNvSpPr/>
          <p:nvPr/>
        </p:nvSpPr>
        <p:spPr>
          <a:xfrm>
            <a:off x="905256" y="311810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Smart Hub</a:t>
            </a:r>
            <a:endParaRPr lang="en-US" sz="1250" dirty="0"/>
          </a:p>
        </p:txBody>
      </p:sp>
      <p:sp>
        <p:nvSpPr>
          <p:cNvPr id="14" name="Text 11"/>
          <p:cNvSpPr/>
          <p:nvPr/>
        </p:nvSpPr>
        <p:spPr>
          <a:xfrm>
            <a:off x="905256" y="3447288"/>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The central brain of every SYNTRA home.</a:t>
            </a:r>
            <a:endParaRPr lang="en-US" sz="950" dirty="0"/>
          </a:p>
        </p:txBody>
      </p:sp>
      <p:sp>
        <p:nvSpPr>
          <p:cNvPr id="15" name="Shape 12"/>
          <p:cNvSpPr/>
          <p:nvPr/>
        </p:nvSpPr>
        <p:spPr>
          <a:xfrm>
            <a:off x="3458718" y="2331720"/>
            <a:ext cx="2516886" cy="1769364"/>
          </a:xfrm>
          <a:prstGeom prst="roundRect">
            <a:avLst>
              <a:gd name="adj" fmla="val 4651"/>
            </a:avLst>
          </a:prstGeom>
          <a:solidFill>
            <a:srgbClr val="141417"/>
          </a:solidFill>
          <a:ln w="12700">
            <a:solidFill>
              <a:srgbClr val="242528"/>
            </a:solidFill>
            <a:prstDash val="solid"/>
          </a:ln>
        </p:spPr>
      </p:sp>
      <p:sp>
        <p:nvSpPr>
          <p:cNvPr id="16" name="Shape 13"/>
          <p:cNvSpPr/>
          <p:nvPr/>
        </p:nvSpPr>
        <p:spPr>
          <a:xfrm>
            <a:off x="3678174" y="2532888"/>
            <a:ext cx="457200" cy="457200"/>
          </a:xfrm>
          <a:prstGeom prst="ellipse">
            <a:avLst/>
          </a:prstGeom>
          <a:solidFill>
            <a:srgbClr val="1B1C1F"/>
          </a:solidFill>
          <a:ln w="12700">
            <a:solidFill>
              <a:srgbClr val="2C2D30"/>
            </a:solidFill>
            <a:prstDash val="solid"/>
          </a:ln>
        </p:spPr>
      </p:sp>
      <p:pic>
        <p:nvPicPr>
          <p:cNvPr id="17" name="Image 1" descr="preencoded.png">    </p:cNvPr>
          <p:cNvPicPr>
            <a:picLocks noChangeAspect="1"/>
          </p:cNvPicPr>
          <p:nvPr/>
        </p:nvPicPr>
        <p:blipFill>
          <a:blip r:embed="rId2"/>
          <a:stretch>
            <a:fillRect/>
          </a:stretch>
        </p:blipFill>
        <p:spPr>
          <a:xfrm>
            <a:off x="3797046" y="2651760"/>
            <a:ext cx="219456" cy="219456"/>
          </a:xfrm>
          <a:prstGeom prst="rect">
            <a:avLst/>
          </a:prstGeom>
        </p:spPr>
      </p:pic>
      <p:sp>
        <p:nvSpPr>
          <p:cNvPr id="18" name="Text 14"/>
          <p:cNvSpPr/>
          <p:nvPr/>
        </p:nvSpPr>
        <p:spPr>
          <a:xfrm>
            <a:off x="3678174" y="311810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Smart Displays</a:t>
            </a:r>
            <a:endParaRPr lang="en-US" sz="1250" dirty="0"/>
          </a:p>
        </p:txBody>
      </p:sp>
      <p:sp>
        <p:nvSpPr>
          <p:cNvPr id="19" name="Text 15"/>
          <p:cNvSpPr/>
          <p:nvPr/>
        </p:nvSpPr>
        <p:spPr>
          <a:xfrm>
            <a:off x="3678174" y="3447288"/>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Touch control for scenes, rooms and security.</a:t>
            </a:r>
            <a:endParaRPr lang="en-US" sz="950" dirty="0"/>
          </a:p>
        </p:txBody>
      </p:sp>
      <p:sp>
        <p:nvSpPr>
          <p:cNvPr id="20" name="Shape 16"/>
          <p:cNvSpPr/>
          <p:nvPr/>
        </p:nvSpPr>
        <p:spPr>
          <a:xfrm>
            <a:off x="6231636" y="2331720"/>
            <a:ext cx="2516886" cy="1769364"/>
          </a:xfrm>
          <a:prstGeom prst="roundRect">
            <a:avLst>
              <a:gd name="adj" fmla="val 4651"/>
            </a:avLst>
          </a:prstGeom>
          <a:solidFill>
            <a:srgbClr val="141417"/>
          </a:solidFill>
          <a:ln w="12700">
            <a:solidFill>
              <a:srgbClr val="242528"/>
            </a:solidFill>
            <a:prstDash val="solid"/>
          </a:ln>
        </p:spPr>
      </p:sp>
      <p:sp>
        <p:nvSpPr>
          <p:cNvPr id="21" name="Shape 17"/>
          <p:cNvSpPr/>
          <p:nvPr/>
        </p:nvSpPr>
        <p:spPr>
          <a:xfrm>
            <a:off x="6451092" y="2532888"/>
            <a:ext cx="457200" cy="457200"/>
          </a:xfrm>
          <a:prstGeom prst="ellipse">
            <a:avLst/>
          </a:prstGeom>
          <a:solidFill>
            <a:srgbClr val="1B1C1F"/>
          </a:solidFill>
          <a:ln w="12700">
            <a:solidFill>
              <a:srgbClr val="2C2D30"/>
            </a:solidFill>
            <a:prstDash val="solid"/>
          </a:ln>
        </p:spPr>
      </p:sp>
      <p:pic>
        <p:nvPicPr>
          <p:cNvPr id="22" name="Image 2" descr="preencoded.png">    </p:cNvPr>
          <p:cNvPicPr>
            <a:picLocks noChangeAspect="1"/>
          </p:cNvPicPr>
          <p:nvPr/>
        </p:nvPicPr>
        <p:blipFill>
          <a:blip r:embed="rId3"/>
          <a:stretch>
            <a:fillRect/>
          </a:stretch>
        </p:blipFill>
        <p:spPr>
          <a:xfrm>
            <a:off x="6569964" y="2651760"/>
            <a:ext cx="219456" cy="219456"/>
          </a:xfrm>
          <a:prstGeom prst="rect">
            <a:avLst/>
          </a:prstGeom>
        </p:spPr>
      </p:pic>
      <p:sp>
        <p:nvSpPr>
          <p:cNvPr id="23" name="Text 18"/>
          <p:cNvSpPr/>
          <p:nvPr/>
        </p:nvSpPr>
        <p:spPr>
          <a:xfrm>
            <a:off x="6451092" y="311810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Touch Switches</a:t>
            </a:r>
            <a:endParaRPr lang="en-US" sz="1250" dirty="0"/>
          </a:p>
        </p:txBody>
      </p:sp>
      <p:sp>
        <p:nvSpPr>
          <p:cNvPr id="24" name="Text 19"/>
          <p:cNvSpPr/>
          <p:nvPr/>
        </p:nvSpPr>
        <p:spPr>
          <a:xfrm>
            <a:off x="6451092" y="3447288"/>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Glass-front switches with tactile precision.</a:t>
            </a:r>
            <a:endParaRPr lang="en-US" sz="950" dirty="0"/>
          </a:p>
        </p:txBody>
      </p:sp>
      <p:sp>
        <p:nvSpPr>
          <p:cNvPr id="25" name="Shape 20"/>
          <p:cNvSpPr/>
          <p:nvPr/>
        </p:nvSpPr>
        <p:spPr>
          <a:xfrm>
            <a:off x="9004554" y="2331720"/>
            <a:ext cx="2516886" cy="1769364"/>
          </a:xfrm>
          <a:prstGeom prst="roundRect">
            <a:avLst>
              <a:gd name="adj" fmla="val 4651"/>
            </a:avLst>
          </a:prstGeom>
          <a:solidFill>
            <a:srgbClr val="141417"/>
          </a:solidFill>
          <a:ln w="12700">
            <a:solidFill>
              <a:srgbClr val="242528"/>
            </a:solidFill>
            <a:prstDash val="solid"/>
          </a:ln>
        </p:spPr>
      </p:sp>
      <p:sp>
        <p:nvSpPr>
          <p:cNvPr id="26" name="Shape 21"/>
          <p:cNvSpPr/>
          <p:nvPr/>
        </p:nvSpPr>
        <p:spPr>
          <a:xfrm>
            <a:off x="9224010" y="2532888"/>
            <a:ext cx="457200" cy="457200"/>
          </a:xfrm>
          <a:prstGeom prst="ellipse">
            <a:avLst/>
          </a:prstGeom>
          <a:solidFill>
            <a:srgbClr val="1B1C1F"/>
          </a:solidFill>
          <a:ln w="12700">
            <a:solidFill>
              <a:srgbClr val="2C2D30"/>
            </a:solidFill>
            <a:prstDash val="solid"/>
          </a:ln>
        </p:spPr>
      </p:sp>
      <p:pic>
        <p:nvPicPr>
          <p:cNvPr id="27" name="Image 3" descr="preencoded.png">    </p:cNvPr>
          <p:cNvPicPr>
            <a:picLocks noChangeAspect="1"/>
          </p:cNvPicPr>
          <p:nvPr/>
        </p:nvPicPr>
        <p:blipFill>
          <a:blip r:embed="rId4"/>
          <a:stretch>
            <a:fillRect/>
          </a:stretch>
        </p:blipFill>
        <p:spPr>
          <a:xfrm>
            <a:off x="9342882" y="2651760"/>
            <a:ext cx="219456" cy="219456"/>
          </a:xfrm>
          <a:prstGeom prst="rect">
            <a:avLst/>
          </a:prstGeom>
        </p:spPr>
      </p:pic>
      <p:sp>
        <p:nvSpPr>
          <p:cNvPr id="28" name="Text 22"/>
          <p:cNvSpPr/>
          <p:nvPr/>
        </p:nvSpPr>
        <p:spPr>
          <a:xfrm>
            <a:off x="9224010" y="311810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Smart Modules</a:t>
            </a:r>
            <a:endParaRPr lang="en-US" sz="1250" dirty="0"/>
          </a:p>
        </p:txBody>
      </p:sp>
      <p:sp>
        <p:nvSpPr>
          <p:cNvPr id="29" name="Text 23"/>
          <p:cNvSpPr/>
          <p:nvPr/>
        </p:nvSpPr>
        <p:spPr>
          <a:xfrm>
            <a:off x="9224010" y="3447288"/>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Retrofit intelligence behind any existing switch.</a:t>
            </a:r>
            <a:endParaRPr lang="en-US" sz="950" dirty="0"/>
          </a:p>
        </p:txBody>
      </p:sp>
      <p:sp>
        <p:nvSpPr>
          <p:cNvPr id="30" name="Shape 24"/>
          <p:cNvSpPr/>
          <p:nvPr/>
        </p:nvSpPr>
        <p:spPr>
          <a:xfrm>
            <a:off x="685800" y="4357116"/>
            <a:ext cx="2516886" cy="1769364"/>
          </a:xfrm>
          <a:prstGeom prst="roundRect">
            <a:avLst>
              <a:gd name="adj" fmla="val 4651"/>
            </a:avLst>
          </a:prstGeom>
          <a:solidFill>
            <a:srgbClr val="141417"/>
          </a:solidFill>
          <a:ln w="12700">
            <a:solidFill>
              <a:srgbClr val="242528"/>
            </a:solidFill>
            <a:prstDash val="solid"/>
          </a:ln>
        </p:spPr>
      </p:sp>
      <p:sp>
        <p:nvSpPr>
          <p:cNvPr id="31" name="Shape 25"/>
          <p:cNvSpPr/>
          <p:nvPr/>
        </p:nvSpPr>
        <p:spPr>
          <a:xfrm>
            <a:off x="905256" y="4558284"/>
            <a:ext cx="457200" cy="457200"/>
          </a:xfrm>
          <a:prstGeom prst="ellipse">
            <a:avLst/>
          </a:prstGeom>
          <a:solidFill>
            <a:srgbClr val="1B1C1F"/>
          </a:solidFill>
          <a:ln w="12700">
            <a:solidFill>
              <a:srgbClr val="2C2D30"/>
            </a:solidFill>
            <a:prstDash val="solid"/>
          </a:ln>
        </p:spPr>
      </p:sp>
      <p:pic>
        <p:nvPicPr>
          <p:cNvPr id="32" name="Image 4" descr="preencoded.png">    </p:cNvPr>
          <p:cNvPicPr>
            <a:picLocks noChangeAspect="1"/>
          </p:cNvPicPr>
          <p:nvPr/>
        </p:nvPicPr>
        <p:blipFill>
          <a:blip r:embed="rId5"/>
          <a:stretch>
            <a:fillRect/>
          </a:stretch>
        </p:blipFill>
        <p:spPr>
          <a:xfrm>
            <a:off x="1024128" y="4677156"/>
            <a:ext cx="219456" cy="219456"/>
          </a:xfrm>
          <a:prstGeom prst="rect">
            <a:avLst/>
          </a:prstGeom>
        </p:spPr>
      </p:pic>
      <p:sp>
        <p:nvSpPr>
          <p:cNvPr id="33" name="Text 26"/>
          <p:cNvSpPr/>
          <p:nvPr/>
        </p:nvSpPr>
        <p:spPr>
          <a:xfrm>
            <a:off x="905256" y="5143500"/>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Smart Locks</a:t>
            </a:r>
            <a:endParaRPr lang="en-US" sz="1250" dirty="0"/>
          </a:p>
        </p:txBody>
      </p:sp>
      <p:sp>
        <p:nvSpPr>
          <p:cNvPr id="34" name="Text 27"/>
          <p:cNvSpPr/>
          <p:nvPr/>
        </p:nvSpPr>
        <p:spPr>
          <a:xfrm>
            <a:off x="905256" y="5472684"/>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Biometric, PIN and app-based entry security.</a:t>
            </a:r>
            <a:endParaRPr lang="en-US" sz="950" dirty="0"/>
          </a:p>
        </p:txBody>
      </p:sp>
      <p:sp>
        <p:nvSpPr>
          <p:cNvPr id="35" name="Shape 28"/>
          <p:cNvSpPr/>
          <p:nvPr/>
        </p:nvSpPr>
        <p:spPr>
          <a:xfrm>
            <a:off x="3458718" y="4357116"/>
            <a:ext cx="2516886" cy="1769364"/>
          </a:xfrm>
          <a:prstGeom prst="roundRect">
            <a:avLst>
              <a:gd name="adj" fmla="val 4651"/>
            </a:avLst>
          </a:prstGeom>
          <a:solidFill>
            <a:srgbClr val="141417"/>
          </a:solidFill>
          <a:ln w="12700">
            <a:solidFill>
              <a:srgbClr val="242528"/>
            </a:solidFill>
            <a:prstDash val="solid"/>
          </a:ln>
        </p:spPr>
      </p:sp>
      <p:sp>
        <p:nvSpPr>
          <p:cNvPr id="36" name="Shape 29"/>
          <p:cNvSpPr/>
          <p:nvPr/>
        </p:nvSpPr>
        <p:spPr>
          <a:xfrm>
            <a:off x="3678174" y="4558284"/>
            <a:ext cx="457200" cy="457200"/>
          </a:xfrm>
          <a:prstGeom prst="ellipse">
            <a:avLst/>
          </a:prstGeom>
          <a:solidFill>
            <a:srgbClr val="1B1C1F"/>
          </a:solidFill>
          <a:ln w="12700">
            <a:solidFill>
              <a:srgbClr val="2C2D30"/>
            </a:solidFill>
            <a:prstDash val="solid"/>
          </a:ln>
        </p:spPr>
      </p:sp>
      <p:pic>
        <p:nvPicPr>
          <p:cNvPr id="37" name="Image 5" descr="preencoded.png">    </p:cNvPr>
          <p:cNvPicPr>
            <a:picLocks noChangeAspect="1"/>
          </p:cNvPicPr>
          <p:nvPr/>
        </p:nvPicPr>
        <p:blipFill>
          <a:blip r:embed="rId6"/>
          <a:stretch>
            <a:fillRect/>
          </a:stretch>
        </p:blipFill>
        <p:spPr>
          <a:xfrm>
            <a:off x="3797046" y="4677156"/>
            <a:ext cx="219456" cy="219456"/>
          </a:xfrm>
          <a:prstGeom prst="rect">
            <a:avLst/>
          </a:prstGeom>
        </p:spPr>
      </p:pic>
      <p:sp>
        <p:nvSpPr>
          <p:cNvPr id="38" name="Text 30"/>
          <p:cNvSpPr/>
          <p:nvPr/>
        </p:nvSpPr>
        <p:spPr>
          <a:xfrm>
            <a:off x="3678174" y="5143500"/>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Doorbells</a:t>
            </a:r>
            <a:endParaRPr lang="en-US" sz="1250" dirty="0"/>
          </a:p>
        </p:txBody>
      </p:sp>
      <p:sp>
        <p:nvSpPr>
          <p:cNvPr id="39" name="Text 31"/>
          <p:cNvSpPr/>
          <p:nvPr/>
        </p:nvSpPr>
        <p:spPr>
          <a:xfrm>
            <a:off x="3678174" y="5472684"/>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HD video, AI detection, instant alerts.</a:t>
            </a:r>
            <a:endParaRPr lang="en-US" sz="950" dirty="0"/>
          </a:p>
        </p:txBody>
      </p:sp>
      <p:sp>
        <p:nvSpPr>
          <p:cNvPr id="40" name="Shape 32"/>
          <p:cNvSpPr/>
          <p:nvPr/>
        </p:nvSpPr>
        <p:spPr>
          <a:xfrm>
            <a:off x="6231636" y="4357116"/>
            <a:ext cx="2516886" cy="1769364"/>
          </a:xfrm>
          <a:prstGeom prst="roundRect">
            <a:avLst>
              <a:gd name="adj" fmla="val 4651"/>
            </a:avLst>
          </a:prstGeom>
          <a:solidFill>
            <a:srgbClr val="141417"/>
          </a:solidFill>
          <a:ln w="12700">
            <a:solidFill>
              <a:srgbClr val="242528"/>
            </a:solidFill>
            <a:prstDash val="solid"/>
          </a:ln>
        </p:spPr>
      </p:sp>
      <p:sp>
        <p:nvSpPr>
          <p:cNvPr id="41" name="Shape 33"/>
          <p:cNvSpPr/>
          <p:nvPr/>
        </p:nvSpPr>
        <p:spPr>
          <a:xfrm>
            <a:off x="6451092" y="4558284"/>
            <a:ext cx="457200" cy="457200"/>
          </a:xfrm>
          <a:prstGeom prst="ellipse">
            <a:avLst/>
          </a:prstGeom>
          <a:solidFill>
            <a:srgbClr val="1B1C1F"/>
          </a:solidFill>
          <a:ln w="12700">
            <a:solidFill>
              <a:srgbClr val="2C2D30"/>
            </a:solidFill>
            <a:prstDash val="solid"/>
          </a:ln>
        </p:spPr>
      </p:sp>
      <p:pic>
        <p:nvPicPr>
          <p:cNvPr id="42" name="Image 6" descr="preencoded.png">    </p:cNvPr>
          <p:cNvPicPr>
            <a:picLocks noChangeAspect="1"/>
          </p:cNvPicPr>
          <p:nvPr/>
        </p:nvPicPr>
        <p:blipFill>
          <a:blip r:embed="rId7"/>
          <a:stretch>
            <a:fillRect/>
          </a:stretch>
        </p:blipFill>
        <p:spPr>
          <a:xfrm>
            <a:off x="6569964" y="4677156"/>
            <a:ext cx="219456" cy="219456"/>
          </a:xfrm>
          <a:prstGeom prst="rect">
            <a:avLst/>
          </a:prstGeom>
        </p:spPr>
      </p:pic>
      <p:sp>
        <p:nvSpPr>
          <p:cNvPr id="43" name="Text 34"/>
          <p:cNvSpPr/>
          <p:nvPr/>
        </p:nvSpPr>
        <p:spPr>
          <a:xfrm>
            <a:off x="6451092" y="5143500"/>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Cameras</a:t>
            </a:r>
            <a:endParaRPr lang="en-US" sz="1250" dirty="0"/>
          </a:p>
        </p:txBody>
      </p:sp>
      <p:sp>
        <p:nvSpPr>
          <p:cNvPr id="44" name="Text 35"/>
          <p:cNvSpPr/>
          <p:nvPr/>
        </p:nvSpPr>
        <p:spPr>
          <a:xfrm>
            <a:off x="6451092" y="5472684"/>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4K monitoring with on-device AI.</a:t>
            </a:r>
            <a:endParaRPr lang="en-US" sz="950" dirty="0"/>
          </a:p>
        </p:txBody>
      </p:sp>
      <p:sp>
        <p:nvSpPr>
          <p:cNvPr id="45" name="Shape 36"/>
          <p:cNvSpPr/>
          <p:nvPr/>
        </p:nvSpPr>
        <p:spPr>
          <a:xfrm>
            <a:off x="9004554" y="4357116"/>
            <a:ext cx="2516886" cy="1769364"/>
          </a:xfrm>
          <a:prstGeom prst="roundRect">
            <a:avLst>
              <a:gd name="adj" fmla="val 4651"/>
            </a:avLst>
          </a:prstGeom>
          <a:solidFill>
            <a:srgbClr val="141417"/>
          </a:solidFill>
          <a:ln w="12700">
            <a:solidFill>
              <a:srgbClr val="242528"/>
            </a:solidFill>
            <a:prstDash val="solid"/>
          </a:ln>
        </p:spPr>
      </p:sp>
      <p:sp>
        <p:nvSpPr>
          <p:cNvPr id="46" name="Shape 37"/>
          <p:cNvSpPr/>
          <p:nvPr/>
        </p:nvSpPr>
        <p:spPr>
          <a:xfrm>
            <a:off x="9224010" y="4558284"/>
            <a:ext cx="457200" cy="457200"/>
          </a:xfrm>
          <a:prstGeom prst="ellipse">
            <a:avLst/>
          </a:prstGeom>
          <a:solidFill>
            <a:srgbClr val="1B1C1F"/>
          </a:solidFill>
          <a:ln w="12700">
            <a:solidFill>
              <a:srgbClr val="2C2D30"/>
            </a:solidFill>
            <a:prstDash val="solid"/>
          </a:ln>
        </p:spPr>
      </p:sp>
      <p:pic>
        <p:nvPicPr>
          <p:cNvPr id="47" name="Image 7" descr="preencoded.png">    </p:cNvPr>
          <p:cNvPicPr>
            <a:picLocks noChangeAspect="1"/>
          </p:cNvPicPr>
          <p:nvPr/>
        </p:nvPicPr>
        <p:blipFill>
          <a:blip r:embed="rId8"/>
          <a:stretch>
            <a:fillRect/>
          </a:stretch>
        </p:blipFill>
        <p:spPr>
          <a:xfrm>
            <a:off x="9342882" y="4677156"/>
            <a:ext cx="219456" cy="219456"/>
          </a:xfrm>
          <a:prstGeom prst="rect">
            <a:avLst/>
          </a:prstGeom>
        </p:spPr>
      </p:pic>
      <p:sp>
        <p:nvSpPr>
          <p:cNvPr id="48" name="Text 38"/>
          <p:cNvSpPr/>
          <p:nvPr/>
        </p:nvSpPr>
        <p:spPr>
          <a:xfrm>
            <a:off x="9224010" y="5143500"/>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Sensors</a:t>
            </a:r>
            <a:endParaRPr lang="en-US" sz="1250" dirty="0"/>
          </a:p>
        </p:txBody>
      </p:sp>
      <p:sp>
        <p:nvSpPr>
          <p:cNvPr id="49" name="Text 39"/>
          <p:cNvSpPr/>
          <p:nvPr/>
        </p:nvSpPr>
        <p:spPr>
          <a:xfrm>
            <a:off x="9224010" y="5472684"/>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Motion, presence, door and climate awareness.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PRODUCT CATEGORIES</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12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10 — PRODUCT CATEGORIES</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Comfort, Climate &amp; Sound</a:t>
            </a:r>
            <a:endParaRPr lang="en-US" sz="3200" dirty="0"/>
          </a:p>
        </p:txBody>
      </p:sp>
      <p:sp>
        <p:nvSpPr>
          <p:cNvPr id="10" name="Shape 8"/>
          <p:cNvSpPr/>
          <p:nvPr/>
        </p:nvSpPr>
        <p:spPr>
          <a:xfrm>
            <a:off x="685800" y="2331720"/>
            <a:ext cx="3441192" cy="1769364"/>
          </a:xfrm>
          <a:prstGeom prst="roundRect">
            <a:avLst>
              <a:gd name="adj" fmla="val 4651"/>
            </a:avLst>
          </a:prstGeom>
          <a:solidFill>
            <a:srgbClr val="141417"/>
          </a:solidFill>
          <a:ln w="12700">
            <a:solidFill>
              <a:srgbClr val="242528"/>
            </a:solidFill>
            <a:prstDash val="solid"/>
          </a:ln>
        </p:spPr>
      </p:sp>
      <p:sp>
        <p:nvSpPr>
          <p:cNvPr id="11" name="Shape 9"/>
          <p:cNvSpPr/>
          <p:nvPr/>
        </p:nvSpPr>
        <p:spPr>
          <a:xfrm>
            <a:off x="905256" y="2532888"/>
            <a:ext cx="566928" cy="566928"/>
          </a:xfrm>
          <a:prstGeom prst="ellipse">
            <a:avLst/>
          </a:prstGeom>
          <a:solidFill>
            <a:srgbClr val="1B1C1F"/>
          </a:solidFill>
          <a:ln w="12700">
            <a:solidFill>
              <a:srgbClr val="2C2D30"/>
            </a:solidFill>
            <a:prstDash val="solid"/>
          </a:ln>
        </p:spPr>
      </p:sp>
      <p:pic>
        <p:nvPicPr>
          <p:cNvPr id="12" name="Image 0" descr="preencoded.png">    </p:cNvPr>
          <p:cNvPicPr>
            <a:picLocks noChangeAspect="1"/>
          </p:cNvPicPr>
          <p:nvPr/>
        </p:nvPicPr>
        <p:blipFill>
          <a:blip r:embed="rId1"/>
          <a:stretch>
            <a:fillRect/>
          </a:stretch>
        </p:blipFill>
        <p:spPr>
          <a:xfrm>
            <a:off x="1052657" y="2680289"/>
            <a:ext cx="272125" cy="272125"/>
          </a:xfrm>
          <a:prstGeom prst="rect">
            <a:avLst/>
          </a:prstGeom>
        </p:spPr>
      </p:pic>
      <p:sp>
        <p:nvSpPr>
          <p:cNvPr id="13" name="Text 10"/>
          <p:cNvSpPr/>
          <p:nvPr/>
        </p:nvSpPr>
        <p:spPr>
          <a:xfrm>
            <a:off x="905256" y="3227832"/>
            <a:ext cx="300228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Thermostats</a:t>
            </a:r>
            <a:endParaRPr lang="en-US" sz="1450" dirty="0"/>
          </a:p>
        </p:txBody>
      </p:sp>
      <p:sp>
        <p:nvSpPr>
          <p:cNvPr id="14" name="Text 11"/>
          <p:cNvSpPr/>
          <p:nvPr/>
        </p:nvSpPr>
        <p:spPr>
          <a:xfrm>
            <a:off x="905256" y="3557016"/>
            <a:ext cx="3002280" cy="37947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Adaptive climate control that learns your day.</a:t>
            </a:r>
            <a:endParaRPr lang="en-US" sz="1050" dirty="0"/>
          </a:p>
        </p:txBody>
      </p:sp>
      <p:sp>
        <p:nvSpPr>
          <p:cNvPr id="15" name="Shape 12"/>
          <p:cNvSpPr/>
          <p:nvPr/>
        </p:nvSpPr>
        <p:spPr>
          <a:xfrm>
            <a:off x="4383024" y="2331720"/>
            <a:ext cx="3441192" cy="1769364"/>
          </a:xfrm>
          <a:prstGeom prst="roundRect">
            <a:avLst>
              <a:gd name="adj" fmla="val 4651"/>
            </a:avLst>
          </a:prstGeom>
          <a:solidFill>
            <a:srgbClr val="141417"/>
          </a:solidFill>
          <a:ln w="12700">
            <a:solidFill>
              <a:srgbClr val="242528"/>
            </a:solidFill>
            <a:prstDash val="solid"/>
          </a:ln>
        </p:spPr>
      </p:sp>
      <p:sp>
        <p:nvSpPr>
          <p:cNvPr id="16" name="Shape 13"/>
          <p:cNvSpPr/>
          <p:nvPr/>
        </p:nvSpPr>
        <p:spPr>
          <a:xfrm>
            <a:off x="4602480" y="2532888"/>
            <a:ext cx="566928" cy="566928"/>
          </a:xfrm>
          <a:prstGeom prst="ellipse">
            <a:avLst/>
          </a:prstGeom>
          <a:solidFill>
            <a:srgbClr val="1B1C1F"/>
          </a:solidFill>
          <a:ln w="12700">
            <a:solidFill>
              <a:srgbClr val="2C2D30"/>
            </a:solidFill>
            <a:prstDash val="solid"/>
          </a:ln>
        </p:spPr>
      </p:sp>
      <p:pic>
        <p:nvPicPr>
          <p:cNvPr id="17" name="Image 1" descr="preencoded.png">    </p:cNvPr>
          <p:cNvPicPr>
            <a:picLocks noChangeAspect="1"/>
          </p:cNvPicPr>
          <p:nvPr/>
        </p:nvPicPr>
        <p:blipFill>
          <a:blip r:embed="rId2"/>
          <a:stretch>
            <a:fillRect/>
          </a:stretch>
        </p:blipFill>
        <p:spPr>
          <a:xfrm>
            <a:off x="4749881" y="2680289"/>
            <a:ext cx="272125" cy="272125"/>
          </a:xfrm>
          <a:prstGeom prst="rect">
            <a:avLst/>
          </a:prstGeom>
        </p:spPr>
      </p:pic>
      <p:sp>
        <p:nvSpPr>
          <p:cNvPr id="18" name="Text 14"/>
          <p:cNvSpPr/>
          <p:nvPr/>
        </p:nvSpPr>
        <p:spPr>
          <a:xfrm>
            <a:off x="4602480" y="3227832"/>
            <a:ext cx="300228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Smart Plugs</a:t>
            </a:r>
            <a:endParaRPr lang="en-US" sz="1450" dirty="0"/>
          </a:p>
        </p:txBody>
      </p:sp>
      <p:sp>
        <p:nvSpPr>
          <p:cNvPr id="19" name="Text 15"/>
          <p:cNvSpPr/>
          <p:nvPr/>
        </p:nvSpPr>
        <p:spPr>
          <a:xfrm>
            <a:off x="4602480" y="3557016"/>
            <a:ext cx="3002280" cy="37947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Turn any appliance into a connected device.</a:t>
            </a:r>
            <a:endParaRPr lang="en-US" sz="1050" dirty="0"/>
          </a:p>
        </p:txBody>
      </p:sp>
      <p:sp>
        <p:nvSpPr>
          <p:cNvPr id="20" name="Shape 16"/>
          <p:cNvSpPr/>
          <p:nvPr/>
        </p:nvSpPr>
        <p:spPr>
          <a:xfrm>
            <a:off x="8080248" y="2331720"/>
            <a:ext cx="3441192" cy="1769364"/>
          </a:xfrm>
          <a:prstGeom prst="roundRect">
            <a:avLst>
              <a:gd name="adj" fmla="val 4651"/>
            </a:avLst>
          </a:prstGeom>
          <a:solidFill>
            <a:srgbClr val="141417"/>
          </a:solidFill>
          <a:ln w="12700">
            <a:solidFill>
              <a:srgbClr val="242528"/>
            </a:solidFill>
            <a:prstDash val="solid"/>
          </a:ln>
        </p:spPr>
      </p:sp>
      <p:sp>
        <p:nvSpPr>
          <p:cNvPr id="21" name="Shape 17"/>
          <p:cNvSpPr/>
          <p:nvPr/>
        </p:nvSpPr>
        <p:spPr>
          <a:xfrm>
            <a:off x="8299704" y="2532888"/>
            <a:ext cx="566928" cy="566928"/>
          </a:xfrm>
          <a:prstGeom prst="ellipse">
            <a:avLst/>
          </a:prstGeom>
          <a:solidFill>
            <a:srgbClr val="1B1C1F"/>
          </a:solidFill>
          <a:ln w="12700">
            <a:solidFill>
              <a:srgbClr val="2C2D30"/>
            </a:solidFill>
            <a:prstDash val="solid"/>
          </a:ln>
        </p:spPr>
      </p:sp>
      <p:pic>
        <p:nvPicPr>
          <p:cNvPr id="22" name="Image 2" descr="preencoded.png">    </p:cNvPr>
          <p:cNvPicPr>
            <a:picLocks noChangeAspect="1"/>
          </p:cNvPicPr>
          <p:nvPr/>
        </p:nvPicPr>
        <p:blipFill>
          <a:blip r:embed="rId3"/>
          <a:stretch>
            <a:fillRect/>
          </a:stretch>
        </p:blipFill>
        <p:spPr>
          <a:xfrm>
            <a:off x="8447105" y="2680289"/>
            <a:ext cx="272125" cy="272125"/>
          </a:xfrm>
          <a:prstGeom prst="rect">
            <a:avLst/>
          </a:prstGeom>
        </p:spPr>
      </p:pic>
      <p:sp>
        <p:nvSpPr>
          <p:cNvPr id="23" name="Text 18"/>
          <p:cNvSpPr/>
          <p:nvPr/>
        </p:nvSpPr>
        <p:spPr>
          <a:xfrm>
            <a:off x="8299704" y="3227832"/>
            <a:ext cx="300228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Curtains</a:t>
            </a:r>
            <a:endParaRPr lang="en-US" sz="1450" dirty="0"/>
          </a:p>
        </p:txBody>
      </p:sp>
      <p:sp>
        <p:nvSpPr>
          <p:cNvPr id="24" name="Text 19"/>
          <p:cNvSpPr/>
          <p:nvPr/>
        </p:nvSpPr>
        <p:spPr>
          <a:xfrm>
            <a:off x="8299704" y="3557016"/>
            <a:ext cx="3002280" cy="37947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Silent motorized control of light and privacy.</a:t>
            </a:r>
            <a:endParaRPr lang="en-US" sz="1050" dirty="0"/>
          </a:p>
        </p:txBody>
      </p:sp>
      <p:sp>
        <p:nvSpPr>
          <p:cNvPr id="25" name="Shape 20"/>
          <p:cNvSpPr/>
          <p:nvPr/>
        </p:nvSpPr>
        <p:spPr>
          <a:xfrm>
            <a:off x="685800" y="4357116"/>
            <a:ext cx="3441192" cy="1769364"/>
          </a:xfrm>
          <a:prstGeom prst="roundRect">
            <a:avLst>
              <a:gd name="adj" fmla="val 4651"/>
            </a:avLst>
          </a:prstGeom>
          <a:solidFill>
            <a:srgbClr val="141417"/>
          </a:solidFill>
          <a:ln w="12700">
            <a:solidFill>
              <a:srgbClr val="242528"/>
            </a:solidFill>
            <a:prstDash val="solid"/>
          </a:ln>
        </p:spPr>
      </p:sp>
      <p:sp>
        <p:nvSpPr>
          <p:cNvPr id="26" name="Shape 21"/>
          <p:cNvSpPr/>
          <p:nvPr/>
        </p:nvSpPr>
        <p:spPr>
          <a:xfrm>
            <a:off x="905256" y="4558284"/>
            <a:ext cx="566928" cy="566928"/>
          </a:xfrm>
          <a:prstGeom prst="ellipse">
            <a:avLst/>
          </a:prstGeom>
          <a:solidFill>
            <a:srgbClr val="1B1C1F"/>
          </a:solidFill>
          <a:ln w="12700">
            <a:solidFill>
              <a:srgbClr val="2C2D30"/>
            </a:solidFill>
            <a:prstDash val="solid"/>
          </a:ln>
        </p:spPr>
      </p:sp>
      <p:pic>
        <p:nvPicPr>
          <p:cNvPr id="27" name="Image 3" descr="preencoded.png">    </p:cNvPr>
          <p:cNvPicPr>
            <a:picLocks noChangeAspect="1"/>
          </p:cNvPicPr>
          <p:nvPr/>
        </p:nvPicPr>
        <p:blipFill>
          <a:blip r:embed="rId4"/>
          <a:stretch>
            <a:fillRect/>
          </a:stretch>
        </p:blipFill>
        <p:spPr>
          <a:xfrm>
            <a:off x="1052657" y="4705685"/>
            <a:ext cx="272125" cy="272125"/>
          </a:xfrm>
          <a:prstGeom prst="rect">
            <a:avLst/>
          </a:prstGeom>
        </p:spPr>
      </p:pic>
      <p:sp>
        <p:nvSpPr>
          <p:cNvPr id="28" name="Text 22"/>
          <p:cNvSpPr/>
          <p:nvPr/>
        </p:nvSpPr>
        <p:spPr>
          <a:xfrm>
            <a:off x="905256" y="5253228"/>
            <a:ext cx="300228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Lighting</a:t>
            </a:r>
            <a:endParaRPr lang="en-US" sz="1450" dirty="0"/>
          </a:p>
        </p:txBody>
      </p:sp>
      <p:sp>
        <p:nvSpPr>
          <p:cNvPr id="29" name="Text 23"/>
          <p:cNvSpPr/>
          <p:nvPr/>
        </p:nvSpPr>
        <p:spPr>
          <a:xfrm>
            <a:off x="905256" y="5582412"/>
            <a:ext cx="3002280" cy="37947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Tunable, scene-based illumination for every room.</a:t>
            </a:r>
            <a:endParaRPr lang="en-US" sz="1050" dirty="0"/>
          </a:p>
        </p:txBody>
      </p:sp>
      <p:sp>
        <p:nvSpPr>
          <p:cNvPr id="30" name="Shape 24"/>
          <p:cNvSpPr/>
          <p:nvPr/>
        </p:nvSpPr>
        <p:spPr>
          <a:xfrm>
            <a:off x="4383024" y="4357116"/>
            <a:ext cx="3441192" cy="1769364"/>
          </a:xfrm>
          <a:prstGeom prst="roundRect">
            <a:avLst>
              <a:gd name="adj" fmla="val 4651"/>
            </a:avLst>
          </a:prstGeom>
          <a:solidFill>
            <a:srgbClr val="141417"/>
          </a:solidFill>
          <a:ln w="12700">
            <a:solidFill>
              <a:srgbClr val="242528"/>
            </a:solidFill>
            <a:prstDash val="solid"/>
          </a:ln>
        </p:spPr>
      </p:sp>
      <p:sp>
        <p:nvSpPr>
          <p:cNvPr id="31" name="Shape 25"/>
          <p:cNvSpPr/>
          <p:nvPr/>
        </p:nvSpPr>
        <p:spPr>
          <a:xfrm>
            <a:off x="4602480" y="4558284"/>
            <a:ext cx="566928" cy="566928"/>
          </a:xfrm>
          <a:prstGeom prst="ellipse">
            <a:avLst/>
          </a:prstGeom>
          <a:solidFill>
            <a:srgbClr val="1B1C1F"/>
          </a:solidFill>
          <a:ln w="12700">
            <a:solidFill>
              <a:srgbClr val="2C2D30"/>
            </a:solidFill>
            <a:prstDash val="solid"/>
          </a:ln>
        </p:spPr>
      </p:sp>
      <p:pic>
        <p:nvPicPr>
          <p:cNvPr id="32" name="Image 4" descr="preencoded.png">    </p:cNvPr>
          <p:cNvPicPr>
            <a:picLocks noChangeAspect="1"/>
          </p:cNvPicPr>
          <p:nvPr/>
        </p:nvPicPr>
        <p:blipFill>
          <a:blip r:embed="rId5"/>
          <a:stretch>
            <a:fillRect/>
          </a:stretch>
        </p:blipFill>
        <p:spPr>
          <a:xfrm>
            <a:off x="4749881" y="4705685"/>
            <a:ext cx="272125" cy="272125"/>
          </a:xfrm>
          <a:prstGeom prst="rect">
            <a:avLst/>
          </a:prstGeom>
        </p:spPr>
      </p:pic>
      <p:sp>
        <p:nvSpPr>
          <p:cNvPr id="33" name="Text 26"/>
          <p:cNvSpPr/>
          <p:nvPr/>
        </p:nvSpPr>
        <p:spPr>
          <a:xfrm>
            <a:off x="4602480" y="5253228"/>
            <a:ext cx="300228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AC Controller</a:t>
            </a:r>
            <a:endParaRPr lang="en-US" sz="1450" dirty="0"/>
          </a:p>
        </p:txBody>
      </p:sp>
      <p:sp>
        <p:nvSpPr>
          <p:cNvPr id="34" name="Text 27"/>
          <p:cNvSpPr/>
          <p:nvPr/>
        </p:nvSpPr>
        <p:spPr>
          <a:xfrm>
            <a:off x="4602480" y="5582412"/>
            <a:ext cx="3002280" cy="37947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Universal AI control for any air conditioner.</a:t>
            </a:r>
            <a:endParaRPr lang="en-US" sz="1050" dirty="0"/>
          </a:p>
        </p:txBody>
      </p:sp>
      <p:sp>
        <p:nvSpPr>
          <p:cNvPr id="35" name="Shape 28"/>
          <p:cNvSpPr/>
          <p:nvPr/>
        </p:nvSpPr>
        <p:spPr>
          <a:xfrm>
            <a:off x="8080248" y="4357116"/>
            <a:ext cx="3441192" cy="1769364"/>
          </a:xfrm>
          <a:prstGeom prst="roundRect">
            <a:avLst>
              <a:gd name="adj" fmla="val 4651"/>
            </a:avLst>
          </a:prstGeom>
          <a:solidFill>
            <a:srgbClr val="141417"/>
          </a:solidFill>
          <a:ln w="12700">
            <a:solidFill>
              <a:srgbClr val="242528"/>
            </a:solidFill>
            <a:prstDash val="solid"/>
          </a:ln>
        </p:spPr>
      </p:sp>
      <p:sp>
        <p:nvSpPr>
          <p:cNvPr id="36" name="Shape 29"/>
          <p:cNvSpPr/>
          <p:nvPr/>
        </p:nvSpPr>
        <p:spPr>
          <a:xfrm>
            <a:off x="8299704" y="4558284"/>
            <a:ext cx="566928" cy="566928"/>
          </a:xfrm>
          <a:prstGeom prst="ellipse">
            <a:avLst/>
          </a:prstGeom>
          <a:solidFill>
            <a:srgbClr val="1B1C1F"/>
          </a:solidFill>
          <a:ln w="12700">
            <a:solidFill>
              <a:srgbClr val="2C2D30"/>
            </a:solidFill>
            <a:prstDash val="solid"/>
          </a:ln>
        </p:spPr>
      </p:sp>
      <p:pic>
        <p:nvPicPr>
          <p:cNvPr id="37" name="Image 5" descr="preencoded.png">    </p:cNvPr>
          <p:cNvPicPr>
            <a:picLocks noChangeAspect="1"/>
          </p:cNvPicPr>
          <p:nvPr/>
        </p:nvPicPr>
        <p:blipFill>
          <a:blip r:embed="rId6"/>
          <a:stretch>
            <a:fillRect/>
          </a:stretch>
        </p:blipFill>
        <p:spPr>
          <a:xfrm>
            <a:off x="8447105" y="4705685"/>
            <a:ext cx="272125" cy="272125"/>
          </a:xfrm>
          <a:prstGeom prst="rect">
            <a:avLst/>
          </a:prstGeom>
        </p:spPr>
      </p:pic>
      <p:sp>
        <p:nvSpPr>
          <p:cNvPr id="38" name="Text 30"/>
          <p:cNvSpPr/>
          <p:nvPr/>
        </p:nvSpPr>
        <p:spPr>
          <a:xfrm>
            <a:off x="8299704" y="5253228"/>
            <a:ext cx="300228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Smart Speakers</a:t>
            </a:r>
            <a:endParaRPr lang="en-US" sz="1450" dirty="0"/>
          </a:p>
        </p:txBody>
      </p:sp>
      <p:sp>
        <p:nvSpPr>
          <p:cNvPr id="39" name="Text 31"/>
          <p:cNvSpPr/>
          <p:nvPr/>
        </p:nvSpPr>
        <p:spPr>
          <a:xfrm>
            <a:off x="8299704" y="5582412"/>
            <a:ext cx="3002280" cy="37947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Voice, sound and SYNTRA AI in one device.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SYNTRA OS</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13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11 — SYNTRA OS</a:t>
            </a:r>
            <a:endParaRPr lang="en-US" sz="1300" dirty="0"/>
          </a:p>
        </p:txBody>
      </p:sp>
      <p:sp>
        <p:nvSpPr>
          <p:cNvPr id="9" name="Text 7"/>
          <p:cNvSpPr/>
          <p:nvPr/>
        </p:nvSpPr>
        <p:spPr>
          <a:xfrm>
            <a:off x="640080" y="1344168"/>
            <a:ext cx="10881360" cy="1463040"/>
          </a:xfrm>
          <a:prstGeom prst="rect">
            <a:avLst/>
          </a:prstGeom>
          <a:noFill/>
          <a:ln/>
        </p:spPr>
        <p:txBody>
          <a:bodyPr wrap="square" lIns="0" tIns="0" rIns="0" bIns="0" rtlCol="0" anchor="ctr"/>
          <a:lstStyle/>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The Intelligence Layer</a:t>
            </a:r>
            <a:endParaRPr lang="en-US" sz="3200" dirty="0"/>
          </a:p>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Beneath Every Device</a:t>
            </a:r>
            <a:endParaRPr lang="en-US" sz="3200" dirty="0"/>
          </a:p>
        </p:txBody>
      </p:sp>
      <p:sp>
        <p:nvSpPr>
          <p:cNvPr id="10" name="Shape 8"/>
          <p:cNvSpPr/>
          <p:nvPr/>
        </p:nvSpPr>
        <p:spPr>
          <a:xfrm>
            <a:off x="8595360" y="2377440"/>
            <a:ext cx="2194560" cy="2194560"/>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9165946" y="2948026"/>
            <a:ext cx="1053389" cy="1053389"/>
          </a:xfrm>
          <a:prstGeom prst="rect">
            <a:avLst/>
          </a:prstGeom>
        </p:spPr>
      </p:pic>
      <p:sp>
        <p:nvSpPr>
          <p:cNvPr id="12" name="Text 9"/>
          <p:cNvSpPr/>
          <p:nvPr/>
        </p:nvSpPr>
        <p:spPr>
          <a:xfrm>
            <a:off x="685800" y="2880360"/>
            <a:ext cx="7223760" cy="2011680"/>
          </a:xfrm>
          <a:prstGeom prst="rect">
            <a:avLst/>
          </a:prstGeom>
          <a:noFill/>
          <a:ln/>
        </p:spPr>
        <p:txBody>
          <a:bodyPr wrap="square" lIns="0" tIns="0" rIns="0" bIns="0" rtlCol="0" anchor="ctr"/>
          <a:lstStyle/>
          <a:p>
            <a:pPr indent="0" marL="0">
              <a:lnSpc>
                <a:spcPct val="135000"/>
              </a:lnSpc>
              <a:buNone/>
            </a:pPr>
            <a:r>
              <a:rPr lang="en-US" sz="1350" dirty="0">
                <a:solidFill>
                  <a:srgbClr val="C9CCCF"/>
                </a:solidFill>
                <a:latin typeface="Calibri" pitchFamily="34" charset="0"/>
                <a:ea typeface="Calibri" pitchFamily="34" charset="-122"/>
                <a:cs typeface="Calibri" pitchFamily="34" charset="-120"/>
              </a:rPr>
              <a:t>SYNTRA OS is the unified, real-time operating system running every SYNTRA device — from a single touch switch to a thousand-device commercial property. It synchronizes state, security and automation across the entire ecosystem with zero perceptible lag.</a:t>
            </a:r>
            <a:endParaRPr lang="en-US" sz="1350" dirty="0"/>
          </a:p>
        </p:txBody>
      </p:sp>
      <p:sp>
        <p:nvSpPr>
          <p:cNvPr id="13" name="Shape 10"/>
          <p:cNvSpPr/>
          <p:nvPr/>
        </p:nvSpPr>
        <p:spPr>
          <a:xfrm>
            <a:off x="685800" y="4946904"/>
            <a:ext cx="82296" cy="82296"/>
          </a:xfrm>
          <a:prstGeom prst="ellipse">
            <a:avLst/>
          </a:prstGeom>
          <a:solidFill>
            <a:srgbClr val="0A84FF"/>
          </a:solidFill>
          <a:ln/>
        </p:spPr>
      </p:sp>
      <p:sp>
        <p:nvSpPr>
          <p:cNvPr id="14" name="Text 11"/>
          <p:cNvSpPr/>
          <p:nvPr/>
        </p:nvSpPr>
        <p:spPr>
          <a:xfrm>
            <a:off x="914400" y="4818888"/>
            <a:ext cx="6949440" cy="320040"/>
          </a:xfrm>
          <a:prstGeom prst="rect">
            <a:avLst/>
          </a:prstGeom>
          <a:noFill/>
          <a:ln/>
        </p:spPr>
        <p:txBody>
          <a:bodyPr wrap="square" lIns="0" tIns="0" rIns="0" bIns="0" rtlCol="0" anchor="ctr"/>
          <a:lstStyle/>
          <a:p>
            <a:pPr indent="0" marL="0">
              <a:buNone/>
            </a:pPr>
            <a:r>
              <a:rPr lang="en-US" sz="1150" dirty="0">
                <a:solidFill>
                  <a:srgbClr val="B9BDC1"/>
                </a:solidFill>
                <a:latin typeface="Calibri" pitchFamily="34" charset="0"/>
                <a:ea typeface="Calibri" pitchFamily="34" charset="-122"/>
                <a:cs typeface="Calibri" pitchFamily="34" charset="-120"/>
              </a:rPr>
              <a:t>Local-first processing for instant response</a:t>
            </a:r>
            <a:endParaRPr lang="en-US" sz="1150" dirty="0"/>
          </a:p>
        </p:txBody>
      </p:sp>
      <p:sp>
        <p:nvSpPr>
          <p:cNvPr id="15" name="Shape 12"/>
          <p:cNvSpPr/>
          <p:nvPr/>
        </p:nvSpPr>
        <p:spPr>
          <a:xfrm>
            <a:off x="685800" y="5276088"/>
            <a:ext cx="82296" cy="82296"/>
          </a:xfrm>
          <a:prstGeom prst="ellipse">
            <a:avLst/>
          </a:prstGeom>
          <a:solidFill>
            <a:srgbClr val="0A84FF"/>
          </a:solidFill>
          <a:ln/>
        </p:spPr>
      </p:sp>
      <p:sp>
        <p:nvSpPr>
          <p:cNvPr id="16" name="Text 13"/>
          <p:cNvSpPr/>
          <p:nvPr/>
        </p:nvSpPr>
        <p:spPr>
          <a:xfrm>
            <a:off x="914400" y="5148072"/>
            <a:ext cx="6949440" cy="320040"/>
          </a:xfrm>
          <a:prstGeom prst="rect">
            <a:avLst/>
          </a:prstGeom>
          <a:noFill/>
          <a:ln/>
        </p:spPr>
        <p:txBody>
          <a:bodyPr wrap="square" lIns="0" tIns="0" rIns="0" bIns="0" rtlCol="0" anchor="ctr"/>
          <a:lstStyle/>
          <a:p>
            <a:pPr indent="0" marL="0">
              <a:buNone/>
            </a:pPr>
            <a:r>
              <a:rPr lang="en-US" sz="1150" dirty="0">
                <a:solidFill>
                  <a:srgbClr val="B9BDC1"/>
                </a:solidFill>
                <a:latin typeface="Calibri" pitchFamily="34" charset="0"/>
                <a:ea typeface="Calibri" pitchFamily="34" charset="-122"/>
                <a:cs typeface="Calibri" pitchFamily="34" charset="-120"/>
              </a:rPr>
              <a:t>Encrypted mesh across every connected device</a:t>
            </a:r>
            <a:endParaRPr lang="en-US" sz="1150" dirty="0"/>
          </a:p>
        </p:txBody>
      </p:sp>
      <p:sp>
        <p:nvSpPr>
          <p:cNvPr id="17" name="Shape 14"/>
          <p:cNvSpPr/>
          <p:nvPr/>
        </p:nvSpPr>
        <p:spPr>
          <a:xfrm>
            <a:off x="685800" y="5605272"/>
            <a:ext cx="82296" cy="82296"/>
          </a:xfrm>
          <a:prstGeom prst="ellipse">
            <a:avLst/>
          </a:prstGeom>
          <a:solidFill>
            <a:srgbClr val="0A84FF"/>
          </a:solidFill>
          <a:ln/>
        </p:spPr>
      </p:sp>
      <p:sp>
        <p:nvSpPr>
          <p:cNvPr id="18" name="Text 15"/>
          <p:cNvSpPr/>
          <p:nvPr/>
        </p:nvSpPr>
        <p:spPr>
          <a:xfrm>
            <a:off x="914400" y="5477256"/>
            <a:ext cx="6949440" cy="320040"/>
          </a:xfrm>
          <a:prstGeom prst="rect">
            <a:avLst/>
          </a:prstGeom>
          <a:noFill/>
          <a:ln/>
        </p:spPr>
        <p:txBody>
          <a:bodyPr wrap="square" lIns="0" tIns="0" rIns="0" bIns="0" rtlCol="0" anchor="ctr"/>
          <a:lstStyle/>
          <a:p>
            <a:pPr indent="0" marL="0">
              <a:buNone/>
            </a:pPr>
            <a:r>
              <a:rPr lang="en-US" sz="1150" dirty="0">
                <a:solidFill>
                  <a:srgbClr val="B9BDC1"/>
                </a:solidFill>
                <a:latin typeface="Calibri" pitchFamily="34" charset="0"/>
                <a:ea typeface="Calibri" pitchFamily="34" charset="-122"/>
                <a:cs typeface="Calibri" pitchFamily="34" charset="-120"/>
              </a:rPr>
              <a:t>Automatic firmware updates, zero downtime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SYNTRA AI</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14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12 — SYNTRA AI</a:t>
            </a:r>
            <a:endParaRPr lang="en-US" sz="1300" dirty="0"/>
          </a:p>
        </p:txBody>
      </p:sp>
      <p:sp>
        <p:nvSpPr>
          <p:cNvPr id="9" name="Text 7"/>
          <p:cNvSpPr/>
          <p:nvPr/>
        </p:nvSpPr>
        <p:spPr>
          <a:xfrm>
            <a:off x="640080" y="1344168"/>
            <a:ext cx="10881360" cy="1463040"/>
          </a:xfrm>
          <a:prstGeom prst="rect">
            <a:avLst/>
          </a:prstGeom>
          <a:noFill/>
          <a:ln/>
        </p:spPr>
        <p:txBody>
          <a:bodyPr wrap="square" lIns="0" tIns="0" rIns="0" bIns="0" rtlCol="0" anchor="ctr"/>
          <a:lstStyle/>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Intelligence That Learns</a:t>
            </a:r>
            <a:endParaRPr lang="en-US" sz="3200" dirty="0"/>
          </a:p>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How You Actually Live</a:t>
            </a:r>
            <a:endParaRPr lang="en-US" sz="3200" dirty="0"/>
          </a:p>
        </p:txBody>
      </p:sp>
      <p:sp>
        <p:nvSpPr>
          <p:cNvPr id="10" name="Shape 8"/>
          <p:cNvSpPr/>
          <p:nvPr/>
        </p:nvSpPr>
        <p:spPr>
          <a:xfrm>
            <a:off x="8595360" y="2377440"/>
            <a:ext cx="2194560" cy="2194560"/>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9165946" y="2948026"/>
            <a:ext cx="1053389" cy="1053389"/>
          </a:xfrm>
          <a:prstGeom prst="rect">
            <a:avLst/>
          </a:prstGeom>
        </p:spPr>
      </p:pic>
      <p:sp>
        <p:nvSpPr>
          <p:cNvPr id="12" name="Text 9"/>
          <p:cNvSpPr/>
          <p:nvPr/>
        </p:nvSpPr>
        <p:spPr>
          <a:xfrm>
            <a:off x="685800" y="2880360"/>
            <a:ext cx="7223760" cy="2011680"/>
          </a:xfrm>
          <a:prstGeom prst="rect">
            <a:avLst/>
          </a:prstGeom>
          <a:noFill/>
          <a:ln/>
        </p:spPr>
        <p:txBody>
          <a:bodyPr wrap="square" lIns="0" tIns="0" rIns="0" bIns="0" rtlCol="0" anchor="ctr"/>
          <a:lstStyle/>
          <a:p>
            <a:pPr indent="0" marL="0">
              <a:lnSpc>
                <a:spcPct val="135000"/>
              </a:lnSpc>
              <a:buNone/>
            </a:pPr>
            <a:r>
              <a:rPr lang="en-US" sz="1350" dirty="0">
                <a:solidFill>
                  <a:srgbClr val="C9CCCF"/>
                </a:solidFill>
                <a:latin typeface="Calibri" pitchFamily="34" charset="0"/>
                <a:ea typeface="Calibri" pitchFamily="34" charset="-122"/>
                <a:cs typeface="Calibri" pitchFamily="34" charset="-120"/>
              </a:rPr>
              <a:t>SYNTRA AI is a predictive intelligence engine built into every hub. It studies patterns of presence, light, temperature and routine — then adjusts comfort, energy and security before you have to ask.</a:t>
            </a:r>
            <a:endParaRPr lang="en-US" sz="1350" dirty="0"/>
          </a:p>
        </p:txBody>
      </p:sp>
      <p:sp>
        <p:nvSpPr>
          <p:cNvPr id="13" name="Shape 10"/>
          <p:cNvSpPr/>
          <p:nvPr/>
        </p:nvSpPr>
        <p:spPr>
          <a:xfrm>
            <a:off x="685800" y="4946904"/>
            <a:ext cx="82296" cy="82296"/>
          </a:xfrm>
          <a:prstGeom prst="ellipse">
            <a:avLst/>
          </a:prstGeom>
          <a:solidFill>
            <a:srgbClr val="0A84FF"/>
          </a:solidFill>
          <a:ln/>
        </p:spPr>
      </p:sp>
      <p:sp>
        <p:nvSpPr>
          <p:cNvPr id="14" name="Text 11"/>
          <p:cNvSpPr/>
          <p:nvPr/>
        </p:nvSpPr>
        <p:spPr>
          <a:xfrm>
            <a:off x="914400" y="4818888"/>
            <a:ext cx="6949440" cy="320040"/>
          </a:xfrm>
          <a:prstGeom prst="rect">
            <a:avLst/>
          </a:prstGeom>
          <a:noFill/>
          <a:ln/>
        </p:spPr>
        <p:txBody>
          <a:bodyPr wrap="square" lIns="0" tIns="0" rIns="0" bIns="0" rtlCol="0" anchor="ctr"/>
          <a:lstStyle/>
          <a:p>
            <a:pPr indent="0" marL="0">
              <a:buNone/>
            </a:pPr>
            <a:r>
              <a:rPr lang="en-US" sz="1150" dirty="0">
                <a:solidFill>
                  <a:srgbClr val="B9BDC1"/>
                </a:solidFill>
                <a:latin typeface="Calibri" pitchFamily="34" charset="0"/>
                <a:ea typeface="Calibri" pitchFamily="34" charset="-122"/>
                <a:cs typeface="Calibri" pitchFamily="34" charset="-120"/>
              </a:rPr>
              <a:t>Predictive scenes based on real behavior</a:t>
            </a:r>
            <a:endParaRPr lang="en-US" sz="1150" dirty="0"/>
          </a:p>
        </p:txBody>
      </p:sp>
      <p:sp>
        <p:nvSpPr>
          <p:cNvPr id="15" name="Shape 12"/>
          <p:cNvSpPr/>
          <p:nvPr/>
        </p:nvSpPr>
        <p:spPr>
          <a:xfrm>
            <a:off x="685800" y="5276088"/>
            <a:ext cx="82296" cy="82296"/>
          </a:xfrm>
          <a:prstGeom prst="ellipse">
            <a:avLst/>
          </a:prstGeom>
          <a:solidFill>
            <a:srgbClr val="0A84FF"/>
          </a:solidFill>
          <a:ln/>
        </p:spPr>
      </p:sp>
      <p:sp>
        <p:nvSpPr>
          <p:cNvPr id="16" name="Text 13"/>
          <p:cNvSpPr/>
          <p:nvPr/>
        </p:nvSpPr>
        <p:spPr>
          <a:xfrm>
            <a:off x="914400" y="5148072"/>
            <a:ext cx="6949440" cy="320040"/>
          </a:xfrm>
          <a:prstGeom prst="rect">
            <a:avLst/>
          </a:prstGeom>
          <a:noFill/>
          <a:ln/>
        </p:spPr>
        <p:txBody>
          <a:bodyPr wrap="square" lIns="0" tIns="0" rIns="0" bIns="0" rtlCol="0" anchor="ctr"/>
          <a:lstStyle/>
          <a:p>
            <a:pPr indent="0" marL="0">
              <a:buNone/>
            </a:pPr>
            <a:r>
              <a:rPr lang="en-US" sz="1150" dirty="0">
                <a:solidFill>
                  <a:srgbClr val="B9BDC1"/>
                </a:solidFill>
                <a:latin typeface="Calibri" pitchFamily="34" charset="0"/>
                <a:ea typeface="Calibri" pitchFamily="34" charset="-122"/>
                <a:cs typeface="Calibri" pitchFamily="34" charset="-120"/>
              </a:rPr>
              <a:t>Anomaly detection for security and energy</a:t>
            </a:r>
            <a:endParaRPr lang="en-US" sz="1150" dirty="0"/>
          </a:p>
        </p:txBody>
      </p:sp>
      <p:sp>
        <p:nvSpPr>
          <p:cNvPr id="17" name="Shape 14"/>
          <p:cNvSpPr/>
          <p:nvPr/>
        </p:nvSpPr>
        <p:spPr>
          <a:xfrm>
            <a:off x="685800" y="5605272"/>
            <a:ext cx="82296" cy="82296"/>
          </a:xfrm>
          <a:prstGeom prst="ellipse">
            <a:avLst/>
          </a:prstGeom>
          <a:solidFill>
            <a:srgbClr val="0A84FF"/>
          </a:solidFill>
          <a:ln/>
        </p:spPr>
      </p:sp>
      <p:sp>
        <p:nvSpPr>
          <p:cNvPr id="18" name="Text 15"/>
          <p:cNvSpPr/>
          <p:nvPr/>
        </p:nvSpPr>
        <p:spPr>
          <a:xfrm>
            <a:off x="914400" y="5477256"/>
            <a:ext cx="6949440" cy="320040"/>
          </a:xfrm>
          <a:prstGeom prst="rect">
            <a:avLst/>
          </a:prstGeom>
          <a:noFill/>
          <a:ln/>
        </p:spPr>
        <p:txBody>
          <a:bodyPr wrap="square" lIns="0" tIns="0" rIns="0" bIns="0" rtlCol="0" anchor="ctr"/>
          <a:lstStyle/>
          <a:p>
            <a:pPr indent="0" marL="0">
              <a:buNone/>
            </a:pPr>
            <a:r>
              <a:rPr lang="en-US" sz="1150" dirty="0">
                <a:solidFill>
                  <a:srgbClr val="B9BDC1"/>
                </a:solidFill>
                <a:latin typeface="Calibri" pitchFamily="34" charset="0"/>
                <a:ea typeface="Calibri" pitchFamily="34" charset="-122"/>
                <a:cs typeface="Calibri" pitchFamily="34" charset="-120"/>
              </a:rPr>
              <a:t>Natural-language voice and chat control</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HOME ASSISTANT</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15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13 — OPEN ECOSYSTEM</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120"/>
              </a:lnSpc>
              <a:buNone/>
            </a:pPr>
            <a:r>
              <a:rPr lang="en-US" sz="3000" b="1" dirty="0">
                <a:solidFill>
                  <a:srgbClr val="FFFFFF"/>
                </a:solidFill>
                <a:latin typeface="Arial" pitchFamily="34" charset="0"/>
                <a:ea typeface="Arial" pitchFamily="34" charset="-122"/>
                <a:cs typeface="Arial" pitchFamily="34" charset="-120"/>
              </a:rPr>
              <a:t>Native Home Assistant Integration</a:t>
            </a:r>
            <a:endParaRPr lang="en-US" sz="3000" dirty="0"/>
          </a:p>
        </p:txBody>
      </p:sp>
      <p:sp>
        <p:nvSpPr>
          <p:cNvPr id="10" name="Shape 8"/>
          <p:cNvSpPr/>
          <p:nvPr/>
        </p:nvSpPr>
        <p:spPr>
          <a:xfrm>
            <a:off x="8778240" y="2468880"/>
            <a:ext cx="2011680" cy="2011680"/>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9301277" y="2991917"/>
            <a:ext cx="965606" cy="965606"/>
          </a:xfrm>
          <a:prstGeom prst="rect">
            <a:avLst/>
          </a:prstGeom>
        </p:spPr>
      </p:pic>
      <p:sp>
        <p:nvSpPr>
          <p:cNvPr id="12" name="Text 9"/>
          <p:cNvSpPr/>
          <p:nvPr/>
        </p:nvSpPr>
        <p:spPr>
          <a:xfrm>
            <a:off x="685800" y="2834640"/>
            <a:ext cx="7315200" cy="2377440"/>
          </a:xfrm>
          <a:prstGeom prst="rect">
            <a:avLst/>
          </a:prstGeom>
          <a:noFill/>
          <a:ln/>
        </p:spPr>
        <p:txBody>
          <a:bodyPr wrap="square" lIns="0" tIns="0" rIns="0" bIns="0" rtlCol="0" anchor="ctr"/>
          <a:lstStyle/>
          <a:p>
            <a:pPr indent="0" marL="0">
              <a:lnSpc>
                <a:spcPct val="140000"/>
              </a:lnSpc>
              <a:buNone/>
            </a:pPr>
            <a:r>
              <a:rPr lang="en-US" sz="1400" dirty="0">
                <a:solidFill>
                  <a:srgbClr val="C9CCCF"/>
                </a:solidFill>
                <a:latin typeface="Calibri" pitchFamily="34" charset="0"/>
                <a:ea typeface="Calibri" pitchFamily="34" charset="-122"/>
                <a:cs typeface="Calibri" pitchFamily="34" charset="-120"/>
              </a:rPr>
              <a:t>SYNTRA plays fully open with Home Assistant, the world's leading open-source smart home platform. Every device, sensor and automation surfaces natively — no bridges, no workarounds, no walled garden.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16 / 37   —   SYNTRA SMART GLOBAL COMPANY PROFILE</a:t>
            </a:r>
            <a:endParaRPr lang="en-US" sz="800" dirty="0"/>
          </a:p>
        </p:txBody>
      </p:sp>
      <p:sp>
        <p:nvSpPr>
          <p:cNvPr id="6" name="Text 4"/>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7" name="Text 5"/>
          <p:cNvSpPr/>
          <p:nvPr/>
        </p:nvSpPr>
        <p:spPr>
          <a:xfrm>
            <a:off x="502920" y="1691640"/>
            <a:ext cx="7315200" cy="1828800"/>
          </a:xfrm>
          <a:prstGeom prst="rect">
            <a:avLst/>
          </a:prstGeom>
          <a:noFill/>
          <a:ln/>
        </p:spPr>
        <p:txBody>
          <a:bodyPr wrap="square" lIns="0" tIns="0" rIns="0" bIns="0" rtlCol="0" anchor="ctr"/>
          <a:lstStyle/>
          <a:p>
            <a:pPr indent="0" marL="0">
              <a:buNone/>
            </a:pPr>
            <a:r>
              <a:rPr lang="en-US" sz="9500" b="1" dirty="0">
                <a:solidFill>
                  <a:srgbClr val="1A1B1E"/>
                </a:solidFill>
                <a:latin typeface="Arial" pitchFamily="34" charset="0"/>
                <a:ea typeface="Arial" pitchFamily="34" charset="-122"/>
                <a:cs typeface="Arial" pitchFamily="34" charset="-120"/>
              </a:rPr>
              <a:t>14–19</a:t>
            </a:r>
            <a:endParaRPr lang="en-US" sz="9500" dirty="0"/>
          </a:p>
        </p:txBody>
      </p:sp>
      <p:sp>
        <p:nvSpPr>
          <p:cNvPr id="8" name="Text 6"/>
          <p:cNvSpPr/>
          <p:nvPr/>
        </p:nvSpPr>
        <p:spPr>
          <a:xfrm>
            <a:off x="685800" y="3246120"/>
            <a:ext cx="9144000" cy="365760"/>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CONNECTIVITY</a:t>
            </a:r>
            <a:endParaRPr lang="en-US" sz="1300" dirty="0"/>
          </a:p>
        </p:txBody>
      </p:sp>
      <p:sp>
        <p:nvSpPr>
          <p:cNvPr id="9" name="Text 7"/>
          <p:cNvSpPr/>
          <p:nvPr/>
        </p:nvSpPr>
        <p:spPr>
          <a:xfrm>
            <a:off x="685800" y="3639312"/>
            <a:ext cx="10515600" cy="1371600"/>
          </a:xfrm>
          <a:prstGeom prst="rect">
            <a:avLst/>
          </a:prstGeom>
          <a:noFill/>
          <a:ln/>
        </p:spPr>
        <p:txBody>
          <a:bodyPr wrap="square" lIns="0" tIns="0" rIns="0" bIns="0" rtlCol="0" anchor="ctr"/>
          <a:lstStyle/>
          <a:p>
            <a:pPr indent="0" marL="0">
              <a:lnSpc>
                <a:spcPts val="4800"/>
              </a:lnSpc>
              <a:buNone/>
            </a:pPr>
            <a:r>
              <a:rPr lang="en-US" sz="4600" b="1" dirty="0">
                <a:solidFill>
                  <a:srgbClr val="FFFFFF"/>
                </a:solidFill>
                <a:latin typeface="Arial" pitchFamily="34" charset="0"/>
                <a:ea typeface="Arial" pitchFamily="34" charset="-122"/>
                <a:cs typeface="Arial" pitchFamily="34" charset="-120"/>
              </a:rPr>
              <a:t>Universal Connectivity Standards</a:t>
            </a:r>
            <a:endParaRPr lang="en-US" sz="4600" dirty="0"/>
          </a:p>
        </p:txBody>
      </p:sp>
      <p:sp>
        <p:nvSpPr>
          <p:cNvPr id="10" name="Text 8"/>
          <p:cNvSpPr/>
          <p:nvPr/>
        </p:nvSpPr>
        <p:spPr>
          <a:xfrm>
            <a:off x="685800" y="4892040"/>
            <a:ext cx="8229600" cy="640080"/>
          </a:xfrm>
          <a:prstGeom prst="rect">
            <a:avLst/>
          </a:prstGeom>
          <a:noFill/>
          <a:ln/>
        </p:spPr>
        <p:txBody>
          <a:bodyPr wrap="square" lIns="0" tIns="0" rIns="0" bIns="0" rtlCol="0" anchor="ctr"/>
          <a:lstStyle/>
          <a:p>
            <a:pPr indent="0" marL="0">
              <a:lnSpc>
                <a:spcPct val="130000"/>
              </a:lnSpc>
              <a:buNone/>
            </a:pPr>
            <a:r>
              <a:rPr lang="en-US" sz="1400" dirty="0">
                <a:solidFill>
                  <a:srgbClr val="C9CCCF"/>
                </a:solidFill>
                <a:latin typeface="Calibri" pitchFamily="34" charset="0"/>
                <a:ea typeface="Calibri" pitchFamily="34" charset="-122"/>
                <a:cs typeface="Calibri" pitchFamily="34" charset="-120"/>
              </a:rPr>
              <a:t>Six protocols. One certified, native standard across the entire portfolio.</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MATTER</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17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14 — CONNECTIVITY STANDARD</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4576"/>
              </a:lnSpc>
              <a:buNone/>
            </a:pPr>
            <a:r>
              <a:rPr lang="en-US" sz="4400" b="1" dirty="0">
                <a:solidFill>
                  <a:srgbClr val="FFFFFF"/>
                </a:solidFill>
                <a:latin typeface="Arial" pitchFamily="34" charset="0"/>
                <a:ea typeface="Arial" pitchFamily="34" charset="-122"/>
                <a:cs typeface="Arial" pitchFamily="34" charset="-120"/>
              </a:rPr>
              <a:t>Matter</a:t>
            </a:r>
            <a:endParaRPr lang="en-US" sz="4400" dirty="0"/>
          </a:p>
        </p:txBody>
      </p:sp>
      <p:sp>
        <p:nvSpPr>
          <p:cNvPr id="10" name="Shape 8"/>
          <p:cNvSpPr/>
          <p:nvPr/>
        </p:nvSpPr>
        <p:spPr>
          <a:xfrm>
            <a:off x="8869680" y="2331720"/>
            <a:ext cx="2103120" cy="2103120"/>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9416491" y="2878531"/>
            <a:ext cx="1009498" cy="1009498"/>
          </a:xfrm>
          <a:prstGeom prst="rect">
            <a:avLst/>
          </a:prstGeom>
        </p:spPr>
      </p:pic>
      <p:sp>
        <p:nvSpPr>
          <p:cNvPr id="12" name="Text 9"/>
          <p:cNvSpPr/>
          <p:nvPr/>
        </p:nvSpPr>
        <p:spPr>
          <a:xfrm>
            <a:off x="685800" y="2834640"/>
            <a:ext cx="7223760" cy="2194560"/>
          </a:xfrm>
          <a:prstGeom prst="rect">
            <a:avLst/>
          </a:prstGeom>
          <a:noFill/>
          <a:ln/>
        </p:spPr>
        <p:txBody>
          <a:bodyPr wrap="square" lIns="0" tIns="0" rIns="0" bIns="0" rtlCol="0" anchor="ctr"/>
          <a:lstStyle/>
          <a:p>
            <a:pPr indent="0" marL="0">
              <a:lnSpc>
                <a:spcPct val="140000"/>
              </a:lnSpc>
              <a:buNone/>
            </a:pPr>
            <a:r>
              <a:rPr lang="en-US" sz="1500" dirty="0">
                <a:solidFill>
                  <a:srgbClr val="C9CCCF"/>
                </a:solidFill>
                <a:latin typeface="Calibri" pitchFamily="34" charset="0"/>
                <a:ea typeface="Calibri" pitchFamily="34" charset="-122"/>
                <a:cs typeface="Calibri" pitchFamily="34" charset="-120"/>
              </a:rPr>
              <a:t>The unifying smart-home standard backed by the industry's leading platforms. Every SYNTRA device is Matter-certified, guaranteeing interoperability with any Matter-enabled ecosystem, present or future.</a:t>
            </a:r>
            <a:endParaRPr lang="en-US" sz="1500" dirty="0"/>
          </a:p>
        </p:txBody>
      </p:sp>
      <p:sp>
        <p:nvSpPr>
          <p:cNvPr id="13" name="Text 10"/>
          <p:cNvSpPr/>
          <p:nvPr/>
        </p:nvSpPr>
        <p:spPr>
          <a:xfrm>
            <a:off x="685800" y="5212080"/>
            <a:ext cx="7315200" cy="365760"/>
          </a:xfrm>
          <a:prstGeom prst="rect">
            <a:avLst/>
          </a:prstGeom>
          <a:noFill/>
          <a:ln/>
        </p:spPr>
        <p:txBody>
          <a:bodyPr wrap="square" lIns="0" tIns="0" rIns="0" bIns="0" rtlCol="0" anchor="ctr"/>
          <a:lstStyle/>
          <a:p>
            <a:pPr indent="0" marL="0">
              <a:buNone/>
            </a:pPr>
            <a:r>
              <a:rPr lang="en-US" sz="1000" b="1" spc="200" kern="0" dirty="0">
                <a:solidFill>
                  <a:srgbClr val="0A84FF"/>
                </a:solidFill>
                <a:latin typeface="Arial" pitchFamily="34" charset="0"/>
                <a:ea typeface="Arial" pitchFamily="34" charset="-122"/>
                <a:cs typeface="Arial" pitchFamily="34" charset="-120"/>
              </a:rPr>
              <a:t>NATIVELY SUPPORTED ACROSS THE FULL SYNTRA PORTFOLIO</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Z-WAVE</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18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15 — CONNECTIVITY STANDARD</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4576"/>
              </a:lnSpc>
              <a:buNone/>
            </a:pPr>
            <a:r>
              <a:rPr lang="en-US" sz="4400" b="1" dirty="0">
                <a:solidFill>
                  <a:srgbClr val="FFFFFF"/>
                </a:solidFill>
                <a:latin typeface="Arial" pitchFamily="34" charset="0"/>
                <a:ea typeface="Arial" pitchFamily="34" charset="-122"/>
                <a:cs typeface="Arial" pitchFamily="34" charset="-120"/>
              </a:rPr>
              <a:t>Z-Wave</a:t>
            </a:r>
            <a:endParaRPr lang="en-US" sz="4400" dirty="0"/>
          </a:p>
        </p:txBody>
      </p:sp>
      <p:sp>
        <p:nvSpPr>
          <p:cNvPr id="10" name="Shape 8"/>
          <p:cNvSpPr/>
          <p:nvPr/>
        </p:nvSpPr>
        <p:spPr>
          <a:xfrm>
            <a:off x="8869680" y="2331720"/>
            <a:ext cx="2103120" cy="2103120"/>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9416491" y="2878531"/>
            <a:ext cx="1009498" cy="1009498"/>
          </a:xfrm>
          <a:prstGeom prst="rect">
            <a:avLst/>
          </a:prstGeom>
        </p:spPr>
      </p:pic>
      <p:sp>
        <p:nvSpPr>
          <p:cNvPr id="12" name="Text 9"/>
          <p:cNvSpPr/>
          <p:nvPr/>
        </p:nvSpPr>
        <p:spPr>
          <a:xfrm>
            <a:off x="685800" y="2834640"/>
            <a:ext cx="7223760" cy="2194560"/>
          </a:xfrm>
          <a:prstGeom prst="rect">
            <a:avLst/>
          </a:prstGeom>
          <a:noFill/>
          <a:ln/>
        </p:spPr>
        <p:txBody>
          <a:bodyPr wrap="square" lIns="0" tIns="0" rIns="0" bIns="0" rtlCol="0" anchor="ctr"/>
          <a:lstStyle/>
          <a:p>
            <a:pPr indent="0" marL="0">
              <a:lnSpc>
                <a:spcPct val="140000"/>
              </a:lnSpc>
              <a:buNone/>
            </a:pPr>
            <a:r>
              <a:rPr lang="en-US" sz="1500" dirty="0">
                <a:solidFill>
                  <a:srgbClr val="C9CCCF"/>
                </a:solidFill>
                <a:latin typeface="Calibri" pitchFamily="34" charset="0"/>
                <a:ea typeface="Calibri" pitchFamily="34" charset="-122"/>
                <a:cs typeface="Calibri" pitchFamily="34" charset="-120"/>
              </a:rPr>
              <a:t>A low-power mesh protocol built for reliability at scale. SYNTRA's Z-Wave gateway extends range across large villas, hotels and commercial properties without signal loss.</a:t>
            </a:r>
            <a:endParaRPr lang="en-US" sz="1500" dirty="0"/>
          </a:p>
        </p:txBody>
      </p:sp>
      <p:sp>
        <p:nvSpPr>
          <p:cNvPr id="13" name="Text 10"/>
          <p:cNvSpPr/>
          <p:nvPr/>
        </p:nvSpPr>
        <p:spPr>
          <a:xfrm>
            <a:off x="685800" y="5212080"/>
            <a:ext cx="7315200" cy="365760"/>
          </a:xfrm>
          <a:prstGeom prst="rect">
            <a:avLst/>
          </a:prstGeom>
          <a:noFill/>
          <a:ln/>
        </p:spPr>
        <p:txBody>
          <a:bodyPr wrap="square" lIns="0" tIns="0" rIns="0" bIns="0" rtlCol="0" anchor="ctr"/>
          <a:lstStyle/>
          <a:p>
            <a:pPr indent="0" marL="0">
              <a:buNone/>
            </a:pPr>
            <a:r>
              <a:rPr lang="en-US" sz="1000" b="1" spc="200" kern="0" dirty="0">
                <a:solidFill>
                  <a:srgbClr val="0A84FF"/>
                </a:solidFill>
                <a:latin typeface="Arial" pitchFamily="34" charset="0"/>
                <a:ea typeface="Arial" pitchFamily="34" charset="-122"/>
                <a:cs typeface="Arial" pitchFamily="34" charset="-120"/>
              </a:rPr>
              <a:t>NATIVELY SUPPORTED ACROSS THE FULL SYNTRA PORTFOLIO</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ZIGBEE</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19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16 — CONNECTIVITY STANDARD</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4576"/>
              </a:lnSpc>
              <a:buNone/>
            </a:pPr>
            <a:r>
              <a:rPr lang="en-US" sz="4400" b="1" dirty="0">
                <a:solidFill>
                  <a:srgbClr val="FFFFFF"/>
                </a:solidFill>
                <a:latin typeface="Arial" pitchFamily="34" charset="0"/>
                <a:ea typeface="Arial" pitchFamily="34" charset="-122"/>
                <a:cs typeface="Arial" pitchFamily="34" charset="-120"/>
              </a:rPr>
              <a:t>Zigbee</a:t>
            </a:r>
            <a:endParaRPr lang="en-US" sz="4400" dirty="0"/>
          </a:p>
        </p:txBody>
      </p:sp>
      <p:sp>
        <p:nvSpPr>
          <p:cNvPr id="10" name="Shape 8"/>
          <p:cNvSpPr/>
          <p:nvPr/>
        </p:nvSpPr>
        <p:spPr>
          <a:xfrm>
            <a:off x="8869680" y="2331720"/>
            <a:ext cx="2103120" cy="2103120"/>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9416491" y="2878531"/>
            <a:ext cx="1009498" cy="1009498"/>
          </a:xfrm>
          <a:prstGeom prst="rect">
            <a:avLst/>
          </a:prstGeom>
        </p:spPr>
      </p:pic>
      <p:sp>
        <p:nvSpPr>
          <p:cNvPr id="12" name="Text 9"/>
          <p:cNvSpPr/>
          <p:nvPr/>
        </p:nvSpPr>
        <p:spPr>
          <a:xfrm>
            <a:off x="685800" y="2834640"/>
            <a:ext cx="7223760" cy="2194560"/>
          </a:xfrm>
          <a:prstGeom prst="rect">
            <a:avLst/>
          </a:prstGeom>
          <a:noFill/>
          <a:ln/>
        </p:spPr>
        <p:txBody>
          <a:bodyPr wrap="square" lIns="0" tIns="0" rIns="0" bIns="0" rtlCol="0" anchor="ctr"/>
          <a:lstStyle/>
          <a:p>
            <a:pPr indent="0" marL="0">
              <a:lnSpc>
                <a:spcPct val="140000"/>
              </a:lnSpc>
              <a:buNone/>
            </a:pPr>
            <a:r>
              <a:rPr lang="en-US" sz="1500" dirty="0">
                <a:solidFill>
                  <a:srgbClr val="C9CCCF"/>
                </a:solidFill>
                <a:latin typeface="Calibri" pitchFamily="34" charset="0"/>
                <a:ea typeface="Calibri" pitchFamily="34" charset="-122"/>
                <a:cs typeface="Calibri" pitchFamily="34" charset="-120"/>
              </a:rPr>
              <a:t>A dense mesh standard purpose-built for sensors and battery-powered devices — enabling thousands of low-latency nodes across a single SYNTRA hub.</a:t>
            </a:r>
            <a:endParaRPr lang="en-US" sz="1500" dirty="0"/>
          </a:p>
        </p:txBody>
      </p:sp>
      <p:sp>
        <p:nvSpPr>
          <p:cNvPr id="13" name="Text 10"/>
          <p:cNvSpPr/>
          <p:nvPr/>
        </p:nvSpPr>
        <p:spPr>
          <a:xfrm>
            <a:off x="685800" y="5212080"/>
            <a:ext cx="7315200" cy="365760"/>
          </a:xfrm>
          <a:prstGeom prst="rect">
            <a:avLst/>
          </a:prstGeom>
          <a:noFill/>
          <a:ln/>
        </p:spPr>
        <p:txBody>
          <a:bodyPr wrap="square" lIns="0" tIns="0" rIns="0" bIns="0" rtlCol="0" anchor="ctr"/>
          <a:lstStyle/>
          <a:p>
            <a:pPr indent="0" marL="0">
              <a:buNone/>
            </a:pPr>
            <a:r>
              <a:rPr lang="en-US" sz="1000" b="1" spc="200" kern="0" dirty="0">
                <a:solidFill>
                  <a:srgbClr val="0A84FF"/>
                </a:solidFill>
                <a:latin typeface="Arial" pitchFamily="34" charset="0"/>
                <a:ea typeface="Arial" pitchFamily="34" charset="-122"/>
                <a:cs typeface="Arial" pitchFamily="34" charset="-120"/>
              </a:rPr>
              <a:t>NATIVELY SUPPORTED ACROSS THE FULL SYNTRA PORTFOLIO</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WI-FI</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20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17 — CONNECTIVITY STANDARD</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4576"/>
              </a:lnSpc>
              <a:buNone/>
            </a:pPr>
            <a:r>
              <a:rPr lang="en-US" sz="4400" b="1" dirty="0">
                <a:solidFill>
                  <a:srgbClr val="FFFFFF"/>
                </a:solidFill>
                <a:latin typeface="Arial" pitchFamily="34" charset="0"/>
                <a:ea typeface="Arial" pitchFamily="34" charset="-122"/>
                <a:cs typeface="Arial" pitchFamily="34" charset="-120"/>
              </a:rPr>
              <a:t>Wi-Fi</a:t>
            </a:r>
            <a:endParaRPr lang="en-US" sz="4400" dirty="0"/>
          </a:p>
        </p:txBody>
      </p:sp>
      <p:sp>
        <p:nvSpPr>
          <p:cNvPr id="10" name="Shape 8"/>
          <p:cNvSpPr/>
          <p:nvPr/>
        </p:nvSpPr>
        <p:spPr>
          <a:xfrm>
            <a:off x="8869680" y="2331720"/>
            <a:ext cx="2103120" cy="2103120"/>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9416491" y="2878531"/>
            <a:ext cx="1009498" cy="1009498"/>
          </a:xfrm>
          <a:prstGeom prst="rect">
            <a:avLst/>
          </a:prstGeom>
        </p:spPr>
      </p:pic>
      <p:sp>
        <p:nvSpPr>
          <p:cNvPr id="12" name="Text 9"/>
          <p:cNvSpPr/>
          <p:nvPr/>
        </p:nvSpPr>
        <p:spPr>
          <a:xfrm>
            <a:off x="685800" y="2834640"/>
            <a:ext cx="7223760" cy="2194560"/>
          </a:xfrm>
          <a:prstGeom prst="rect">
            <a:avLst/>
          </a:prstGeom>
          <a:noFill/>
          <a:ln/>
        </p:spPr>
        <p:txBody>
          <a:bodyPr wrap="square" lIns="0" tIns="0" rIns="0" bIns="0" rtlCol="0" anchor="ctr"/>
          <a:lstStyle/>
          <a:p>
            <a:pPr indent="0" marL="0">
              <a:lnSpc>
                <a:spcPct val="140000"/>
              </a:lnSpc>
              <a:buNone/>
            </a:pPr>
            <a:r>
              <a:rPr lang="en-US" sz="1500" dirty="0">
                <a:solidFill>
                  <a:srgbClr val="C9CCCF"/>
                </a:solidFill>
                <a:latin typeface="Calibri" pitchFamily="34" charset="0"/>
                <a:ea typeface="Calibri" pitchFamily="34" charset="-122"/>
                <a:cs typeface="Calibri" pitchFamily="34" charset="-120"/>
              </a:rPr>
              <a:t>High-bandwidth connectivity for cameras, displays and speakers — engineered with dedicated smart-home traffic prioritization for zero buffering.</a:t>
            </a:r>
            <a:endParaRPr lang="en-US" sz="1500" dirty="0"/>
          </a:p>
        </p:txBody>
      </p:sp>
      <p:sp>
        <p:nvSpPr>
          <p:cNvPr id="13" name="Text 10"/>
          <p:cNvSpPr/>
          <p:nvPr/>
        </p:nvSpPr>
        <p:spPr>
          <a:xfrm>
            <a:off x="685800" y="5212080"/>
            <a:ext cx="7315200" cy="365760"/>
          </a:xfrm>
          <a:prstGeom prst="rect">
            <a:avLst/>
          </a:prstGeom>
          <a:noFill/>
          <a:ln/>
        </p:spPr>
        <p:txBody>
          <a:bodyPr wrap="square" lIns="0" tIns="0" rIns="0" bIns="0" rtlCol="0" anchor="ctr"/>
          <a:lstStyle/>
          <a:p>
            <a:pPr indent="0" marL="0">
              <a:buNone/>
            </a:pPr>
            <a:r>
              <a:rPr lang="en-US" sz="1000" b="1" spc="200" kern="0" dirty="0">
                <a:solidFill>
                  <a:srgbClr val="0A84FF"/>
                </a:solidFill>
                <a:latin typeface="Arial" pitchFamily="34" charset="0"/>
                <a:ea typeface="Arial" pitchFamily="34" charset="-122"/>
                <a:cs typeface="Arial" pitchFamily="34" charset="-120"/>
              </a:rPr>
              <a:t>NATIVELY SUPPORTED ACROSS THE FULL SYNTRA PORTFOLIO</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BLUETOOTH LE</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21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18 — CONNECTIVITY STANDARD</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4576"/>
              </a:lnSpc>
              <a:buNone/>
            </a:pPr>
            <a:r>
              <a:rPr lang="en-US" sz="4400" b="1" dirty="0">
                <a:solidFill>
                  <a:srgbClr val="FFFFFF"/>
                </a:solidFill>
                <a:latin typeface="Arial" pitchFamily="34" charset="0"/>
                <a:ea typeface="Arial" pitchFamily="34" charset="-122"/>
                <a:cs typeface="Arial" pitchFamily="34" charset="-120"/>
              </a:rPr>
              <a:t>Bluetooth LE</a:t>
            </a:r>
            <a:endParaRPr lang="en-US" sz="4400" dirty="0"/>
          </a:p>
        </p:txBody>
      </p:sp>
      <p:sp>
        <p:nvSpPr>
          <p:cNvPr id="10" name="Shape 8"/>
          <p:cNvSpPr/>
          <p:nvPr/>
        </p:nvSpPr>
        <p:spPr>
          <a:xfrm>
            <a:off x="8869680" y="2331720"/>
            <a:ext cx="2103120" cy="2103120"/>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9416491" y="2878531"/>
            <a:ext cx="1009498" cy="1009498"/>
          </a:xfrm>
          <a:prstGeom prst="rect">
            <a:avLst/>
          </a:prstGeom>
        </p:spPr>
      </p:pic>
      <p:sp>
        <p:nvSpPr>
          <p:cNvPr id="12" name="Text 9"/>
          <p:cNvSpPr/>
          <p:nvPr/>
        </p:nvSpPr>
        <p:spPr>
          <a:xfrm>
            <a:off x="685800" y="2834640"/>
            <a:ext cx="7223760" cy="2194560"/>
          </a:xfrm>
          <a:prstGeom prst="rect">
            <a:avLst/>
          </a:prstGeom>
          <a:noFill/>
          <a:ln/>
        </p:spPr>
        <p:txBody>
          <a:bodyPr wrap="square" lIns="0" tIns="0" rIns="0" bIns="0" rtlCol="0" anchor="ctr"/>
          <a:lstStyle/>
          <a:p>
            <a:pPr indent="0" marL="0">
              <a:lnSpc>
                <a:spcPct val="140000"/>
              </a:lnSpc>
              <a:buNone/>
            </a:pPr>
            <a:r>
              <a:rPr lang="en-US" sz="1500" dirty="0">
                <a:solidFill>
                  <a:srgbClr val="C9CCCF"/>
                </a:solidFill>
                <a:latin typeface="Calibri" pitchFamily="34" charset="0"/>
                <a:ea typeface="Calibri" pitchFamily="34" charset="-122"/>
                <a:cs typeface="Calibri" pitchFamily="34" charset="-120"/>
              </a:rPr>
              <a:t>Ultra-low-energy proximity connectivity for locks, sensors and mobile pairing — fast setup, minimal battery drain, always secure.</a:t>
            </a:r>
            <a:endParaRPr lang="en-US" sz="1500" dirty="0"/>
          </a:p>
        </p:txBody>
      </p:sp>
      <p:sp>
        <p:nvSpPr>
          <p:cNvPr id="13" name="Text 10"/>
          <p:cNvSpPr/>
          <p:nvPr/>
        </p:nvSpPr>
        <p:spPr>
          <a:xfrm>
            <a:off x="685800" y="5212080"/>
            <a:ext cx="7315200" cy="365760"/>
          </a:xfrm>
          <a:prstGeom prst="rect">
            <a:avLst/>
          </a:prstGeom>
          <a:noFill/>
          <a:ln/>
        </p:spPr>
        <p:txBody>
          <a:bodyPr wrap="square" lIns="0" tIns="0" rIns="0" bIns="0" rtlCol="0" anchor="ctr"/>
          <a:lstStyle/>
          <a:p>
            <a:pPr indent="0" marL="0">
              <a:buNone/>
            </a:pPr>
            <a:r>
              <a:rPr lang="en-US" sz="1000" b="1" spc="200" kern="0" dirty="0">
                <a:solidFill>
                  <a:srgbClr val="0A84FF"/>
                </a:solidFill>
                <a:latin typeface="Arial" pitchFamily="34" charset="0"/>
                <a:ea typeface="Arial" pitchFamily="34" charset="-122"/>
                <a:cs typeface="Arial" pitchFamily="34" charset="-120"/>
              </a:rPr>
              <a:t>NATIVELY SUPPORTED ACROSS THE FULL SYNTRA PORTFOLIO</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THREAD</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22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19 — CONNECTIVITY STANDARD</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4576"/>
              </a:lnSpc>
              <a:buNone/>
            </a:pPr>
            <a:r>
              <a:rPr lang="en-US" sz="4400" b="1" dirty="0">
                <a:solidFill>
                  <a:srgbClr val="FFFFFF"/>
                </a:solidFill>
                <a:latin typeface="Arial" pitchFamily="34" charset="0"/>
                <a:ea typeface="Arial" pitchFamily="34" charset="-122"/>
                <a:cs typeface="Arial" pitchFamily="34" charset="-120"/>
              </a:rPr>
              <a:t>Thread</a:t>
            </a:r>
            <a:endParaRPr lang="en-US" sz="4400" dirty="0"/>
          </a:p>
        </p:txBody>
      </p:sp>
      <p:sp>
        <p:nvSpPr>
          <p:cNvPr id="10" name="Shape 8"/>
          <p:cNvSpPr/>
          <p:nvPr/>
        </p:nvSpPr>
        <p:spPr>
          <a:xfrm>
            <a:off x="8869680" y="2331720"/>
            <a:ext cx="2103120" cy="2103120"/>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9416491" y="2878531"/>
            <a:ext cx="1009498" cy="1009498"/>
          </a:xfrm>
          <a:prstGeom prst="rect">
            <a:avLst/>
          </a:prstGeom>
        </p:spPr>
      </p:pic>
      <p:sp>
        <p:nvSpPr>
          <p:cNvPr id="12" name="Text 9"/>
          <p:cNvSpPr/>
          <p:nvPr/>
        </p:nvSpPr>
        <p:spPr>
          <a:xfrm>
            <a:off x="685800" y="2834640"/>
            <a:ext cx="7223760" cy="2194560"/>
          </a:xfrm>
          <a:prstGeom prst="rect">
            <a:avLst/>
          </a:prstGeom>
          <a:noFill/>
          <a:ln/>
        </p:spPr>
        <p:txBody>
          <a:bodyPr wrap="square" lIns="0" tIns="0" rIns="0" bIns="0" rtlCol="0" anchor="ctr"/>
          <a:lstStyle/>
          <a:p>
            <a:pPr indent="0" marL="0">
              <a:lnSpc>
                <a:spcPct val="140000"/>
              </a:lnSpc>
              <a:buNone/>
            </a:pPr>
            <a:r>
              <a:rPr lang="en-US" sz="1500" dirty="0">
                <a:solidFill>
                  <a:srgbClr val="C9CCCF"/>
                </a:solidFill>
                <a:latin typeface="Calibri" pitchFamily="34" charset="0"/>
                <a:ea typeface="Calibri" pitchFamily="34" charset="-122"/>
                <a:cs typeface="Calibri" pitchFamily="34" charset="-120"/>
              </a:rPr>
              <a:t>A self-healing IPv6 mesh network purpose-built for the connected home — giving every SYNTRA sensor and lock a direct, resilient path to the cloud.</a:t>
            </a:r>
            <a:endParaRPr lang="en-US" sz="1500" dirty="0"/>
          </a:p>
        </p:txBody>
      </p:sp>
      <p:sp>
        <p:nvSpPr>
          <p:cNvPr id="13" name="Text 10"/>
          <p:cNvSpPr/>
          <p:nvPr/>
        </p:nvSpPr>
        <p:spPr>
          <a:xfrm>
            <a:off x="685800" y="5212080"/>
            <a:ext cx="7315200" cy="365760"/>
          </a:xfrm>
          <a:prstGeom prst="rect">
            <a:avLst/>
          </a:prstGeom>
          <a:noFill/>
          <a:ln/>
        </p:spPr>
        <p:txBody>
          <a:bodyPr wrap="square" lIns="0" tIns="0" rIns="0" bIns="0" rtlCol="0" anchor="ctr"/>
          <a:lstStyle/>
          <a:p>
            <a:pPr indent="0" marL="0">
              <a:buNone/>
            </a:pPr>
            <a:r>
              <a:rPr lang="en-US" sz="1000" b="1" spc="200" kern="0" dirty="0">
                <a:solidFill>
                  <a:srgbClr val="0A84FF"/>
                </a:solidFill>
                <a:latin typeface="Arial" pitchFamily="34" charset="0"/>
                <a:ea typeface="Arial" pitchFamily="34" charset="-122"/>
                <a:cs typeface="Arial" pitchFamily="34" charset="-120"/>
              </a:rPr>
              <a:t>NATIVELY SUPPORTED ACROSS THE FULL SYNTRA PORTFOLIO</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CLOUD PLATFORM</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23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20 — SYNTRA CLOUD</a:t>
            </a:r>
            <a:endParaRPr lang="en-US" sz="1300" dirty="0"/>
          </a:p>
        </p:txBody>
      </p:sp>
      <p:sp>
        <p:nvSpPr>
          <p:cNvPr id="9" name="Text 7"/>
          <p:cNvSpPr/>
          <p:nvPr/>
        </p:nvSpPr>
        <p:spPr>
          <a:xfrm>
            <a:off x="640080" y="1344168"/>
            <a:ext cx="10881360" cy="1463040"/>
          </a:xfrm>
          <a:prstGeom prst="rect">
            <a:avLst/>
          </a:prstGeom>
          <a:noFill/>
          <a:ln/>
        </p:spPr>
        <p:txBody>
          <a:bodyPr wrap="square" lIns="0" tIns="0" rIns="0" bIns="0" rtlCol="0" anchor="ctr"/>
          <a:lstStyle/>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Global Infrastructure,</a:t>
            </a:r>
            <a:endParaRPr lang="en-US" sz="3200" dirty="0"/>
          </a:p>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Built for Real Time</a:t>
            </a:r>
            <a:endParaRPr lang="en-US" sz="3200" dirty="0"/>
          </a:p>
        </p:txBody>
      </p:sp>
      <p:sp>
        <p:nvSpPr>
          <p:cNvPr id="10" name="Shape 8"/>
          <p:cNvSpPr/>
          <p:nvPr/>
        </p:nvSpPr>
        <p:spPr>
          <a:xfrm>
            <a:off x="685800" y="2514600"/>
            <a:ext cx="5289804" cy="1677924"/>
          </a:xfrm>
          <a:prstGeom prst="roundRect">
            <a:avLst>
              <a:gd name="adj" fmla="val 4905"/>
            </a:avLst>
          </a:prstGeom>
          <a:solidFill>
            <a:srgbClr val="141417"/>
          </a:solidFill>
          <a:ln w="12700">
            <a:solidFill>
              <a:srgbClr val="242528"/>
            </a:solidFill>
            <a:prstDash val="solid"/>
          </a:ln>
        </p:spPr>
      </p:sp>
      <p:sp>
        <p:nvSpPr>
          <p:cNvPr id="11" name="Shape 9"/>
          <p:cNvSpPr/>
          <p:nvPr/>
        </p:nvSpPr>
        <p:spPr>
          <a:xfrm>
            <a:off x="905256" y="2715768"/>
            <a:ext cx="566928" cy="566928"/>
          </a:xfrm>
          <a:prstGeom prst="ellipse">
            <a:avLst/>
          </a:prstGeom>
          <a:solidFill>
            <a:srgbClr val="1B1C1F"/>
          </a:solidFill>
          <a:ln w="12700">
            <a:solidFill>
              <a:srgbClr val="2C2D30"/>
            </a:solidFill>
            <a:prstDash val="solid"/>
          </a:ln>
        </p:spPr>
      </p:sp>
      <p:pic>
        <p:nvPicPr>
          <p:cNvPr id="12" name="Image 0" descr="preencoded.png">    </p:cNvPr>
          <p:cNvPicPr>
            <a:picLocks noChangeAspect="1"/>
          </p:cNvPicPr>
          <p:nvPr/>
        </p:nvPicPr>
        <p:blipFill>
          <a:blip r:embed="rId1"/>
          <a:stretch>
            <a:fillRect/>
          </a:stretch>
        </p:blipFill>
        <p:spPr>
          <a:xfrm>
            <a:off x="1052657" y="2863169"/>
            <a:ext cx="272125" cy="272125"/>
          </a:xfrm>
          <a:prstGeom prst="rect">
            <a:avLst/>
          </a:prstGeom>
        </p:spPr>
      </p:pic>
      <p:sp>
        <p:nvSpPr>
          <p:cNvPr id="13" name="Text 10"/>
          <p:cNvSpPr/>
          <p:nvPr/>
        </p:nvSpPr>
        <p:spPr>
          <a:xfrm>
            <a:off x="905256" y="3410712"/>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Redundant by Design</a:t>
            </a:r>
            <a:endParaRPr lang="en-US" sz="1450" dirty="0"/>
          </a:p>
        </p:txBody>
      </p:sp>
      <p:sp>
        <p:nvSpPr>
          <p:cNvPr id="14" name="Text 11"/>
          <p:cNvSpPr/>
          <p:nvPr/>
        </p:nvSpPr>
        <p:spPr>
          <a:xfrm>
            <a:off x="905256" y="3739896"/>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Multi-region infrastructure with automatic failover.</a:t>
            </a:r>
            <a:endParaRPr lang="en-US" sz="1050" dirty="0"/>
          </a:p>
        </p:txBody>
      </p:sp>
      <p:sp>
        <p:nvSpPr>
          <p:cNvPr id="15" name="Shape 12"/>
          <p:cNvSpPr/>
          <p:nvPr/>
        </p:nvSpPr>
        <p:spPr>
          <a:xfrm>
            <a:off x="6231636" y="2514600"/>
            <a:ext cx="5289804" cy="1677924"/>
          </a:xfrm>
          <a:prstGeom prst="roundRect">
            <a:avLst>
              <a:gd name="adj" fmla="val 4905"/>
            </a:avLst>
          </a:prstGeom>
          <a:solidFill>
            <a:srgbClr val="141417"/>
          </a:solidFill>
          <a:ln w="12700">
            <a:solidFill>
              <a:srgbClr val="242528"/>
            </a:solidFill>
            <a:prstDash val="solid"/>
          </a:ln>
        </p:spPr>
      </p:sp>
      <p:sp>
        <p:nvSpPr>
          <p:cNvPr id="16" name="Shape 13"/>
          <p:cNvSpPr/>
          <p:nvPr/>
        </p:nvSpPr>
        <p:spPr>
          <a:xfrm>
            <a:off x="6451092" y="2715768"/>
            <a:ext cx="566928" cy="566928"/>
          </a:xfrm>
          <a:prstGeom prst="ellipse">
            <a:avLst/>
          </a:prstGeom>
          <a:solidFill>
            <a:srgbClr val="1B1C1F"/>
          </a:solidFill>
          <a:ln w="12700">
            <a:solidFill>
              <a:srgbClr val="2C2D30"/>
            </a:solidFill>
            <a:prstDash val="solid"/>
          </a:ln>
        </p:spPr>
      </p:sp>
      <p:pic>
        <p:nvPicPr>
          <p:cNvPr id="17" name="Image 1" descr="preencoded.png">    </p:cNvPr>
          <p:cNvPicPr>
            <a:picLocks noChangeAspect="1"/>
          </p:cNvPicPr>
          <p:nvPr/>
        </p:nvPicPr>
        <p:blipFill>
          <a:blip r:embed="rId2"/>
          <a:stretch>
            <a:fillRect/>
          </a:stretch>
        </p:blipFill>
        <p:spPr>
          <a:xfrm>
            <a:off x="6598493" y="2863169"/>
            <a:ext cx="272125" cy="272125"/>
          </a:xfrm>
          <a:prstGeom prst="rect">
            <a:avLst/>
          </a:prstGeom>
        </p:spPr>
      </p:pic>
      <p:sp>
        <p:nvSpPr>
          <p:cNvPr id="18" name="Text 14"/>
          <p:cNvSpPr/>
          <p:nvPr/>
        </p:nvSpPr>
        <p:spPr>
          <a:xfrm>
            <a:off x="6451092" y="3410712"/>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Encrypted End-to-End</a:t>
            </a:r>
            <a:endParaRPr lang="en-US" sz="1450" dirty="0"/>
          </a:p>
        </p:txBody>
      </p:sp>
      <p:sp>
        <p:nvSpPr>
          <p:cNvPr id="19" name="Text 15"/>
          <p:cNvSpPr/>
          <p:nvPr/>
        </p:nvSpPr>
        <p:spPr>
          <a:xfrm>
            <a:off x="6451092" y="3739896"/>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Every packet secured, in transit and at rest.</a:t>
            </a:r>
            <a:endParaRPr lang="en-US" sz="1050" dirty="0"/>
          </a:p>
        </p:txBody>
      </p:sp>
      <p:sp>
        <p:nvSpPr>
          <p:cNvPr id="20" name="Shape 16"/>
          <p:cNvSpPr/>
          <p:nvPr/>
        </p:nvSpPr>
        <p:spPr>
          <a:xfrm>
            <a:off x="685800" y="4448556"/>
            <a:ext cx="5289804" cy="1677924"/>
          </a:xfrm>
          <a:prstGeom prst="roundRect">
            <a:avLst>
              <a:gd name="adj" fmla="val 4905"/>
            </a:avLst>
          </a:prstGeom>
          <a:solidFill>
            <a:srgbClr val="141417"/>
          </a:solidFill>
          <a:ln w="12700">
            <a:solidFill>
              <a:srgbClr val="242528"/>
            </a:solidFill>
            <a:prstDash val="solid"/>
          </a:ln>
        </p:spPr>
      </p:sp>
      <p:sp>
        <p:nvSpPr>
          <p:cNvPr id="21" name="Shape 17"/>
          <p:cNvSpPr/>
          <p:nvPr/>
        </p:nvSpPr>
        <p:spPr>
          <a:xfrm>
            <a:off x="905256" y="4649724"/>
            <a:ext cx="566928" cy="566928"/>
          </a:xfrm>
          <a:prstGeom prst="ellipse">
            <a:avLst/>
          </a:prstGeom>
          <a:solidFill>
            <a:srgbClr val="1B1C1F"/>
          </a:solidFill>
          <a:ln w="12700">
            <a:solidFill>
              <a:srgbClr val="2C2D30"/>
            </a:solidFill>
            <a:prstDash val="solid"/>
          </a:ln>
        </p:spPr>
      </p:sp>
      <p:pic>
        <p:nvPicPr>
          <p:cNvPr id="22" name="Image 2" descr="preencoded.png">    </p:cNvPr>
          <p:cNvPicPr>
            <a:picLocks noChangeAspect="1"/>
          </p:cNvPicPr>
          <p:nvPr/>
        </p:nvPicPr>
        <p:blipFill>
          <a:blip r:embed="rId3"/>
          <a:stretch>
            <a:fillRect/>
          </a:stretch>
        </p:blipFill>
        <p:spPr>
          <a:xfrm>
            <a:off x="1052657" y="4797125"/>
            <a:ext cx="272125" cy="272125"/>
          </a:xfrm>
          <a:prstGeom prst="rect">
            <a:avLst/>
          </a:prstGeom>
        </p:spPr>
      </p:pic>
      <p:sp>
        <p:nvSpPr>
          <p:cNvPr id="23" name="Text 18"/>
          <p:cNvSpPr/>
          <p:nvPr/>
        </p:nvSpPr>
        <p:spPr>
          <a:xfrm>
            <a:off x="905256" y="5344668"/>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Sub-Second Sync</a:t>
            </a:r>
            <a:endParaRPr lang="en-US" sz="1450" dirty="0"/>
          </a:p>
        </p:txBody>
      </p:sp>
      <p:sp>
        <p:nvSpPr>
          <p:cNvPr id="24" name="Text 19"/>
          <p:cNvSpPr/>
          <p:nvPr/>
        </p:nvSpPr>
        <p:spPr>
          <a:xfrm>
            <a:off x="905256" y="5673852"/>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State updates across every device, instantly.</a:t>
            </a:r>
            <a:endParaRPr lang="en-US" sz="1050" dirty="0"/>
          </a:p>
        </p:txBody>
      </p:sp>
      <p:sp>
        <p:nvSpPr>
          <p:cNvPr id="25" name="Shape 20"/>
          <p:cNvSpPr/>
          <p:nvPr/>
        </p:nvSpPr>
        <p:spPr>
          <a:xfrm>
            <a:off x="6231636" y="4448556"/>
            <a:ext cx="5289804" cy="1677924"/>
          </a:xfrm>
          <a:prstGeom prst="roundRect">
            <a:avLst>
              <a:gd name="adj" fmla="val 4905"/>
            </a:avLst>
          </a:prstGeom>
          <a:solidFill>
            <a:srgbClr val="141417"/>
          </a:solidFill>
          <a:ln w="12700">
            <a:solidFill>
              <a:srgbClr val="242528"/>
            </a:solidFill>
            <a:prstDash val="solid"/>
          </a:ln>
        </p:spPr>
      </p:sp>
      <p:sp>
        <p:nvSpPr>
          <p:cNvPr id="26" name="Shape 21"/>
          <p:cNvSpPr/>
          <p:nvPr/>
        </p:nvSpPr>
        <p:spPr>
          <a:xfrm>
            <a:off x="6451092" y="4649724"/>
            <a:ext cx="566928" cy="566928"/>
          </a:xfrm>
          <a:prstGeom prst="ellipse">
            <a:avLst/>
          </a:prstGeom>
          <a:solidFill>
            <a:srgbClr val="1B1C1F"/>
          </a:solidFill>
          <a:ln w="12700">
            <a:solidFill>
              <a:srgbClr val="2C2D30"/>
            </a:solidFill>
            <a:prstDash val="solid"/>
          </a:ln>
        </p:spPr>
      </p:sp>
      <p:pic>
        <p:nvPicPr>
          <p:cNvPr id="27" name="Image 3" descr="preencoded.png">    </p:cNvPr>
          <p:cNvPicPr>
            <a:picLocks noChangeAspect="1"/>
          </p:cNvPicPr>
          <p:nvPr/>
        </p:nvPicPr>
        <p:blipFill>
          <a:blip r:embed="rId4"/>
          <a:stretch>
            <a:fillRect/>
          </a:stretch>
        </p:blipFill>
        <p:spPr>
          <a:xfrm>
            <a:off x="6598493" y="4797125"/>
            <a:ext cx="272125" cy="272125"/>
          </a:xfrm>
          <a:prstGeom prst="rect">
            <a:avLst/>
          </a:prstGeom>
        </p:spPr>
      </p:pic>
      <p:sp>
        <p:nvSpPr>
          <p:cNvPr id="28" name="Text 22"/>
          <p:cNvSpPr/>
          <p:nvPr/>
        </p:nvSpPr>
        <p:spPr>
          <a:xfrm>
            <a:off x="6451092" y="5344668"/>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Regional Data Residency</a:t>
            </a:r>
            <a:endParaRPr lang="en-US" sz="1450" dirty="0"/>
          </a:p>
        </p:txBody>
      </p:sp>
      <p:sp>
        <p:nvSpPr>
          <p:cNvPr id="29" name="Text 23"/>
          <p:cNvSpPr/>
          <p:nvPr/>
        </p:nvSpPr>
        <p:spPr>
          <a:xfrm>
            <a:off x="6451092" y="5673852"/>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Data hosted in-region to meet local compliance.</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MOBILE APPLICATION</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24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21 — SYNTRA APP</a:t>
            </a:r>
            <a:endParaRPr lang="en-US" sz="1300" dirty="0"/>
          </a:p>
        </p:txBody>
      </p:sp>
      <p:sp>
        <p:nvSpPr>
          <p:cNvPr id="9" name="Text 7"/>
          <p:cNvSpPr/>
          <p:nvPr/>
        </p:nvSpPr>
        <p:spPr>
          <a:xfrm>
            <a:off x="640080" y="1344168"/>
            <a:ext cx="10881360" cy="1463040"/>
          </a:xfrm>
          <a:prstGeom prst="rect">
            <a:avLst/>
          </a:prstGeom>
          <a:noFill/>
          <a:ln/>
        </p:spPr>
        <p:txBody>
          <a:bodyPr wrap="square" lIns="0" tIns="0" rIns="0" bIns="0" rtlCol="0" anchor="ctr"/>
          <a:lstStyle/>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One App.</a:t>
            </a:r>
            <a:endParaRPr lang="en-US" sz="3200" dirty="0"/>
          </a:p>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Every Device. Every Room.</a:t>
            </a:r>
            <a:endParaRPr lang="en-US" sz="3200" dirty="0"/>
          </a:p>
        </p:txBody>
      </p:sp>
      <p:sp>
        <p:nvSpPr>
          <p:cNvPr id="10" name="Shape 8"/>
          <p:cNvSpPr/>
          <p:nvPr/>
        </p:nvSpPr>
        <p:spPr>
          <a:xfrm>
            <a:off x="8869680" y="2331720"/>
            <a:ext cx="2103120" cy="2103120"/>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9416491" y="2878531"/>
            <a:ext cx="1009498" cy="1009498"/>
          </a:xfrm>
          <a:prstGeom prst="rect">
            <a:avLst/>
          </a:prstGeom>
        </p:spPr>
      </p:pic>
      <p:sp>
        <p:nvSpPr>
          <p:cNvPr id="12" name="Shape 9"/>
          <p:cNvSpPr/>
          <p:nvPr/>
        </p:nvSpPr>
        <p:spPr>
          <a:xfrm>
            <a:off x="685800" y="2935224"/>
            <a:ext cx="82296" cy="82296"/>
          </a:xfrm>
          <a:prstGeom prst="ellipse">
            <a:avLst/>
          </a:prstGeom>
          <a:solidFill>
            <a:srgbClr val="0A84FF"/>
          </a:solidFill>
          <a:ln/>
        </p:spPr>
      </p:sp>
      <p:sp>
        <p:nvSpPr>
          <p:cNvPr id="13" name="Text 10"/>
          <p:cNvSpPr/>
          <p:nvPr/>
        </p:nvSpPr>
        <p:spPr>
          <a:xfrm>
            <a:off x="914400" y="2807208"/>
            <a:ext cx="6949440" cy="365760"/>
          </a:xfrm>
          <a:prstGeom prst="rect">
            <a:avLst/>
          </a:prstGeom>
          <a:noFill/>
          <a:ln/>
        </p:spPr>
        <p:txBody>
          <a:bodyPr wrap="square" lIns="0" tIns="0" rIns="0" bIns="0" rtlCol="0" anchor="ctr"/>
          <a:lstStyle/>
          <a:p>
            <a:pPr indent="0" marL="0">
              <a:buNone/>
            </a:pPr>
            <a:r>
              <a:rPr lang="en-US" sz="1300" dirty="0">
                <a:solidFill>
                  <a:srgbClr val="B9BDC1"/>
                </a:solidFill>
                <a:latin typeface="Calibri" pitchFamily="34" charset="0"/>
                <a:ea typeface="Calibri" pitchFamily="34" charset="-122"/>
                <a:cs typeface="Calibri" pitchFamily="34" charset="-120"/>
              </a:rPr>
              <a:t>Unified control of every room and device</a:t>
            </a:r>
            <a:endParaRPr lang="en-US" sz="1300" dirty="0"/>
          </a:p>
        </p:txBody>
      </p:sp>
      <p:sp>
        <p:nvSpPr>
          <p:cNvPr id="14" name="Shape 11"/>
          <p:cNvSpPr/>
          <p:nvPr/>
        </p:nvSpPr>
        <p:spPr>
          <a:xfrm>
            <a:off x="685800" y="3438144"/>
            <a:ext cx="82296" cy="82296"/>
          </a:xfrm>
          <a:prstGeom prst="ellipse">
            <a:avLst/>
          </a:prstGeom>
          <a:solidFill>
            <a:srgbClr val="0A84FF"/>
          </a:solidFill>
          <a:ln/>
        </p:spPr>
      </p:sp>
      <p:sp>
        <p:nvSpPr>
          <p:cNvPr id="15" name="Text 12"/>
          <p:cNvSpPr/>
          <p:nvPr/>
        </p:nvSpPr>
        <p:spPr>
          <a:xfrm>
            <a:off x="914400" y="3310128"/>
            <a:ext cx="6949440" cy="365760"/>
          </a:xfrm>
          <a:prstGeom prst="rect">
            <a:avLst/>
          </a:prstGeom>
          <a:noFill/>
          <a:ln/>
        </p:spPr>
        <p:txBody>
          <a:bodyPr wrap="square" lIns="0" tIns="0" rIns="0" bIns="0" rtlCol="0" anchor="ctr"/>
          <a:lstStyle/>
          <a:p>
            <a:pPr indent="0" marL="0">
              <a:buNone/>
            </a:pPr>
            <a:r>
              <a:rPr lang="en-US" sz="1300" dirty="0">
                <a:solidFill>
                  <a:srgbClr val="B9BDC1"/>
                </a:solidFill>
                <a:latin typeface="Calibri" pitchFamily="34" charset="0"/>
                <a:ea typeface="Calibri" pitchFamily="34" charset="-122"/>
                <a:cs typeface="Calibri" pitchFamily="34" charset="-120"/>
              </a:rPr>
              <a:t>Custom scenes, schedules and automations</a:t>
            </a:r>
            <a:endParaRPr lang="en-US" sz="1300" dirty="0"/>
          </a:p>
        </p:txBody>
      </p:sp>
      <p:sp>
        <p:nvSpPr>
          <p:cNvPr id="16" name="Shape 13"/>
          <p:cNvSpPr/>
          <p:nvPr/>
        </p:nvSpPr>
        <p:spPr>
          <a:xfrm>
            <a:off x="685800" y="3941064"/>
            <a:ext cx="82296" cy="82296"/>
          </a:xfrm>
          <a:prstGeom prst="ellipse">
            <a:avLst/>
          </a:prstGeom>
          <a:solidFill>
            <a:srgbClr val="0A84FF"/>
          </a:solidFill>
          <a:ln/>
        </p:spPr>
      </p:sp>
      <p:sp>
        <p:nvSpPr>
          <p:cNvPr id="17" name="Text 14"/>
          <p:cNvSpPr/>
          <p:nvPr/>
        </p:nvSpPr>
        <p:spPr>
          <a:xfrm>
            <a:off x="914400" y="3813048"/>
            <a:ext cx="6949440" cy="365760"/>
          </a:xfrm>
          <a:prstGeom prst="rect">
            <a:avLst/>
          </a:prstGeom>
          <a:noFill/>
          <a:ln/>
        </p:spPr>
        <p:txBody>
          <a:bodyPr wrap="square" lIns="0" tIns="0" rIns="0" bIns="0" rtlCol="0" anchor="ctr"/>
          <a:lstStyle/>
          <a:p>
            <a:pPr indent="0" marL="0">
              <a:buNone/>
            </a:pPr>
            <a:r>
              <a:rPr lang="en-US" sz="1300" dirty="0">
                <a:solidFill>
                  <a:srgbClr val="B9BDC1"/>
                </a:solidFill>
                <a:latin typeface="Calibri" pitchFamily="34" charset="0"/>
                <a:ea typeface="Calibri" pitchFamily="34" charset="-122"/>
                <a:cs typeface="Calibri" pitchFamily="34" charset="-120"/>
              </a:rPr>
              <a:t>Real-time security, energy and health monitoring</a:t>
            </a:r>
            <a:endParaRPr lang="en-US" sz="1300" dirty="0"/>
          </a:p>
        </p:txBody>
      </p:sp>
      <p:sp>
        <p:nvSpPr>
          <p:cNvPr id="18" name="Shape 15"/>
          <p:cNvSpPr/>
          <p:nvPr/>
        </p:nvSpPr>
        <p:spPr>
          <a:xfrm>
            <a:off x="685800" y="4443984"/>
            <a:ext cx="82296" cy="82296"/>
          </a:xfrm>
          <a:prstGeom prst="ellipse">
            <a:avLst/>
          </a:prstGeom>
          <a:solidFill>
            <a:srgbClr val="0A84FF"/>
          </a:solidFill>
          <a:ln/>
        </p:spPr>
      </p:sp>
      <p:sp>
        <p:nvSpPr>
          <p:cNvPr id="19" name="Text 16"/>
          <p:cNvSpPr/>
          <p:nvPr/>
        </p:nvSpPr>
        <p:spPr>
          <a:xfrm>
            <a:off x="914400" y="4315968"/>
            <a:ext cx="6949440" cy="365760"/>
          </a:xfrm>
          <a:prstGeom prst="rect">
            <a:avLst/>
          </a:prstGeom>
          <a:noFill/>
          <a:ln/>
        </p:spPr>
        <p:txBody>
          <a:bodyPr wrap="square" lIns="0" tIns="0" rIns="0" bIns="0" rtlCol="0" anchor="ctr"/>
          <a:lstStyle/>
          <a:p>
            <a:pPr indent="0" marL="0">
              <a:buNone/>
            </a:pPr>
            <a:r>
              <a:rPr lang="en-US" sz="1300" dirty="0">
                <a:solidFill>
                  <a:srgbClr val="B9BDC1"/>
                </a:solidFill>
                <a:latin typeface="Calibri" pitchFamily="34" charset="0"/>
                <a:ea typeface="Calibri" pitchFamily="34" charset="-122"/>
                <a:cs typeface="Calibri" pitchFamily="34" charset="-120"/>
              </a:rPr>
              <a:t>Shared access for family, guests and staff</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AI AUTOMATION</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25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22 — AI AUTOMATION</a:t>
            </a:r>
            <a:endParaRPr lang="en-US" sz="1300" dirty="0"/>
          </a:p>
        </p:txBody>
      </p:sp>
      <p:sp>
        <p:nvSpPr>
          <p:cNvPr id="9" name="Text 7"/>
          <p:cNvSpPr/>
          <p:nvPr/>
        </p:nvSpPr>
        <p:spPr>
          <a:xfrm>
            <a:off x="640080" y="1344168"/>
            <a:ext cx="10881360" cy="1463040"/>
          </a:xfrm>
          <a:prstGeom prst="rect">
            <a:avLst/>
          </a:prstGeom>
          <a:noFill/>
          <a:ln/>
        </p:spPr>
        <p:txBody>
          <a:bodyPr wrap="square" lIns="0" tIns="0" rIns="0" bIns="0" rtlCol="0" anchor="ctr"/>
          <a:lstStyle/>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Automations That</a:t>
            </a:r>
            <a:endParaRPr lang="en-US" sz="3200" dirty="0"/>
          </a:p>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Run Themselves</a:t>
            </a:r>
            <a:endParaRPr lang="en-US" sz="3200" dirty="0"/>
          </a:p>
        </p:txBody>
      </p:sp>
      <p:sp>
        <p:nvSpPr>
          <p:cNvPr id="10" name="Shape 8"/>
          <p:cNvSpPr/>
          <p:nvPr/>
        </p:nvSpPr>
        <p:spPr>
          <a:xfrm>
            <a:off x="685800" y="2514600"/>
            <a:ext cx="5289804" cy="1677924"/>
          </a:xfrm>
          <a:prstGeom prst="roundRect">
            <a:avLst>
              <a:gd name="adj" fmla="val 4905"/>
            </a:avLst>
          </a:prstGeom>
          <a:solidFill>
            <a:srgbClr val="141417"/>
          </a:solidFill>
          <a:ln w="12700">
            <a:solidFill>
              <a:srgbClr val="242528"/>
            </a:solidFill>
            <a:prstDash val="solid"/>
          </a:ln>
        </p:spPr>
      </p:sp>
      <p:sp>
        <p:nvSpPr>
          <p:cNvPr id="11" name="Shape 9"/>
          <p:cNvSpPr/>
          <p:nvPr/>
        </p:nvSpPr>
        <p:spPr>
          <a:xfrm>
            <a:off x="905256" y="2715768"/>
            <a:ext cx="566928" cy="566928"/>
          </a:xfrm>
          <a:prstGeom prst="ellipse">
            <a:avLst/>
          </a:prstGeom>
          <a:solidFill>
            <a:srgbClr val="1B1C1F"/>
          </a:solidFill>
          <a:ln w="12700">
            <a:solidFill>
              <a:srgbClr val="2C2D30"/>
            </a:solidFill>
            <a:prstDash val="solid"/>
          </a:ln>
        </p:spPr>
      </p:sp>
      <p:pic>
        <p:nvPicPr>
          <p:cNvPr id="12" name="Image 0" descr="preencoded.png">    </p:cNvPr>
          <p:cNvPicPr>
            <a:picLocks noChangeAspect="1"/>
          </p:cNvPicPr>
          <p:nvPr/>
        </p:nvPicPr>
        <p:blipFill>
          <a:blip r:embed="rId1"/>
          <a:stretch>
            <a:fillRect/>
          </a:stretch>
        </p:blipFill>
        <p:spPr>
          <a:xfrm>
            <a:off x="1052657" y="2863169"/>
            <a:ext cx="272125" cy="272125"/>
          </a:xfrm>
          <a:prstGeom prst="rect">
            <a:avLst/>
          </a:prstGeom>
        </p:spPr>
      </p:pic>
      <p:sp>
        <p:nvSpPr>
          <p:cNvPr id="13" name="Text 10"/>
          <p:cNvSpPr/>
          <p:nvPr/>
        </p:nvSpPr>
        <p:spPr>
          <a:xfrm>
            <a:off x="905256" y="3410712"/>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Scenes</a:t>
            </a:r>
            <a:endParaRPr lang="en-US" sz="1450" dirty="0"/>
          </a:p>
        </p:txBody>
      </p:sp>
      <p:sp>
        <p:nvSpPr>
          <p:cNvPr id="14" name="Text 11"/>
          <p:cNvSpPr/>
          <p:nvPr/>
        </p:nvSpPr>
        <p:spPr>
          <a:xfrm>
            <a:off x="905256" y="3739896"/>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One tap adjusts light, climate, security and sound.</a:t>
            </a:r>
            <a:endParaRPr lang="en-US" sz="1050" dirty="0"/>
          </a:p>
        </p:txBody>
      </p:sp>
      <p:sp>
        <p:nvSpPr>
          <p:cNvPr id="15" name="Shape 12"/>
          <p:cNvSpPr/>
          <p:nvPr/>
        </p:nvSpPr>
        <p:spPr>
          <a:xfrm>
            <a:off x="6231636" y="2514600"/>
            <a:ext cx="5289804" cy="1677924"/>
          </a:xfrm>
          <a:prstGeom prst="roundRect">
            <a:avLst>
              <a:gd name="adj" fmla="val 4905"/>
            </a:avLst>
          </a:prstGeom>
          <a:solidFill>
            <a:srgbClr val="141417"/>
          </a:solidFill>
          <a:ln w="12700">
            <a:solidFill>
              <a:srgbClr val="242528"/>
            </a:solidFill>
            <a:prstDash val="solid"/>
          </a:ln>
        </p:spPr>
      </p:sp>
      <p:sp>
        <p:nvSpPr>
          <p:cNvPr id="16" name="Shape 13"/>
          <p:cNvSpPr/>
          <p:nvPr/>
        </p:nvSpPr>
        <p:spPr>
          <a:xfrm>
            <a:off x="6451092" y="2715768"/>
            <a:ext cx="566928" cy="566928"/>
          </a:xfrm>
          <a:prstGeom prst="ellipse">
            <a:avLst/>
          </a:prstGeom>
          <a:solidFill>
            <a:srgbClr val="1B1C1F"/>
          </a:solidFill>
          <a:ln w="12700">
            <a:solidFill>
              <a:srgbClr val="2C2D30"/>
            </a:solidFill>
            <a:prstDash val="solid"/>
          </a:ln>
        </p:spPr>
      </p:sp>
      <p:pic>
        <p:nvPicPr>
          <p:cNvPr id="17" name="Image 1" descr="preencoded.png">    </p:cNvPr>
          <p:cNvPicPr>
            <a:picLocks noChangeAspect="1"/>
          </p:cNvPicPr>
          <p:nvPr/>
        </p:nvPicPr>
        <p:blipFill>
          <a:blip r:embed="rId2"/>
          <a:stretch>
            <a:fillRect/>
          </a:stretch>
        </p:blipFill>
        <p:spPr>
          <a:xfrm>
            <a:off x="6598493" y="2863169"/>
            <a:ext cx="272125" cy="272125"/>
          </a:xfrm>
          <a:prstGeom prst="rect">
            <a:avLst/>
          </a:prstGeom>
        </p:spPr>
      </p:pic>
      <p:sp>
        <p:nvSpPr>
          <p:cNvPr id="18" name="Text 14"/>
          <p:cNvSpPr/>
          <p:nvPr/>
        </p:nvSpPr>
        <p:spPr>
          <a:xfrm>
            <a:off x="6451092" y="3410712"/>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Predictive Routines</a:t>
            </a:r>
            <a:endParaRPr lang="en-US" sz="1450" dirty="0"/>
          </a:p>
        </p:txBody>
      </p:sp>
      <p:sp>
        <p:nvSpPr>
          <p:cNvPr id="19" name="Text 15"/>
          <p:cNvSpPr/>
          <p:nvPr/>
        </p:nvSpPr>
        <p:spPr>
          <a:xfrm>
            <a:off x="6451092" y="3739896"/>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Learns daily patterns and adapts automatically.</a:t>
            </a:r>
            <a:endParaRPr lang="en-US" sz="1050" dirty="0"/>
          </a:p>
        </p:txBody>
      </p:sp>
      <p:sp>
        <p:nvSpPr>
          <p:cNvPr id="20" name="Shape 16"/>
          <p:cNvSpPr/>
          <p:nvPr/>
        </p:nvSpPr>
        <p:spPr>
          <a:xfrm>
            <a:off x="685800" y="4448556"/>
            <a:ext cx="5289804" cy="1677924"/>
          </a:xfrm>
          <a:prstGeom prst="roundRect">
            <a:avLst>
              <a:gd name="adj" fmla="val 4905"/>
            </a:avLst>
          </a:prstGeom>
          <a:solidFill>
            <a:srgbClr val="141417"/>
          </a:solidFill>
          <a:ln w="12700">
            <a:solidFill>
              <a:srgbClr val="242528"/>
            </a:solidFill>
            <a:prstDash val="solid"/>
          </a:ln>
        </p:spPr>
      </p:sp>
      <p:sp>
        <p:nvSpPr>
          <p:cNvPr id="21" name="Shape 17"/>
          <p:cNvSpPr/>
          <p:nvPr/>
        </p:nvSpPr>
        <p:spPr>
          <a:xfrm>
            <a:off x="905256" y="4649724"/>
            <a:ext cx="566928" cy="566928"/>
          </a:xfrm>
          <a:prstGeom prst="ellipse">
            <a:avLst/>
          </a:prstGeom>
          <a:solidFill>
            <a:srgbClr val="1B1C1F"/>
          </a:solidFill>
          <a:ln w="12700">
            <a:solidFill>
              <a:srgbClr val="2C2D30"/>
            </a:solidFill>
            <a:prstDash val="solid"/>
          </a:ln>
        </p:spPr>
      </p:sp>
      <p:pic>
        <p:nvPicPr>
          <p:cNvPr id="22" name="Image 2" descr="preencoded.png">    </p:cNvPr>
          <p:cNvPicPr>
            <a:picLocks noChangeAspect="1"/>
          </p:cNvPicPr>
          <p:nvPr/>
        </p:nvPicPr>
        <p:blipFill>
          <a:blip r:embed="rId3"/>
          <a:stretch>
            <a:fillRect/>
          </a:stretch>
        </p:blipFill>
        <p:spPr>
          <a:xfrm>
            <a:off x="1052657" y="4797125"/>
            <a:ext cx="272125" cy="272125"/>
          </a:xfrm>
          <a:prstGeom prst="rect">
            <a:avLst/>
          </a:prstGeom>
        </p:spPr>
      </p:pic>
      <p:sp>
        <p:nvSpPr>
          <p:cNvPr id="23" name="Text 18"/>
          <p:cNvSpPr/>
          <p:nvPr/>
        </p:nvSpPr>
        <p:spPr>
          <a:xfrm>
            <a:off x="905256" y="5344668"/>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Adaptive Security</a:t>
            </a:r>
            <a:endParaRPr lang="en-US" sz="1450" dirty="0"/>
          </a:p>
        </p:txBody>
      </p:sp>
      <p:sp>
        <p:nvSpPr>
          <p:cNvPr id="24" name="Text 19"/>
          <p:cNvSpPr/>
          <p:nvPr/>
        </p:nvSpPr>
        <p:spPr>
          <a:xfrm>
            <a:off x="905256" y="5673852"/>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Behavior-aware alerts that reduce false positives.</a:t>
            </a:r>
            <a:endParaRPr lang="en-US" sz="1050" dirty="0"/>
          </a:p>
        </p:txBody>
      </p:sp>
      <p:sp>
        <p:nvSpPr>
          <p:cNvPr id="25" name="Shape 20"/>
          <p:cNvSpPr/>
          <p:nvPr/>
        </p:nvSpPr>
        <p:spPr>
          <a:xfrm>
            <a:off x="6231636" y="4448556"/>
            <a:ext cx="5289804" cy="1677924"/>
          </a:xfrm>
          <a:prstGeom prst="roundRect">
            <a:avLst>
              <a:gd name="adj" fmla="val 4905"/>
            </a:avLst>
          </a:prstGeom>
          <a:solidFill>
            <a:srgbClr val="141417"/>
          </a:solidFill>
          <a:ln w="12700">
            <a:solidFill>
              <a:srgbClr val="242528"/>
            </a:solidFill>
            <a:prstDash val="solid"/>
          </a:ln>
        </p:spPr>
      </p:sp>
      <p:sp>
        <p:nvSpPr>
          <p:cNvPr id="26" name="Shape 21"/>
          <p:cNvSpPr/>
          <p:nvPr/>
        </p:nvSpPr>
        <p:spPr>
          <a:xfrm>
            <a:off x="6451092" y="4649724"/>
            <a:ext cx="566928" cy="566928"/>
          </a:xfrm>
          <a:prstGeom prst="ellipse">
            <a:avLst/>
          </a:prstGeom>
          <a:solidFill>
            <a:srgbClr val="1B1C1F"/>
          </a:solidFill>
          <a:ln w="12700">
            <a:solidFill>
              <a:srgbClr val="2C2D30"/>
            </a:solidFill>
            <a:prstDash val="solid"/>
          </a:ln>
        </p:spPr>
      </p:sp>
      <p:pic>
        <p:nvPicPr>
          <p:cNvPr id="27" name="Image 3" descr="preencoded.png">    </p:cNvPr>
          <p:cNvPicPr>
            <a:picLocks noChangeAspect="1"/>
          </p:cNvPicPr>
          <p:nvPr/>
        </p:nvPicPr>
        <p:blipFill>
          <a:blip r:embed="rId4"/>
          <a:stretch>
            <a:fillRect/>
          </a:stretch>
        </p:blipFill>
        <p:spPr>
          <a:xfrm>
            <a:off x="6598493" y="4797125"/>
            <a:ext cx="272125" cy="272125"/>
          </a:xfrm>
          <a:prstGeom prst="rect">
            <a:avLst/>
          </a:prstGeom>
        </p:spPr>
      </p:pic>
      <p:sp>
        <p:nvSpPr>
          <p:cNvPr id="28" name="Text 22"/>
          <p:cNvSpPr/>
          <p:nvPr/>
        </p:nvSpPr>
        <p:spPr>
          <a:xfrm>
            <a:off x="6451092" y="5344668"/>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Energy Intelligence</a:t>
            </a:r>
            <a:endParaRPr lang="en-US" sz="1450" dirty="0"/>
          </a:p>
        </p:txBody>
      </p:sp>
      <p:sp>
        <p:nvSpPr>
          <p:cNvPr id="29" name="Text 23"/>
          <p:cNvSpPr/>
          <p:nvPr/>
        </p:nvSpPr>
        <p:spPr>
          <a:xfrm>
            <a:off x="6451092" y="5673852"/>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Automatic optimization of consumption and cost.</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26 / 37   —   SYNTRA SMART GLOBAL COMPANY PROFILE</a:t>
            </a:r>
            <a:endParaRPr lang="en-US" sz="800" dirty="0"/>
          </a:p>
        </p:txBody>
      </p:sp>
      <p:sp>
        <p:nvSpPr>
          <p:cNvPr id="6" name="Text 4"/>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7" name="Text 5"/>
          <p:cNvSpPr/>
          <p:nvPr/>
        </p:nvSpPr>
        <p:spPr>
          <a:xfrm>
            <a:off x="502920" y="1691640"/>
            <a:ext cx="7315200" cy="1828800"/>
          </a:xfrm>
          <a:prstGeom prst="rect">
            <a:avLst/>
          </a:prstGeom>
          <a:noFill/>
          <a:ln/>
        </p:spPr>
        <p:txBody>
          <a:bodyPr wrap="square" lIns="0" tIns="0" rIns="0" bIns="0" rtlCol="0" anchor="ctr"/>
          <a:lstStyle/>
          <a:p>
            <a:pPr indent="0" marL="0">
              <a:buNone/>
            </a:pPr>
            <a:r>
              <a:rPr lang="en-US" sz="15000" b="1" dirty="0">
                <a:solidFill>
                  <a:srgbClr val="1A1B1E"/>
                </a:solidFill>
                <a:latin typeface="Arial" pitchFamily="34" charset="0"/>
                <a:ea typeface="Arial" pitchFamily="34" charset="-122"/>
                <a:cs typeface="Arial" pitchFamily="34" charset="-120"/>
              </a:rPr>
              <a:t>23</a:t>
            </a:r>
            <a:endParaRPr lang="en-US" sz="15000" dirty="0"/>
          </a:p>
        </p:txBody>
      </p:sp>
      <p:sp>
        <p:nvSpPr>
          <p:cNvPr id="8" name="Text 6"/>
          <p:cNvSpPr/>
          <p:nvPr/>
        </p:nvSpPr>
        <p:spPr>
          <a:xfrm>
            <a:off x="685800" y="3246120"/>
            <a:ext cx="9144000" cy="365760"/>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INDUSTRIES</a:t>
            </a:r>
            <a:endParaRPr lang="en-US" sz="1300" dirty="0"/>
          </a:p>
        </p:txBody>
      </p:sp>
      <p:sp>
        <p:nvSpPr>
          <p:cNvPr id="9" name="Text 7"/>
          <p:cNvSpPr/>
          <p:nvPr/>
        </p:nvSpPr>
        <p:spPr>
          <a:xfrm>
            <a:off x="685800" y="3639312"/>
            <a:ext cx="10515600" cy="1371600"/>
          </a:xfrm>
          <a:prstGeom prst="rect">
            <a:avLst/>
          </a:prstGeom>
          <a:noFill/>
          <a:ln/>
        </p:spPr>
        <p:txBody>
          <a:bodyPr wrap="square" lIns="0" tIns="0" rIns="0" bIns="0" rtlCol="0" anchor="ctr"/>
          <a:lstStyle/>
          <a:p>
            <a:pPr indent="0" marL="0">
              <a:lnSpc>
                <a:spcPts val="4800"/>
              </a:lnSpc>
              <a:buNone/>
            </a:pPr>
            <a:r>
              <a:rPr lang="en-US" sz="4600" b="1" dirty="0">
                <a:solidFill>
                  <a:srgbClr val="FFFFFF"/>
                </a:solidFill>
                <a:latin typeface="Arial" pitchFamily="34" charset="0"/>
                <a:ea typeface="Arial" pitchFamily="34" charset="-122"/>
                <a:cs typeface="Arial" pitchFamily="34" charset="-120"/>
              </a:rPr>
              <a:t>Where SYNTRA Lives</a:t>
            </a:r>
            <a:endParaRPr lang="en-US" sz="4600" dirty="0"/>
          </a:p>
        </p:txBody>
      </p:sp>
      <p:sp>
        <p:nvSpPr>
          <p:cNvPr id="10" name="Text 8"/>
          <p:cNvSpPr/>
          <p:nvPr/>
        </p:nvSpPr>
        <p:spPr>
          <a:xfrm>
            <a:off x="685800" y="4892040"/>
            <a:ext cx="8229600" cy="640080"/>
          </a:xfrm>
          <a:prstGeom prst="rect">
            <a:avLst/>
          </a:prstGeom>
          <a:noFill/>
          <a:ln/>
        </p:spPr>
        <p:txBody>
          <a:bodyPr wrap="square" lIns="0" tIns="0" rIns="0" bIns="0" rtlCol="0" anchor="ctr"/>
          <a:lstStyle/>
          <a:p>
            <a:pPr indent="0" marL="0">
              <a:lnSpc>
                <a:spcPct val="130000"/>
              </a:lnSpc>
              <a:buNone/>
            </a:pPr>
            <a:r>
              <a:rPr lang="en-US" sz="1400" dirty="0">
                <a:solidFill>
                  <a:srgbClr val="C9CCCF"/>
                </a:solidFill>
                <a:latin typeface="Calibri" pitchFamily="34" charset="0"/>
                <a:ea typeface="Calibri" pitchFamily="34" charset="-122"/>
                <a:cs typeface="Calibri" pitchFamily="34" charset="-120"/>
              </a:rPr>
              <a:t>One ecosystem, engineered to scale from a single room to an entire city.</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INDUSTRIES WE SERVE</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27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23 — INDUSTRIES WE SERVE</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120"/>
              </a:lnSpc>
              <a:buNone/>
            </a:pPr>
            <a:r>
              <a:rPr lang="en-US" sz="3000" b="1" dirty="0">
                <a:solidFill>
                  <a:srgbClr val="FFFFFF"/>
                </a:solidFill>
                <a:latin typeface="Arial" pitchFamily="34" charset="0"/>
                <a:ea typeface="Arial" pitchFamily="34" charset="-122"/>
                <a:cs typeface="Arial" pitchFamily="34" charset="-120"/>
              </a:rPr>
              <a:t>Built to Scale Across Every Sector</a:t>
            </a:r>
            <a:endParaRPr lang="en-US" sz="3000" dirty="0"/>
          </a:p>
        </p:txBody>
      </p:sp>
      <p:sp>
        <p:nvSpPr>
          <p:cNvPr id="10" name="Shape 8"/>
          <p:cNvSpPr/>
          <p:nvPr/>
        </p:nvSpPr>
        <p:spPr>
          <a:xfrm>
            <a:off x="685800" y="2331720"/>
            <a:ext cx="2516886" cy="1769364"/>
          </a:xfrm>
          <a:prstGeom prst="roundRect">
            <a:avLst>
              <a:gd name="adj" fmla="val 4651"/>
            </a:avLst>
          </a:prstGeom>
          <a:solidFill>
            <a:srgbClr val="141417"/>
          </a:solidFill>
          <a:ln w="12700">
            <a:solidFill>
              <a:srgbClr val="242528"/>
            </a:solidFill>
            <a:prstDash val="solid"/>
          </a:ln>
        </p:spPr>
      </p:sp>
      <p:sp>
        <p:nvSpPr>
          <p:cNvPr id="11" name="Shape 9"/>
          <p:cNvSpPr/>
          <p:nvPr/>
        </p:nvSpPr>
        <p:spPr>
          <a:xfrm>
            <a:off x="905256" y="2532888"/>
            <a:ext cx="457200" cy="457200"/>
          </a:xfrm>
          <a:prstGeom prst="ellipse">
            <a:avLst/>
          </a:prstGeom>
          <a:solidFill>
            <a:srgbClr val="1B1C1F"/>
          </a:solidFill>
          <a:ln w="12700">
            <a:solidFill>
              <a:srgbClr val="2C2D30"/>
            </a:solidFill>
            <a:prstDash val="solid"/>
          </a:ln>
        </p:spPr>
      </p:sp>
      <p:pic>
        <p:nvPicPr>
          <p:cNvPr id="12" name="Image 0" descr="preencoded.png">    </p:cNvPr>
          <p:cNvPicPr>
            <a:picLocks noChangeAspect="1"/>
          </p:cNvPicPr>
          <p:nvPr/>
        </p:nvPicPr>
        <p:blipFill>
          <a:blip r:embed="rId1"/>
          <a:stretch>
            <a:fillRect/>
          </a:stretch>
        </p:blipFill>
        <p:spPr>
          <a:xfrm>
            <a:off x="1024128" y="2651760"/>
            <a:ext cx="219456" cy="219456"/>
          </a:xfrm>
          <a:prstGeom prst="rect">
            <a:avLst/>
          </a:prstGeom>
        </p:spPr>
      </p:pic>
      <p:sp>
        <p:nvSpPr>
          <p:cNvPr id="13" name="Text 10"/>
          <p:cNvSpPr/>
          <p:nvPr/>
        </p:nvSpPr>
        <p:spPr>
          <a:xfrm>
            <a:off x="905256" y="311810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Residential</a:t>
            </a:r>
            <a:endParaRPr lang="en-US" sz="1250" dirty="0"/>
          </a:p>
        </p:txBody>
      </p:sp>
      <p:sp>
        <p:nvSpPr>
          <p:cNvPr id="14" name="Text 11"/>
          <p:cNvSpPr/>
          <p:nvPr/>
        </p:nvSpPr>
        <p:spPr>
          <a:xfrm>
            <a:off x="905256" y="3447288"/>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Villas, apartments and smart communities.</a:t>
            </a:r>
            <a:endParaRPr lang="en-US" sz="950" dirty="0"/>
          </a:p>
        </p:txBody>
      </p:sp>
      <p:sp>
        <p:nvSpPr>
          <p:cNvPr id="15" name="Shape 12"/>
          <p:cNvSpPr/>
          <p:nvPr/>
        </p:nvSpPr>
        <p:spPr>
          <a:xfrm>
            <a:off x="3458718" y="2331720"/>
            <a:ext cx="2516886" cy="1769364"/>
          </a:xfrm>
          <a:prstGeom prst="roundRect">
            <a:avLst>
              <a:gd name="adj" fmla="val 4651"/>
            </a:avLst>
          </a:prstGeom>
          <a:solidFill>
            <a:srgbClr val="141417"/>
          </a:solidFill>
          <a:ln w="12700">
            <a:solidFill>
              <a:srgbClr val="242528"/>
            </a:solidFill>
            <a:prstDash val="solid"/>
          </a:ln>
        </p:spPr>
      </p:sp>
      <p:sp>
        <p:nvSpPr>
          <p:cNvPr id="16" name="Shape 13"/>
          <p:cNvSpPr/>
          <p:nvPr/>
        </p:nvSpPr>
        <p:spPr>
          <a:xfrm>
            <a:off x="3678174" y="2532888"/>
            <a:ext cx="457200" cy="457200"/>
          </a:xfrm>
          <a:prstGeom prst="ellipse">
            <a:avLst/>
          </a:prstGeom>
          <a:solidFill>
            <a:srgbClr val="1B1C1F"/>
          </a:solidFill>
          <a:ln w="12700">
            <a:solidFill>
              <a:srgbClr val="2C2D30"/>
            </a:solidFill>
            <a:prstDash val="solid"/>
          </a:ln>
        </p:spPr>
      </p:sp>
      <p:pic>
        <p:nvPicPr>
          <p:cNvPr id="17" name="Image 1" descr="preencoded.png">    </p:cNvPr>
          <p:cNvPicPr>
            <a:picLocks noChangeAspect="1"/>
          </p:cNvPicPr>
          <p:nvPr/>
        </p:nvPicPr>
        <p:blipFill>
          <a:blip r:embed="rId2"/>
          <a:stretch>
            <a:fillRect/>
          </a:stretch>
        </p:blipFill>
        <p:spPr>
          <a:xfrm>
            <a:off x="3797046" y="2651760"/>
            <a:ext cx="219456" cy="219456"/>
          </a:xfrm>
          <a:prstGeom prst="rect">
            <a:avLst/>
          </a:prstGeom>
        </p:spPr>
      </p:pic>
      <p:sp>
        <p:nvSpPr>
          <p:cNvPr id="18" name="Text 14"/>
          <p:cNvSpPr/>
          <p:nvPr/>
        </p:nvSpPr>
        <p:spPr>
          <a:xfrm>
            <a:off x="3678174" y="311810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Commercial</a:t>
            </a:r>
            <a:endParaRPr lang="en-US" sz="1250" dirty="0"/>
          </a:p>
        </p:txBody>
      </p:sp>
      <p:sp>
        <p:nvSpPr>
          <p:cNvPr id="19" name="Text 15"/>
          <p:cNvSpPr/>
          <p:nvPr/>
        </p:nvSpPr>
        <p:spPr>
          <a:xfrm>
            <a:off x="3678174" y="3447288"/>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Offices, retail and mixed-use developments.</a:t>
            </a:r>
            <a:endParaRPr lang="en-US" sz="950" dirty="0"/>
          </a:p>
        </p:txBody>
      </p:sp>
      <p:sp>
        <p:nvSpPr>
          <p:cNvPr id="20" name="Shape 16"/>
          <p:cNvSpPr/>
          <p:nvPr/>
        </p:nvSpPr>
        <p:spPr>
          <a:xfrm>
            <a:off x="6231636" y="2331720"/>
            <a:ext cx="2516886" cy="1769364"/>
          </a:xfrm>
          <a:prstGeom prst="roundRect">
            <a:avLst>
              <a:gd name="adj" fmla="val 4651"/>
            </a:avLst>
          </a:prstGeom>
          <a:solidFill>
            <a:srgbClr val="141417"/>
          </a:solidFill>
          <a:ln w="12700">
            <a:solidFill>
              <a:srgbClr val="242528"/>
            </a:solidFill>
            <a:prstDash val="solid"/>
          </a:ln>
        </p:spPr>
      </p:sp>
      <p:sp>
        <p:nvSpPr>
          <p:cNvPr id="21" name="Shape 17"/>
          <p:cNvSpPr/>
          <p:nvPr/>
        </p:nvSpPr>
        <p:spPr>
          <a:xfrm>
            <a:off x="6451092" y="2532888"/>
            <a:ext cx="457200" cy="457200"/>
          </a:xfrm>
          <a:prstGeom prst="ellipse">
            <a:avLst/>
          </a:prstGeom>
          <a:solidFill>
            <a:srgbClr val="1B1C1F"/>
          </a:solidFill>
          <a:ln w="12700">
            <a:solidFill>
              <a:srgbClr val="2C2D30"/>
            </a:solidFill>
            <a:prstDash val="solid"/>
          </a:ln>
        </p:spPr>
      </p:sp>
      <p:pic>
        <p:nvPicPr>
          <p:cNvPr id="22" name="Image 2" descr="preencoded.png">    </p:cNvPr>
          <p:cNvPicPr>
            <a:picLocks noChangeAspect="1"/>
          </p:cNvPicPr>
          <p:nvPr/>
        </p:nvPicPr>
        <p:blipFill>
          <a:blip r:embed="rId3"/>
          <a:stretch>
            <a:fillRect/>
          </a:stretch>
        </p:blipFill>
        <p:spPr>
          <a:xfrm>
            <a:off x="6569964" y="2651760"/>
            <a:ext cx="219456" cy="219456"/>
          </a:xfrm>
          <a:prstGeom prst="rect">
            <a:avLst/>
          </a:prstGeom>
        </p:spPr>
      </p:pic>
      <p:sp>
        <p:nvSpPr>
          <p:cNvPr id="23" name="Text 18"/>
          <p:cNvSpPr/>
          <p:nvPr/>
        </p:nvSpPr>
        <p:spPr>
          <a:xfrm>
            <a:off x="6451092" y="311810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Hotels</a:t>
            </a:r>
            <a:endParaRPr lang="en-US" sz="1250" dirty="0"/>
          </a:p>
        </p:txBody>
      </p:sp>
      <p:sp>
        <p:nvSpPr>
          <p:cNvPr id="24" name="Text 19"/>
          <p:cNvSpPr/>
          <p:nvPr/>
        </p:nvSpPr>
        <p:spPr>
          <a:xfrm>
            <a:off x="6451092" y="3447288"/>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Guest-room automation and centralized property control.</a:t>
            </a:r>
            <a:endParaRPr lang="en-US" sz="950" dirty="0"/>
          </a:p>
        </p:txBody>
      </p:sp>
      <p:sp>
        <p:nvSpPr>
          <p:cNvPr id="25" name="Shape 20"/>
          <p:cNvSpPr/>
          <p:nvPr/>
        </p:nvSpPr>
        <p:spPr>
          <a:xfrm>
            <a:off x="9004554" y="2331720"/>
            <a:ext cx="2516886" cy="1769364"/>
          </a:xfrm>
          <a:prstGeom prst="roundRect">
            <a:avLst>
              <a:gd name="adj" fmla="val 4651"/>
            </a:avLst>
          </a:prstGeom>
          <a:solidFill>
            <a:srgbClr val="141417"/>
          </a:solidFill>
          <a:ln w="12700">
            <a:solidFill>
              <a:srgbClr val="242528"/>
            </a:solidFill>
            <a:prstDash val="solid"/>
          </a:ln>
        </p:spPr>
      </p:sp>
      <p:sp>
        <p:nvSpPr>
          <p:cNvPr id="26" name="Shape 21"/>
          <p:cNvSpPr/>
          <p:nvPr/>
        </p:nvSpPr>
        <p:spPr>
          <a:xfrm>
            <a:off x="9224010" y="2532888"/>
            <a:ext cx="457200" cy="457200"/>
          </a:xfrm>
          <a:prstGeom prst="ellipse">
            <a:avLst/>
          </a:prstGeom>
          <a:solidFill>
            <a:srgbClr val="1B1C1F"/>
          </a:solidFill>
          <a:ln w="12700">
            <a:solidFill>
              <a:srgbClr val="2C2D30"/>
            </a:solidFill>
            <a:prstDash val="solid"/>
          </a:ln>
        </p:spPr>
      </p:sp>
      <p:pic>
        <p:nvPicPr>
          <p:cNvPr id="27" name="Image 3" descr="preencoded.png">    </p:cNvPr>
          <p:cNvPicPr>
            <a:picLocks noChangeAspect="1"/>
          </p:cNvPicPr>
          <p:nvPr/>
        </p:nvPicPr>
        <p:blipFill>
          <a:blip r:embed="rId4"/>
          <a:stretch>
            <a:fillRect/>
          </a:stretch>
        </p:blipFill>
        <p:spPr>
          <a:xfrm>
            <a:off x="9342882" y="2651760"/>
            <a:ext cx="219456" cy="219456"/>
          </a:xfrm>
          <a:prstGeom prst="rect">
            <a:avLst/>
          </a:prstGeom>
        </p:spPr>
      </p:pic>
      <p:sp>
        <p:nvSpPr>
          <p:cNvPr id="28" name="Text 22"/>
          <p:cNvSpPr/>
          <p:nvPr/>
        </p:nvSpPr>
        <p:spPr>
          <a:xfrm>
            <a:off x="9224010" y="311810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Hospitals</a:t>
            </a:r>
            <a:endParaRPr lang="en-US" sz="1250" dirty="0"/>
          </a:p>
        </p:txBody>
      </p:sp>
      <p:sp>
        <p:nvSpPr>
          <p:cNvPr id="29" name="Text 23"/>
          <p:cNvSpPr/>
          <p:nvPr/>
        </p:nvSpPr>
        <p:spPr>
          <a:xfrm>
            <a:off x="9224010" y="3447288"/>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Reliable, secure automation for critical environments.</a:t>
            </a:r>
            <a:endParaRPr lang="en-US" sz="950" dirty="0"/>
          </a:p>
        </p:txBody>
      </p:sp>
      <p:sp>
        <p:nvSpPr>
          <p:cNvPr id="30" name="Shape 24"/>
          <p:cNvSpPr/>
          <p:nvPr/>
        </p:nvSpPr>
        <p:spPr>
          <a:xfrm>
            <a:off x="2072259" y="4357116"/>
            <a:ext cx="2516886" cy="1769364"/>
          </a:xfrm>
          <a:prstGeom prst="roundRect">
            <a:avLst>
              <a:gd name="adj" fmla="val 4651"/>
            </a:avLst>
          </a:prstGeom>
          <a:solidFill>
            <a:srgbClr val="141417"/>
          </a:solidFill>
          <a:ln w="12700">
            <a:solidFill>
              <a:srgbClr val="242528"/>
            </a:solidFill>
            <a:prstDash val="solid"/>
          </a:ln>
        </p:spPr>
      </p:sp>
      <p:sp>
        <p:nvSpPr>
          <p:cNvPr id="31" name="Shape 25"/>
          <p:cNvSpPr/>
          <p:nvPr/>
        </p:nvSpPr>
        <p:spPr>
          <a:xfrm>
            <a:off x="2291715" y="4558284"/>
            <a:ext cx="457200" cy="457200"/>
          </a:xfrm>
          <a:prstGeom prst="ellipse">
            <a:avLst/>
          </a:prstGeom>
          <a:solidFill>
            <a:srgbClr val="1B1C1F"/>
          </a:solidFill>
          <a:ln w="12700">
            <a:solidFill>
              <a:srgbClr val="2C2D30"/>
            </a:solidFill>
            <a:prstDash val="solid"/>
          </a:ln>
        </p:spPr>
      </p:sp>
      <p:pic>
        <p:nvPicPr>
          <p:cNvPr id="32" name="Image 4" descr="preencoded.png">    </p:cNvPr>
          <p:cNvPicPr>
            <a:picLocks noChangeAspect="1"/>
          </p:cNvPicPr>
          <p:nvPr/>
        </p:nvPicPr>
        <p:blipFill>
          <a:blip r:embed="rId5"/>
          <a:stretch>
            <a:fillRect/>
          </a:stretch>
        </p:blipFill>
        <p:spPr>
          <a:xfrm>
            <a:off x="2410587" y="4677156"/>
            <a:ext cx="219456" cy="219456"/>
          </a:xfrm>
          <a:prstGeom prst="rect">
            <a:avLst/>
          </a:prstGeom>
        </p:spPr>
      </p:pic>
      <p:sp>
        <p:nvSpPr>
          <p:cNvPr id="33" name="Text 26"/>
          <p:cNvSpPr/>
          <p:nvPr/>
        </p:nvSpPr>
        <p:spPr>
          <a:xfrm>
            <a:off x="2291715" y="5143500"/>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Schools</a:t>
            </a:r>
            <a:endParaRPr lang="en-US" sz="1250" dirty="0"/>
          </a:p>
        </p:txBody>
      </p:sp>
      <p:sp>
        <p:nvSpPr>
          <p:cNvPr id="34" name="Text 27"/>
          <p:cNvSpPr/>
          <p:nvPr/>
        </p:nvSpPr>
        <p:spPr>
          <a:xfrm>
            <a:off x="2291715" y="5472684"/>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Safety, climate and access control at scale.</a:t>
            </a:r>
            <a:endParaRPr lang="en-US" sz="950" dirty="0"/>
          </a:p>
        </p:txBody>
      </p:sp>
      <p:sp>
        <p:nvSpPr>
          <p:cNvPr id="35" name="Shape 28"/>
          <p:cNvSpPr/>
          <p:nvPr/>
        </p:nvSpPr>
        <p:spPr>
          <a:xfrm>
            <a:off x="4845177" y="4357116"/>
            <a:ext cx="2516886" cy="1769364"/>
          </a:xfrm>
          <a:prstGeom prst="roundRect">
            <a:avLst>
              <a:gd name="adj" fmla="val 4651"/>
            </a:avLst>
          </a:prstGeom>
          <a:solidFill>
            <a:srgbClr val="141417"/>
          </a:solidFill>
          <a:ln w="12700">
            <a:solidFill>
              <a:srgbClr val="242528"/>
            </a:solidFill>
            <a:prstDash val="solid"/>
          </a:ln>
        </p:spPr>
      </p:sp>
      <p:sp>
        <p:nvSpPr>
          <p:cNvPr id="36" name="Shape 29"/>
          <p:cNvSpPr/>
          <p:nvPr/>
        </p:nvSpPr>
        <p:spPr>
          <a:xfrm>
            <a:off x="5064633" y="4558284"/>
            <a:ext cx="457200" cy="457200"/>
          </a:xfrm>
          <a:prstGeom prst="ellipse">
            <a:avLst/>
          </a:prstGeom>
          <a:solidFill>
            <a:srgbClr val="1B1C1F"/>
          </a:solidFill>
          <a:ln w="12700">
            <a:solidFill>
              <a:srgbClr val="2C2D30"/>
            </a:solidFill>
            <a:prstDash val="solid"/>
          </a:ln>
        </p:spPr>
      </p:sp>
      <p:pic>
        <p:nvPicPr>
          <p:cNvPr id="37" name="Image 5" descr="preencoded.png">    </p:cNvPr>
          <p:cNvPicPr>
            <a:picLocks noChangeAspect="1"/>
          </p:cNvPicPr>
          <p:nvPr/>
        </p:nvPicPr>
        <p:blipFill>
          <a:blip r:embed="rId6"/>
          <a:stretch>
            <a:fillRect/>
          </a:stretch>
        </p:blipFill>
        <p:spPr>
          <a:xfrm>
            <a:off x="5183505" y="4677156"/>
            <a:ext cx="219456" cy="219456"/>
          </a:xfrm>
          <a:prstGeom prst="rect">
            <a:avLst/>
          </a:prstGeom>
        </p:spPr>
      </p:pic>
      <p:sp>
        <p:nvSpPr>
          <p:cNvPr id="38" name="Text 30"/>
          <p:cNvSpPr/>
          <p:nvPr/>
        </p:nvSpPr>
        <p:spPr>
          <a:xfrm>
            <a:off x="5064633" y="5143500"/>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Government</a:t>
            </a:r>
            <a:endParaRPr lang="en-US" sz="1250" dirty="0"/>
          </a:p>
        </p:txBody>
      </p:sp>
      <p:sp>
        <p:nvSpPr>
          <p:cNvPr id="39" name="Text 31"/>
          <p:cNvSpPr/>
          <p:nvPr/>
        </p:nvSpPr>
        <p:spPr>
          <a:xfrm>
            <a:off x="5064633" y="5472684"/>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Sovereign-grade security for public infrastructure.</a:t>
            </a:r>
            <a:endParaRPr lang="en-US" sz="950" dirty="0"/>
          </a:p>
        </p:txBody>
      </p:sp>
      <p:sp>
        <p:nvSpPr>
          <p:cNvPr id="40" name="Shape 32"/>
          <p:cNvSpPr/>
          <p:nvPr/>
        </p:nvSpPr>
        <p:spPr>
          <a:xfrm>
            <a:off x="7618095" y="4357116"/>
            <a:ext cx="2516886" cy="1769364"/>
          </a:xfrm>
          <a:prstGeom prst="roundRect">
            <a:avLst>
              <a:gd name="adj" fmla="val 4651"/>
            </a:avLst>
          </a:prstGeom>
          <a:solidFill>
            <a:srgbClr val="141417"/>
          </a:solidFill>
          <a:ln w="12700">
            <a:solidFill>
              <a:srgbClr val="242528"/>
            </a:solidFill>
            <a:prstDash val="solid"/>
          </a:ln>
        </p:spPr>
      </p:sp>
      <p:sp>
        <p:nvSpPr>
          <p:cNvPr id="41" name="Shape 33"/>
          <p:cNvSpPr/>
          <p:nvPr/>
        </p:nvSpPr>
        <p:spPr>
          <a:xfrm>
            <a:off x="7837551" y="4558284"/>
            <a:ext cx="457200" cy="457200"/>
          </a:xfrm>
          <a:prstGeom prst="ellipse">
            <a:avLst/>
          </a:prstGeom>
          <a:solidFill>
            <a:srgbClr val="1B1C1F"/>
          </a:solidFill>
          <a:ln w="12700">
            <a:solidFill>
              <a:srgbClr val="2C2D30"/>
            </a:solidFill>
            <a:prstDash val="solid"/>
          </a:ln>
        </p:spPr>
      </p:sp>
      <p:pic>
        <p:nvPicPr>
          <p:cNvPr id="42" name="Image 6" descr="preencoded.png">    </p:cNvPr>
          <p:cNvPicPr>
            <a:picLocks noChangeAspect="1"/>
          </p:cNvPicPr>
          <p:nvPr/>
        </p:nvPicPr>
        <p:blipFill>
          <a:blip r:embed="rId7"/>
          <a:stretch>
            <a:fillRect/>
          </a:stretch>
        </p:blipFill>
        <p:spPr>
          <a:xfrm>
            <a:off x="7956423" y="4677156"/>
            <a:ext cx="219456" cy="219456"/>
          </a:xfrm>
          <a:prstGeom prst="rect">
            <a:avLst/>
          </a:prstGeom>
        </p:spPr>
      </p:pic>
      <p:sp>
        <p:nvSpPr>
          <p:cNvPr id="43" name="Text 34"/>
          <p:cNvSpPr/>
          <p:nvPr/>
        </p:nvSpPr>
        <p:spPr>
          <a:xfrm>
            <a:off x="7837551" y="5143500"/>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Industrial</a:t>
            </a:r>
            <a:endParaRPr lang="en-US" sz="1250" dirty="0"/>
          </a:p>
        </p:txBody>
      </p:sp>
      <p:sp>
        <p:nvSpPr>
          <p:cNvPr id="44" name="Text 35"/>
          <p:cNvSpPr/>
          <p:nvPr/>
        </p:nvSpPr>
        <p:spPr>
          <a:xfrm>
            <a:off x="7837551" y="5472684"/>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Rugged automation for facilities and logistics.</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WHY CHOOSE SYNTRA</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28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24 — WHY CHOOSE SYNTRA</a:t>
            </a:r>
            <a:endParaRPr lang="en-US" sz="1300" dirty="0"/>
          </a:p>
        </p:txBody>
      </p:sp>
      <p:sp>
        <p:nvSpPr>
          <p:cNvPr id="9" name="Text 7"/>
          <p:cNvSpPr/>
          <p:nvPr/>
        </p:nvSpPr>
        <p:spPr>
          <a:xfrm>
            <a:off x="640080" y="1344168"/>
            <a:ext cx="10881360" cy="1463040"/>
          </a:xfrm>
          <a:prstGeom prst="rect">
            <a:avLst/>
          </a:prstGeom>
          <a:noFill/>
          <a:ln/>
        </p:spPr>
        <p:txBody>
          <a:bodyPr wrap="square" lIns="0" tIns="0" rIns="0" bIns="0" rtlCol="0" anchor="ctr"/>
          <a:lstStyle/>
          <a:p>
            <a:pPr algn="l" indent="0" marL="0">
              <a:lnSpc>
                <a:spcPts val="3120"/>
              </a:lnSpc>
              <a:buNone/>
            </a:pPr>
            <a:r>
              <a:rPr lang="en-US" sz="3000" b="1" dirty="0">
                <a:solidFill>
                  <a:srgbClr val="FFFFFF"/>
                </a:solidFill>
                <a:latin typeface="Arial" pitchFamily="34" charset="0"/>
                <a:ea typeface="Arial" pitchFamily="34" charset="-122"/>
                <a:cs typeface="Arial" pitchFamily="34" charset="-120"/>
              </a:rPr>
              <a:t>Chosen for What Others</a:t>
            </a:r>
            <a:endParaRPr lang="en-US" sz="3000" dirty="0"/>
          </a:p>
          <a:p>
            <a:pPr algn="l" indent="0" marL="0">
              <a:lnSpc>
                <a:spcPts val="3120"/>
              </a:lnSpc>
              <a:buNone/>
            </a:pPr>
            <a:r>
              <a:rPr lang="en-US" sz="3000" b="1" dirty="0">
                <a:solidFill>
                  <a:srgbClr val="FFFFFF"/>
                </a:solidFill>
                <a:latin typeface="Arial" pitchFamily="34" charset="0"/>
                <a:ea typeface="Arial" pitchFamily="34" charset="-122"/>
                <a:cs typeface="Arial" pitchFamily="34" charset="-120"/>
              </a:rPr>
              <a:t>Cannot Guarantee</a:t>
            </a:r>
            <a:endParaRPr lang="en-US" sz="3000" dirty="0"/>
          </a:p>
        </p:txBody>
      </p:sp>
      <p:sp>
        <p:nvSpPr>
          <p:cNvPr id="10" name="Shape 8"/>
          <p:cNvSpPr/>
          <p:nvPr/>
        </p:nvSpPr>
        <p:spPr>
          <a:xfrm>
            <a:off x="685800" y="2834640"/>
            <a:ext cx="2516886" cy="1554480"/>
          </a:xfrm>
          <a:prstGeom prst="roundRect">
            <a:avLst>
              <a:gd name="adj" fmla="val 5294"/>
            </a:avLst>
          </a:prstGeom>
          <a:solidFill>
            <a:srgbClr val="141417"/>
          </a:solidFill>
          <a:ln w="12700">
            <a:solidFill>
              <a:srgbClr val="242528"/>
            </a:solidFill>
            <a:prstDash val="solid"/>
          </a:ln>
        </p:spPr>
      </p:sp>
      <p:sp>
        <p:nvSpPr>
          <p:cNvPr id="11" name="Shape 9"/>
          <p:cNvSpPr/>
          <p:nvPr/>
        </p:nvSpPr>
        <p:spPr>
          <a:xfrm>
            <a:off x="905256" y="3035808"/>
            <a:ext cx="457200" cy="457200"/>
          </a:xfrm>
          <a:prstGeom prst="ellipse">
            <a:avLst/>
          </a:prstGeom>
          <a:solidFill>
            <a:srgbClr val="1B1C1F"/>
          </a:solidFill>
          <a:ln w="12700">
            <a:solidFill>
              <a:srgbClr val="2C2D30"/>
            </a:solidFill>
            <a:prstDash val="solid"/>
          </a:ln>
        </p:spPr>
      </p:sp>
      <p:pic>
        <p:nvPicPr>
          <p:cNvPr id="12" name="Image 0" descr="preencoded.png">    </p:cNvPr>
          <p:cNvPicPr>
            <a:picLocks noChangeAspect="1"/>
          </p:cNvPicPr>
          <p:nvPr/>
        </p:nvPicPr>
        <p:blipFill>
          <a:blip r:embed="rId1"/>
          <a:stretch>
            <a:fillRect/>
          </a:stretch>
        </p:blipFill>
        <p:spPr>
          <a:xfrm>
            <a:off x="1024128" y="3154680"/>
            <a:ext cx="219456" cy="219456"/>
          </a:xfrm>
          <a:prstGeom prst="rect">
            <a:avLst/>
          </a:prstGeom>
        </p:spPr>
      </p:pic>
      <p:sp>
        <p:nvSpPr>
          <p:cNvPr id="13" name="Text 10"/>
          <p:cNvSpPr/>
          <p:nvPr/>
        </p:nvSpPr>
        <p:spPr>
          <a:xfrm>
            <a:off x="905256" y="362102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Security-First</a:t>
            </a:r>
            <a:endParaRPr lang="en-US" sz="1250" dirty="0"/>
          </a:p>
        </p:txBody>
      </p:sp>
      <p:sp>
        <p:nvSpPr>
          <p:cNvPr id="14" name="Text 11"/>
          <p:cNvSpPr/>
          <p:nvPr/>
        </p:nvSpPr>
        <p:spPr>
          <a:xfrm>
            <a:off x="905256" y="3950208"/>
            <a:ext cx="2077974" cy="274320"/>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Encrypted by default, audited by design.</a:t>
            </a:r>
            <a:endParaRPr lang="en-US" sz="950" dirty="0"/>
          </a:p>
        </p:txBody>
      </p:sp>
      <p:sp>
        <p:nvSpPr>
          <p:cNvPr id="15" name="Shape 12"/>
          <p:cNvSpPr/>
          <p:nvPr/>
        </p:nvSpPr>
        <p:spPr>
          <a:xfrm>
            <a:off x="3458718" y="2834640"/>
            <a:ext cx="2516886" cy="1554480"/>
          </a:xfrm>
          <a:prstGeom prst="roundRect">
            <a:avLst>
              <a:gd name="adj" fmla="val 5294"/>
            </a:avLst>
          </a:prstGeom>
          <a:solidFill>
            <a:srgbClr val="141417"/>
          </a:solidFill>
          <a:ln w="12700">
            <a:solidFill>
              <a:srgbClr val="242528"/>
            </a:solidFill>
            <a:prstDash val="solid"/>
          </a:ln>
        </p:spPr>
      </p:sp>
      <p:sp>
        <p:nvSpPr>
          <p:cNvPr id="16" name="Shape 13"/>
          <p:cNvSpPr/>
          <p:nvPr/>
        </p:nvSpPr>
        <p:spPr>
          <a:xfrm>
            <a:off x="3678174" y="3035808"/>
            <a:ext cx="457200" cy="457200"/>
          </a:xfrm>
          <a:prstGeom prst="ellipse">
            <a:avLst/>
          </a:prstGeom>
          <a:solidFill>
            <a:srgbClr val="1B1C1F"/>
          </a:solidFill>
          <a:ln w="12700">
            <a:solidFill>
              <a:srgbClr val="2C2D30"/>
            </a:solidFill>
            <a:prstDash val="solid"/>
          </a:ln>
        </p:spPr>
      </p:sp>
      <p:pic>
        <p:nvPicPr>
          <p:cNvPr id="17" name="Image 1" descr="preencoded.png">    </p:cNvPr>
          <p:cNvPicPr>
            <a:picLocks noChangeAspect="1"/>
          </p:cNvPicPr>
          <p:nvPr/>
        </p:nvPicPr>
        <p:blipFill>
          <a:blip r:embed="rId2"/>
          <a:stretch>
            <a:fillRect/>
          </a:stretch>
        </p:blipFill>
        <p:spPr>
          <a:xfrm>
            <a:off x="3797046" y="3154680"/>
            <a:ext cx="219456" cy="219456"/>
          </a:xfrm>
          <a:prstGeom prst="rect">
            <a:avLst/>
          </a:prstGeom>
        </p:spPr>
      </p:pic>
      <p:sp>
        <p:nvSpPr>
          <p:cNvPr id="18" name="Text 14"/>
          <p:cNvSpPr/>
          <p:nvPr/>
        </p:nvSpPr>
        <p:spPr>
          <a:xfrm>
            <a:off x="3678174" y="362102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True Interoperability</a:t>
            </a:r>
            <a:endParaRPr lang="en-US" sz="1250" dirty="0"/>
          </a:p>
        </p:txBody>
      </p:sp>
      <p:sp>
        <p:nvSpPr>
          <p:cNvPr id="19" name="Text 15"/>
          <p:cNvSpPr/>
          <p:nvPr/>
        </p:nvSpPr>
        <p:spPr>
          <a:xfrm>
            <a:off x="3678174" y="3950208"/>
            <a:ext cx="2077974" cy="274320"/>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Every major standard, natively supported.</a:t>
            </a:r>
            <a:endParaRPr lang="en-US" sz="950" dirty="0"/>
          </a:p>
        </p:txBody>
      </p:sp>
      <p:sp>
        <p:nvSpPr>
          <p:cNvPr id="20" name="Shape 16"/>
          <p:cNvSpPr/>
          <p:nvPr/>
        </p:nvSpPr>
        <p:spPr>
          <a:xfrm>
            <a:off x="6231636" y="2834640"/>
            <a:ext cx="2516886" cy="1554480"/>
          </a:xfrm>
          <a:prstGeom prst="roundRect">
            <a:avLst>
              <a:gd name="adj" fmla="val 5294"/>
            </a:avLst>
          </a:prstGeom>
          <a:solidFill>
            <a:srgbClr val="141417"/>
          </a:solidFill>
          <a:ln w="12700">
            <a:solidFill>
              <a:srgbClr val="242528"/>
            </a:solidFill>
            <a:prstDash val="solid"/>
          </a:ln>
        </p:spPr>
      </p:sp>
      <p:sp>
        <p:nvSpPr>
          <p:cNvPr id="21" name="Shape 17"/>
          <p:cNvSpPr/>
          <p:nvPr/>
        </p:nvSpPr>
        <p:spPr>
          <a:xfrm>
            <a:off x="6451092" y="3035808"/>
            <a:ext cx="457200" cy="457200"/>
          </a:xfrm>
          <a:prstGeom prst="ellipse">
            <a:avLst/>
          </a:prstGeom>
          <a:solidFill>
            <a:srgbClr val="1B1C1F"/>
          </a:solidFill>
          <a:ln w="12700">
            <a:solidFill>
              <a:srgbClr val="2C2D30"/>
            </a:solidFill>
            <a:prstDash val="solid"/>
          </a:ln>
        </p:spPr>
      </p:sp>
      <p:pic>
        <p:nvPicPr>
          <p:cNvPr id="22" name="Image 2" descr="preencoded.png">    </p:cNvPr>
          <p:cNvPicPr>
            <a:picLocks noChangeAspect="1"/>
          </p:cNvPicPr>
          <p:nvPr/>
        </p:nvPicPr>
        <p:blipFill>
          <a:blip r:embed="rId3"/>
          <a:stretch>
            <a:fillRect/>
          </a:stretch>
        </p:blipFill>
        <p:spPr>
          <a:xfrm>
            <a:off x="6569964" y="3154680"/>
            <a:ext cx="219456" cy="219456"/>
          </a:xfrm>
          <a:prstGeom prst="rect">
            <a:avLst/>
          </a:prstGeom>
        </p:spPr>
      </p:pic>
      <p:sp>
        <p:nvSpPr>
          <p:cNvPr id="23" name="Text 18"/>
          <p:cNvSpPr/>
          <p:nvPr/>
        </p:nvSpPr>
        <p:spPr>
          <a:xfrm>
            <a:off x="6451092" y="362102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Real Intelligence</a:t>
            </a:r>
            <a:endParaRPr lang="en-US" sz="1250" dirty="0"/>
          </a:p>
        </p:txBody>
      </p:sp>
      <p:sp>
        <p:nvSpPr>
          <p:cNvPr id="24" name="Text 19"/>
          <p:cNvSpPr/>
          <p:nvPr/>
        </p:nvSpPr>
        <p:spPr>
          <a:xfrm>
            <a:off x="6451092" y="3950208"/>
            <a:ext cx="2077974" cy="274320"/>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AI that adapts, not static pre-set rules.</a:t>
            </a:r>
            <a:endParaRPr lang="en-US" sz="950" dirty="0"/>
          </a:p>
        </p:txBody>
      </p:sp>
      <p:sp>
        <p:nvSpPr>
          <p:cNvPr id="25" name="Shape 20"/>
          <p:cNvSpPr/>
          <p:nvPr/>
        </p:nvSpPr>
        <p:spPr>
          <a:xfrm>
            <a:off x="9004554" y="2834640"/>
            <a:ext cx="2516886" cy="1554480"/>
          </a:xfrm>
          <a:prstGeom prst="roundRect">
            <a:avLst>
              <a:gd name="adj" fmla="val 5294"/>
            </a:avLst>
          </a:prstGeom>
          <a:solidFill>
            <a:srgbClr val="141417"/>
          </a:solidFill>
          <a:ln w="12700">
            <a:solidFill>
              <a:srgbClr val="242528"/>
            </a:solidFill>
            <a:prstDash val="solid"/>
          </a:ln>
        </p:spPr>
      </p:sp>
      <p:sp>
        <p:nvSpPr>
          <p:cNvPr id="26" name="Shape 21"/>
          <p:cNvSpPr/>
          <p:nvPr/>
        </p:nvSpPr>
        <p:spPr>
          <a:xfrm>
            <a:off x="9224010" y="3035808"/>
            <a:ext cx="457200" cy="457200"/>
          </a:xfrm>
          <a:prstGeom prst="ellipse">
            <a:avLst/>
          </a:prstGeom>
          <a:solidFill>
            <a:srgbClr val="1B1C1F"/>
          </a:solidFill>
          <a:ln w="12700">
            <a:solidFill>
              <a:srgbClr val="2C2D30"/>
            </a:solidFill>
            <a:prstDash val="solid"/>
          </a:ln>
        </p:spPr>
      </p:sp>
      <p:pic>
        <p:nvPicPr>
          <p:cNvPr id="27" name="Image 3" descr="preencoded.png">    </p:cNvPr>
          <p:cNvPicPr>
            <a:picLocks noChangeAspect="1"/>
          </p:cNvPicPr>
          <p:nvPr/>
        </p:nvPicPr>
        <p:blipFill>
          <a:blip r:embed="rId4"/>
          <a:stretch>
            <a:fillRect/>
          </a:stretch>
        </p:blipFill>
        <p:spPr>
          <a:xfrm>
            <a:off x="9342882" y="3154680"/>
            <a:ext cx="219456" cy="219456"/>
          </a:xfrm>
          <a:prstGeom prst="rect">
            <a:avLst/>
          </a:prstGeom>
        </p:spPr>
      </p:pic>
      <p:sp>
        <p:nvSpPr>
          <p:cNvPr id="28" name="Text 22"/>
          <p:cNvSpPr/>
          <p:nvPr/>
        </p:nvSpPr>
        <p:spPr>
          <a:xfrm>
            <a:off x="9224010" y="362102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Decade of Support</a:t>
            </a:r>
            <a:endParaRPr lang="en-US" sz="1250" dirty="0"/>
          </a:p>
        </p:txBody>
      </p:sp>
      <p:sp>
        <p:nvSpPr>
          <p:cNvPr id="29" name="Text 23"/>
          <p:cNvSpPr/>
          <p:nvPr/>
        </p:nvSpPr>
        <p:spPr>
          <a:xfrm>
            <a:off x="9224010" y="3950208"/>
            <a:ext cx="2077974" cy="274320"/>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Long-term firmware and hardware commitment.</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TECHNOLOGY ADVANTAGES</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29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25 — TECHNOLOGY ADVANTAGES</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120"/>
              </a:lnSpc>
              <a:buNone/>
            </a:pPr>
            <a:r>
              <a:rPr lang="en-US" sz="3000" b="1" dirty="0">
                <a:solidFill>
                  <a:srgbClr val="FFFFFF"/>
                </a:solidFill>
                <a:latin typeface="Arial" pitchFamily="34" charset="0"/>
                <a:ea typeface="Arial" pitchFamily="34" charset="-122"/>
                <a:cs typeface="Arial" pitchFamily="34" charset="-120"/>
              </a:rPr>
              <a:t>Engineered for Performance at Scale</a:t>
            </a:r>
            <a:endParaRPr lang="en-US" sz="3000" dirty="0"/>
          </a:p>
        </p:txBody>
      </p:sp>
      <p:sp>
        <p:nvSpPr>
          <p:cNvPr id="10" name="Shape 8"/>
          <p:cNvSpPr/>
          <p:nvPr/>
        </p:nvSpPr>
        <p:spPr>
          <a:xfrm>
            <a:off x="685800" y="2468880"/>
            <a:ext cx="2503170" cy="3291840"/>
          </a:xfrm>
          <a:prstGeom prst="roundRect">
            <a:avLst>
              <a:gd name="adj" fmla="val 3288"/>
            </a:avLst>
          </a:prstGeom>
          <a:solidFill>
            <a:srgbClr val="141417"/>
          </a:solidFill>
          <a:ln w="12700">
            <a:solidFill>
              <a:srgbClr val="242528"/>
            </a:solidFill>
            <a:prstDash val="solid"/>
          </a:ln>
        </p:spPr>
      </p:sp>
      <p:sp>
        <p:nvSpPr>
          <p:cNvPr id="11" name="Text 9"/>
          <p:cNvSpPr/>
          <p:nvPr/>
        </p:nvSpPr>
        <p:spPr>
          <a:xfrm>
            <a:off x="914400" y="2788920"/>
            <a:ext cx="2045970" cy="822960"/>
          </a:xfrm>
          <a:prstGeom prst="rect">
            <a:avLst/>
          </a:prstGeom>
          <a:noFill/>
          <a:ln/>
        </p:spPr>
        <p:txBody>
          <a:bodyPr wrap="square" lIns="0" tIns="0" rIns="0" bIns="0" rtlCol="0" anchor="ctr"/>
          <a:lstStyle/>
          <a:p>
            <a:pPr indent="0" marL="0">
              <a:buNone/>
            </a:pPr>
            <a:r>
              <a:rPr lang="en-US" sz="4000" b="1" dirty="0">
                <a:solidFill>
                  <a:srgbClr val="0A84FF"/>
                </a:solidFill>
                <a:latin typeface="Arial" pitchFamily="34" charset="0"/>
                <a:ea typeface="Arial" pitchFamily="34" charset="-122"/>
                <a:cs typeface="Arial" pitchFamily="34" charset="-120"/>
              </a:rPr>
              <a:t>&lt;10ms</a:t>
            </a:r>
            <a:endParaRPr lang="en-US" sz="4000" dirty="0"/>
          </a:p>
        </p:txBody>
      </p:sp>
      <p:sp>
        <p:nvSpPr>
          <p:cNvPr id="12" name="Text 10"/>
          <p:cNvSpPr/>
          <p:nvPr/>
        </p:nvSpPr>
        <p:spPr>
          <a:xfrm>
            <a:off x="914400" y="3447288"/>
            <a:ext cx="204597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Local Response Latency</a:t>
            </a:r>
            <a:endParaRPr lang="en-US" sz="1200" dirty="0"/>
          </a:p>
        </p:txBody>
      </p:sp>
      <p:sp>
        <p:nvSpPr>
          <p:cNvPr id="13" name="Text 11"/>
          <p:cNvSpPr/>
          <p:nvPr/>
        </p:nvSpPr>
        <p:spPr>
          <a:xfrm>
            <a:off x="914400" y="3721608"/>
            <a:ext cx="2045970" cy="457200"/>
          </a:xfrm>
          <a:prstGeom prst="rect">
            <a:avLst/>
          </a:prstGeom>
          <a:noFill/>
          <a:ln/>
        </p:spPr>
        <p:txBody>
          <a:bodyPr wrap="square" lIns="0" tIns="0" rIns="0" bIns="0" rtlCol="0" anchor="ctr"/>
          <a:lstStyle/>
          <a:p>
            <a:pPr indent="0" marL="0">
              <a:buNone/>
            </a:pPr>
            <a:r>
              <a:rPr lang="en-US" sz="950" dirty="0">
                <a:solidFill>
                  <a:srgbClr val="8B8E93"/>
                </a:solidFill>
                <a:latin typeface="Calibri" pitchFamily="34" charset="0"/>
                <a:ea typeface="Calibri" pitchFamily="34" charset="-122"/>
                <a:cs typeface="Calibri" pitchFamily="34" charset="-120"/>
              </a:rPr>
              <a:t>Automations execute on-device, not in the cloud.</a:t>
            </a:r>
            <a:endParaRPr lang="en-US" sz="950" dirty="0"/>
          </a:p>
        </p:txBody>
      </p:sp>
      <p:sp>
        <p:nvSpPr>
          <p:cNvPr id="14" name="Shape 12"/>
          <p:cNvSpPr/>
          <p:nvPr/>
        </p:nvSpPr>
        <p:spPr>
          <a:xfrm>
            <a:off x="3463290" y="2468880"/>
            <a:ext cx="2503170" cy="3291840"/>
          </a:xfrm>
          <a:prstGeom prst="roundRect">
            <a:avLst>
              <a:gd name="adj" fmla="val 3288"/>
            </a:avLst>
          </a:prstGeom>
          <a:solidFill>
            <a:srgbClr val="141417"/>
          </a:solidFill>
          <a:ln w="12700">
            <a:solidFill>
              <a:srgbClr val="242528"/>
            </a:solidFill>
            <a:prstDash val="solid"/>
          </a:ln>
        </p:spPr>
      </p:sp>
      <p:sp>
        <p:nvSpPr>
          <p:cNvPr id="15" name="Text 13"/>
          <p:cNvSpPr/>
          <p:nvPr/>
        </p:nvSpPr>
        <p:spPr>
          <a:xfrm>
            <a:off x="3691890" y="2788920"/>
            <a:ext cx="2045970" cy="822960"/>
          </a:xfrm>
          <a:prstGeom prst="rect">
            <a:avLst/>
          </a:prstGeom>
          <a:noFill/>
          <a:ln/>
        </p:spPr>
        <p:txBody>
          <a:bodyPr wrap="square" lIns="0" tIns="0" rIns="0" bIns="0" rtlCol="0" anchor="ctr"/>
          <a:lstStyle/>
          <a:p>
            <a:pPr indent="0" marL="0">
              <a:buNone/>
            </a:pPr>
            <a:r>
              <a:rPr lang="en-US" sz="4000" b="1" dirty="0">
                <a:solidFill>
                  <a:srgbClr val="0A84FF"/>
                </a:solidFill>
                <a:latin typeface="Arial" pitchFamily="34" charset="0"/>
                <a:ea typeface="Arial" pitchFamily="34" charset="-122"/>
                <a:cs typeface="Arial" pitchFamily="34" charset="-120"/>
              </a:rPr>
              <a:t>256-bit</a:t>
            </a:r>
            <a:endParaRPr lang="en-US" sz="4000" dirty="0"/>
          </a:p>
        </p:txBody>
      </p:sp>
      <p:sp>
        <p:nvSpPr>
          <p:cNvPr id="16" name="Text 14"/>
          <p:cNvSpPr/>
          <p:nvPr/>
        </p:nvSpPr>
        <p:spPr>
          <a:xfrm>
            <a:off x="3691890" y="3447288"/>
            <a:ext cx="204597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End-to-End Encryption</a:t>
            </a:r>
            <a:endParaRPr lang="en-US" sz="1200" dirty="0"/>
          </a:p>
        </p:txBody>
      </p:sp>
      <p:sp>
        <p:nvSpPr>
          <p:cNvPr id="17" name="Text 15"/>
          <p:cNvSpPr/>
          <p:nvPr/>
        </p:nvSpPr>
        <p:spPr>
          <a:xfrm>
            <a:off x="3691890" y="3721608"/>
            <a:ext cx="2045970" cy="457200"/>
          </a:xfrm>
          <a:prstGeom prst="rect">
            <a:avLst/>
          </a:prstGeom>
          <a:noFill/>
          <a:ln/>
        </p:spPr>
        <p:txBody>
          <a:bodyPr wrap="square" lIns="0" tIns="0" rIns="0" bIns="0" rtlCol="0" anchor="ctr"/>
          <a:lstStyle/>
          <a:p>
            <a:pPr indent="0" marL="0">
              <a:buNone/>
            </a:pPr>
            <a:r>
              <a:rPr lang="en-US" sz="950" dirty="0">
                <a:solidFill>
                  <a:srgbClr val="8B8E93"/>
                </a:solidFill>
                <a:latin typeface="Calibri" pitchFamily="34" charset="0"/>
                <a:ea typeface="Calibri" pitchFamily="34" charset="-122"/>
                <a:cs typeface="Calibri" pitchFamily="34" charset="-120"/>
              </a:rPr>
              <a:t>Every packet, every device, every time.</a:t>
            </a:r>
            <a:endParaRPr lang="en-US" sz="950" dirty="0"/>
          </a:p>
        </p:txBody>
      </p:sp>
      <p:sp>
        <p:nvSpPr>
          <p:cNvPr id="18" name="Shape 16"/>
          <p:cNvSpPr/>
          <p:nvPr/>
        </p:nvSpPr>
        <p:spPr>
          <a:xfrm>
            <a:off x="6240780" y="2468880"/>
            <a:ext cx="2503170" cy="3291840"/>
          </a:xfrm>
          <a:prstGeom prst="roundRect">
            <a:avLst>
              <a:gd name="adj" fmla="val 3288"/>
            </a:avLst>
          </a:prstGeom>
          <a:solidFill>
            <a:srgbClr val="141417"/>
          </a:solidFill>
          <a:ln w="12700">
            <a:solidFill>
              <a:srgbClr val="242528"/>
            </a:solidFill>
            <a:prstDash val="solid"/>
          </a:ln>
        </p:spPr>
      </p:sp>
      <p:sp>
        <p:nvSpPr>
          <p:cNvPr id="19" name="Text 17"/>
          <p:cNvSpPr/>
          <p:nvPr/>
        </p:nvSpPr>
        <p:spPr>
          <a:xfrm>
            <a:off x="6469380" y="2788920"/>
            <a:ext cx="2045970" cy="822960"/>
          </a:xfrm>
          <a:prstGeom prst="rect">
            <a:avLst/>
          </a:prstGeom>
          <a:noFill/>
          <a:ln/>
        </p:spPr>
        <p:txBody>
          <a:bodyPr wrap="square" lIns="0" tIns="0" rIns="0" bIns="0" rtlCol="0" anchor="ctr"/>
          <a:lstStyle/>
          <a:p>
            <a:pPr indent="0" marL="0">
              <a:buNone/>
            </a:pPr>
            <a:r>
              <a:rPr lang="en-US" sz="4000" b="1" dirty="0">
                <a:solidFill>
                  <a:srgbClr val="0A84FF"/>
                </a:solidFill>
                <a:latin typeface="Arial" pitchFamily="34" charset="0"/>
                <a:ea typeface="Arial" pitchFamily="34" charset="-122"/>
                <a:cs typeface="Arial" pitchFamily="34" charset="-120"/>
              </a:rPr>
              <a:t>6</a:t>
            </a:r>
            <a:endParaRPr lang="en-US" sz="4000" dirty="0"/>
          </a:p>
        </p:txBody>
      </p:sp>
      <p:sp>
        <p:nvSpPr>
          <p:cNvPr id="20" name="Text 18"/>
          <p:cNvSpPr/>
          <p:nvPr/>
        </p:nvSpPr>
        <p:spPr>
          <a:xfrm>
            <a:off x="6469380" y="3447288"/>
            <a:ext cx="204597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Native Protocols</a:t>
            </a:r>
            <a:endParaRPr lang="en-US" sz="1200" dirty="0"/>
          </a:p>
        </p:txBody>
      </p:sp>
      <p:sp>
        <p:nvSpPr>
          <p:cNvPr id="21" name="Text 19"/>
          <p:cNvSpPr/>
          <p:nvPr/>
        </p:nvSpPr>
        <p:spPr>
          <a:xfrm>
            <a:off x="6469380" y="3721608"/>
            <a:ext cx="2045970" cy="457200"/>
          </a:xfrm>
          <a:prstGeom prst="rect">
            <a:avLst/>
          </a:prstGeom>
          <a:noFill/>
          <a:ln/>
        </p:spPr>
        <p:txBody>
          <a:bodyPr wrap="square" lIns="0" tIns="0" rIns="0" bIns="0" rtlCol="0" anchor="ctr"/>
          <a:lstStyle/>
          <a:p>
            <a:pPr indent="0" marL="0">
              <a:buNone/>
            </a:pPr>
            <a:r>
              <a:rPr lang="en-US" sz="950" dirty="0">
                <a:solidFill>
                  <a:srgbClr val="8B8E93"/>
                </a:solidFill>
                <a:latin typeface="Calibri" pitchFamily="34" charset="0"/>
                <a:ea typeface="Calibri" pitchFamily="34" charset="-122"/>
                <a:cs typeface="Calibri" pitchFamily="34" charset="-120"/>
              </a:rPr>
              <a:t>Matter, Z-Wave, Zigbee, Wi-Fi, BLE, Thread.</a:t>
            </a:r>
            <a:endParaRPr lang="en-US" sz="950" dirty="0"/>
          </a:p>
        </p:txBody>
      </p:sp>
      <p:sp>
        <p:nvSpPr>
          <p:cNvPr id="22" name="Shape 20"/>
          <p:cNvSpPr/>
          <p:nvPr/>
        </p:nvSpPr>
        <p:spPr>
          <a:xfrm>
            <a:off x="9018270" y="2468880"/>
            <a:ext cx="2503170" cy="3291840"/>
          </a:xfrm>
          <a:prstGeom prst="roundRect">
            <a:avLst>
              <a:gd name="adj" fmla="val 3288"/>
            </a:avLst>
          </a:prstGeom>
          <a:solidFill>
            <a:srgbClr val="141417"/>
          </a:solidFill>
          <a:ln w="12700">
            <a:solidFill>
              <a:srgbClr val="242528"/>
            </a:solidFill>
            <a:prstDash val="solid"/>
          </a:ln>
        </p:spPr>
      </p:sp>
      <p:sp>
        <p:nvSpPr>
          <p:cNvPr id="23" name="Text 21"/>
          <p:cNvSpPr/>
          <p:nvPr/>
        </p:nvSpPr>
        <p:spPr>
          <a:xfrm>
            <a:off x="9246870" y="2788920"/>
            <a:ext cx="2045970" cy="822960"/>
          </a:xfrm>
          <a:prstGeom prst="rect">
            <a:avLst/>
          </a:prstGeom>
          <a:noFill/>
          <a:ln/>
        </p:spPr>
        <p:txBody>
          <a:bodyPr wrap="square" lIns="0" tIns="0" rIns="0" bIns="0" rtlCol="0" anchor="ctr"/>
          <a:lstStyle/>
          <a:p>
            <a:pPr indent="0" marL="0">
              <a:buNone/>
            </a:pPr>
            <a:r>
              <a:rPr lang="en-US" sz="4000" b="1" dirty="0">
                <a:solidFill>
                  <a:srgbClr val="0A84FF"/>
                </a:solidFill>
                <a:latin typeface="Arial" pitchFamily="34" charset="0"/>
                <a:ea typeface="Arial" pitchFamily="34" charset="-122"/>
                <a:cs typeface="Arial" pitchFamily="34" charset="-120"/>
              </a:rPr>
              <a:t>10,000+</a:t>
            </a:r>
            <a:endParaRPr lang="en-US" sz="4000" dirty="0"/>
          </a:p>
        </p:txBody>
      </p:sp>
      <p:sp>
        <p:nvSpPr>
          <p:cNvPr id="24" name="Text 22"/>
          <p:cNvSpPr/>
          <p:nvPr/>
        </p:nvSpPr>
        <p:spPr>
          <a:xfrm>
            <a:off x="9246870" y="3447288"/>
            <a:ext cx="204597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Devices per Hub</a:t>
            </a:r>
            <a:endParaRPr lang="en-US" sz="1200" dirty="0"/>
          </a:p>
        </p:txBody>
      </p:sp>
      <p:sp>
        <p:nvSpPr>
          <p:cNvPr id="25" name="Text 23"/>
          <p:cNvSpPr/>
          <p:nvPr/>
        </p:nvSpPr>
        <p:spPr>
          <a:xfrm>
            <a:off x="9246870" y="3721608"/>
            <a:ext cx="2045970" cy="457200"/>
          </a:xfrm>
          <a:prstGeom prst="rect">
            <a:avLst/>
          </a:prstGeom>
          <a:noFill/>
          <a:ln/>
        </p:spPr>
        <p:txBody>
          <a:bodyPr wrap="square" lIns="0" tIns="0" rIns="0" bIns="0" rtlCol="0" anchor="ctr"/>
          <a:lstStyle/>
          <a:p>
            <a:pPr indent="0" marL="0">
              <a:buNone/>
            </a:pPr>
            <a:r>
              <a:rPr lang="en-US" sz="950" dirty="0">
                <a:solidFill>
                  <a:srgbClr val="8B8E93"/>
                </a:solidFill>
                <a:latin typeface="Calibri" pitchFamily="34" charset="0"/>
                <a:ea typeface="Calibri" pitchFamily="34" charset="-122"/>
                <a:cs typeface="Calibri" pitchFamily="34" charset="-120"/>
              </a:rPr>
              <a:t>Built to scale from a room to a city.</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RESEARCH &amp; DEVELOPMENT</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30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26 — RESEARCH &amp; DEVELOPMENT</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120"/>
              </a:lnSpc>
              <a:buNone/>
            </a:pPr>
            <a:r>
              <a:rPr lang="en-US" sz="3000" b="1" dirty="0">
                <a:solidFill>
                  <a:srgbClr val="FFFFFF"/>
                </a:solidFill>
                <a:latin typeface="Arial" pitchFamily="34" charset="0"/>
                <a:ea typeface="Arial" pitchFamily="34" charset="-122"/>
                <a:cs typeface="Arial" pitchFamily="34" charset="-120"/>
              </a:rPr>
              <a:t>Engineering the Next Standard</a:t>
            </a:r>
            <a:endParaRPr lang="en-US" sz="3000" dirty="0"/>
          </a:p>
        </p:txBody>
      </p:sp>
      <p:sp>
        <p:nvSpPr>
          <p:cNvPr id="10" name="Shape 8"/>
          <p:cNvSpPr/>
          <p:nvPr/>
        </p:nvSpPr>
        <p:spPr>
          <a:xfrm>
            <a:off x="8869680" y="2331720"/>
            <a:ext cx="2103120" cy="2103120"/>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9416491" y="2878531"/>
            <a:ext cx="1009498" cy="1009498"/>
          </a:xfrm>
          <a:prstGeom prst="rect">
            <a:avLst/>
          </a:prstGeom>
        </p:spPr>
      </p:pic>
      <p:sp>
        <p:nvSpPr>
          <p:cNvPr id="12" name="Text 9"/>
          <p:cNvSpPr/>
          <p:nvPr/>
        </p:nvSpPr>
        <p:spPr>
          <a:xfrm>
            <a:off x="685800" y="2834640"/>
            <a:ext cx="7223760" cy="2103120"/>
          </a:xfrm>
          <a:prstGeom prst="rect">
            <a:avLst/>
          </a:prstGeom>
          <a:noFill/>
          <a:ln/>
        </p:spPr>
        <p:txBody>
          <a:bodyPr wrap="square" lIns="0" tIns="0" rIns="0" bIns="0" rtlCol="0" anchor="ctr"/>
          <a:lstStyle/>
          <a:p>
            <a:pPr indent="0" marL="0">
              <a:lnSpc>
                <a:spcPct val="135000"/>
              </a:lnSpc>
              <a:buNone/>
            </a:pPr>
            <a:r>
              <a:rPr lang="en-US" sz="1350" dirty="0">
                <a:solidFill>
                  <a:srgbClr val="C9CCCF"/>
                </a:solidFill>
                <a:latin typeface="Calibri" pitchFamily="34" charset="0"/>
                <a:ea typeface="Calibri" pitchFamily="34" charset="-122"/>
                <a:cs typeface="Calibri" pitchFamily="34" charset="-120"/>
              </a:rPr>
              <a:t>Our engineering teams work across firmware, artificial intelligence, industrial design and cloud infrastructure — with a roadmap that ships new intelligence, not just new hardware. Every product moves through continuous testing before it ever reaches a customer.</a:t>
            </a:r>
            <a:endParaRPr lang="en-US" sz="1350" dirty="0"/>
          </a:p>
        </p:txBody>
      </p:sp>
      <p:sp>
        <p:nvSpPr>
          <p:cNvPr id="13" name="Shape 10"/>
          <p:cNvSpPr/>
          <p:nvPr/>
        </p:nvSpPr>
        <p:spPr>
          <a:xfrm>
            <a:off x="685800" y="4946904"/>
            <a:ext cx="82296" cy="82296"/>
          </a:xfrm>
          <a:prstGeom prst="ellipse">
            <a:avLst/>
          </a:prstGeom>
          <a:solidFill>
            <a:srgbClr val="0A84FF"/>
          </a:solidFill>
          <a:ln/>
        </p:spPr>
      </p:sp>
      <p:sp>
        <p:nvSpPr>
          <p:cNvPr id="14" name="Text 11"/>
          <p:cNvSpPr/>
          <p:nvPr/>
        </p:nvSpPr>
        <p:spPr>
          <a:xfrm>
            <a:off x="914400" y="4818888"/>
            <a:ext cx="6949440" cy="320040"/>
          </a:xfrm>
          <a:prstGeom prst="rect">
            <a:avLst/>
          </a:prstGeom>
          <a:noFill/>
          <a:ln/>
        </p:spPr>
        <p:txBody>
          <a:bodyPr wrap="square" lIns="0" tIns="0" rIns="0" bIns="0" rtlCol="0" anchor="ctr"/>
          <a:lstStyle/>
          <a:p>
            <a:pPr indent="0" marL="0">
              <a:buNone/>
            </a:pPr>
            <a:r>
              <a:rPr lang="en-US" sz="1150" dirty="0">
                <a:solidFill>
                  <a:srgbClr val="B9BDC1"/>
                </a:solidFill>
                <a:latin typeface="Calibri" pitchFamily="34" charset="0"/>
                <a:ea typeface="Calibri" pitchFamily="34" charset="-122"/>
                <a:cs typeface="Calibri" pitchFamily="34" charset="-120"/>
              </a:rPr>
              <a:t>Multi-discipline R&amp;D across firmware, AI and design</a:t>
            </a:r>
            <a:endParaRPr lang="en-US" sz="1150" dirty="0"/>
          </a:p>
        </p:txBody>
      </p:sp>
      <p:sp>
        <p:nvSpPr>
          <p:cNvPr id="15" name="Shape 12"/>
          <p:cNvSpPr/>
          <p:nvPr/>
        </p:nvSpPr>
        <p:spPr>
          <a:xfrm>
            <a:off x="685800" y="5276088"/>
            <a:ext cx="82296" cy="82296"/>
          </a:xfrm>
          <a:prstGeom prst="ellipse">
            <a:avLst/>
          </a:prstGeom>
          <a:solidFill>
            <a:srgbClr val="0A84FF"/>
          </a:solidFill>
          <a:ln/>
        </p:spPr>
      </p:sp>
      <p:sp>
        <p:nvSpPr>
          <p:cNvPr id="16" name="Text 13"/>
          <p:cNvSpPr/>
          <p:nvPr/>
        </p:nvSpPr>
        <p:spPr>
          <a:xfrm>
            <a:off x="914400" y="5148072"/>
            <a:ext cx="6949440" cy="320040"/>
          </a:xfrm>
          <a:prstGeom prst="rect">
            <a:avLst/>
          </a:prstGeom>
          <a:noFill/>
          <a:ln/>
        </p:spPr>
        <p:txBody>
          <a:bodyPr wrap="square" lIns="0" tIns="0" rIns="0" bIns="0" rtlCol="0" anchor="ctr"/>
          <a:lstStyle/>
          <a:p>
            <a:pPr indent="0" marL="0">
              <a:buNone/>
            </a:pPr>
            <a:r>
              <a:rPr lang="en-US" sz="1150" dirty="0">
                <a:solidFill>
                  <a:srgbClr val="B9BDC1"/>
                </a:solidFill>
                <a:latin typeface="Calibri" pitchFamily="34" charset="0"/>
                <a:ea typeface="Calibri" pitchFamily="34" charset="-122"/>
                <a:cs typeface="Calibri" pitchFamily="34" charset="-120"/>
              </a:rPr>
              <a:t>Continuous protocol certification and testing labs</a:t>
            </a:r>
            <a:endParaRPr lang="en-US" sz="1150" dirty="0"/>
          </a:p>
        </p:txBody>
      </p:sp>
      <p:sp>
        <p:nvSpPr>
          <p:cNvPr id="17" name="Shape 14"/>
          <p:cNvSpPr/>
          <p:nvPr/>
        </p:nvSpPr>
        <p:spPr>
          <a:xfrm>
            <a:off x="685800" y="5605272"/>
            <a:ext cx="82296" cy="82296"/>
          </a:xfrm>
          <a:prstGeom prst="ellipse">
            <a:avLst/>
          </a:prstGeom>
          <a:solidFill>
            <a:srgbClr val="0A84FF"/>
          </a:solidFill>
          <a:ln/>
        </p:spPr>
      </p:sp>
      <p:sp>
        <p:nvSpPr>
          <p:cNvPr id="18" name="Text 15"/>
          <p:cNvSpPr/>
          <p:nvPr/>
        </p:nvSpPr>
        <p:spPr>
          <a:xfrm>
            <a:off x="914400" y="5477256"/>
            <a:ext cx="6949440" cy="320040"/>
          </a:xfrm>
          <a:prstGeom prst="rect">
            <a:avLst/>
          </a:prstGeom>
          <a:noFill/>
          <a:ln/>
        </p:spPr>
        <p:txBody>
          <a:bodyPr wrap="square" lIns="0" tIns="0" rIns="0" bIns="0" rtlCol="0" anchor="ctr"/>
          <a:lstStyle/>
          <a:p>
            <a:pPr indent="0" marL="0">
              <a:buNone/>
            </a:pPr>
            <a:r>
              <a:rPr lang="en-US" sz="1150" dirty="0">
                <a:solidFill>
                  <a:srgbClr val="B9BDC1"/>
                </a:solidFill>
                <a:latin typeface="Calibri" pitchFamily="34" charset="0"/>
                <a:ea typeface="Calibri" pitchFamily="34" charset="-122"/>
                <a:cs typeface="Calibri" pitchFamily="34" charset="-120"/>
              </a:rPr>
              <a:t>Quarterly firmware intelligence releases</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MANUFACTURING STRATEGY</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31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27 — MANUFACTURING STRATEGY</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120"/>
              </a:lnSpc>
              <a:buNone/>
            </a:pPr>
            <a:r>
              <a:rPr lang="en-US" sz="3000" b="1" dirty="0">
                <a:solidFill>
                  <a:srgbClr val="FFFFFF"/>
                </a:solidFill>
                <a:latin typeface="Arial" pitchFamily="34" charset="0"/>
                <a:ea typeface="Arial" pitchFamily="34" charset="-122"/>
                <a:cs typeface="Arial" pitchFamily="34" charset="-120"/>
              </a:rPr>
              <a:t>Precision at Every Stage</a:t>
            </a:r>
            <a:endParaRPr lang="en-US" sz="3000" dirty="0"/>
          </a:p>
        </p:txBody>
      </p:sp>
      <p:sp>
        <p:nvSpPr>
          <p:cNvPr id="10" name="Shape 8"/>
          <p:cNvSpPr/>
          <p:nvPr/>
        </p:nvSpPr>
        <p:spPr>
          <a:xfrm>
            <a:off x="685800" y="2514600"/>
            <a:ext cx="5289804" cy="1677924"/>
          </a:xfrm>
          <a:prstGeom prst="roundRect">
            <a:avLst>
              <a:gd name="adj" fmla="val 4905"/>
            </a:avLst>
          </a:prstGeom>
          <a:solidFill>
            <a:srgbClr val="141417"/>
          </a:solidFill>
          <a:ln w="12700">
            <a:solidFill>
              <a:srgbClr val="242528"/>
            </a:solidFill>
            <a:prstDash val="solid"/>
          </a:ln>
        </p:spPr>
      </p:sp>
      <p:sp>
        <p:nvSpPr>
          <p:cNvPr id="11" name="Shape 9"/>
          <p:cNvSpPr/>
          <p:nvPr/>
        </p:nvSpPr>
        <p:spPr>
          <a:xfrm>
            <a:off x="905256" y="2715768"/>
            <a:ext cx="566928" cy="566928"/>
          </a:xfrm>
          <a:prstGeom prst="ellipse">
            <a:avLst/>
          </a:prstGeom>
          <a:solidFill>
            <a:srgbClr val="1B1C1F"/>
          </a:solidFill>
          <a:ln w="12700">
            <a:solidFill>
              <a:srgbClr val="2C2D30"/>
            </a:solidFill>
            <a:prstDash val="solid"/>
          </a:ln>
        </p:spPr>
      </p:sp>
      <p:pic>
        <p:nvPicPr>
          <p:cNvPr id="12" name="Image 0" descr="preencoded.png">    </p:cNvPr>
          <p:cNvPicPr>
            <a:picLocks noChangeAspect="1"/>
          </p:cNvPicPr>
          <p:nvPr/>
        </p:nvPicPr>
        <p:blipFill>
          <a:blip r:embed="rId1"/>
          <a:stretch>
            <a:fillRect/>
          </a:stretch>
        </p:blipFill>
        <p:spPr>
          <a:xfrm>
            <a:off x="1052657" y="2863169"/>
            <a:ext cx="272125" cy="272125"/>
          </a:xfrm>
          <a:prstGeom prst="rect">
            <a:avLst/>
          </a:prstGeom>
        </p:spPr>
      </p:pic>
      <p:sp>
        <p:nvSpPr>
          <p:cNvPr id="13" name="Text 10"/>
          <p:cNvSpPr/>
          <p:nvPr/>
        </p:nvSpPr>
        <p:spPr>
          <a:xfrm>
            <a:off x="905256" y="3410712"/>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Precision Partners</a:t>
            </a:r>
            <a:endParaRPr lang="en-US" sz="1450" dirty="0"/>
          </a:p>
        </p:txBody>
      </p:sp>
      <p:sp>
        <p:nvSpPr>
          <p:cNvPr id="14" name="Text 11"/>
          <p:cNvSpPr/>
          <p:nvPr/>
        </p:nvSpPr>
        <p:spPr>
          <a:xfrm>
            <a:off x="905256" y="3739896"/>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Vetted manufacturing partners across advanced electronics hubs.</a:t>
            </a:r>
            <a:endParaRPr lang="en-US" sz="1050" dirty="0"/>
          </a:p>
        </p:txBody>
      </p:sp>
      <p:sp>
        <p:nvSpPr>
          <p:cNvPr id="15" name="Shape 12"/>
          <p:cNvSpPr/>
          <p:nvPr/>
        </p:nvSpPr>
        <p:spPr>
          <a:xfrm>
            <a:off x="6231636" y="2514600"/>
            <a:ext cx="5289804" cy="1677924"/>
          </a:xfrm>
          <a:prstGeom prst="roundRect">
            <a:avLst>
              <a:gd name="adj" fmla="val 4905"/>
            </a:avLst>
          </a:prstGeom>
          <a:solidFill>
            <a:srgbClr val="141417"/>
          </a:solidFill>
          <a:ln w="12700">
            <a:solidFill>
              <a:srgbClr val="242528"/>
            </a:solidFill>
            <a:prstDash val="solid"/>
          </a:ln>
        </p:spPr>
      </p:sp>
      <p:sp>
        <p:nvSpPr>
          <p:cNvPr id="16" name="Shape 13"/>
          <p:cNvSpPr/>
          <p:nvPr/>
        </p:nvSpPr>
        <p:spPr>
          <a:xfrm>
            <a:off x="6451092" y="2715768"/>
            <a:ext cx="566928" cy="566928"/>
          </a:xfrm>
          <a:prstGeom prst="ellipse">
            <a:avLst/>
          </a:prstGeom>
          <a:solidFill>
            <a:srgbClr val="1B1C1F"/>
          </a:solidFill>
          <a:ln w="12700">
            <a:solidFill>
              <a:srgbClr val="2C2D30"/>
            </a:solidFill>
            <a:prstDash val="solid"/>
          </a:ln>
        </p:spPr>
      </p:sp>
      <p:pic>
        <p:nvPicPr>
          <p:cNvPr id="17" name="Image 1" descr="preencoded.png">    </p:cNvPr>
          <p:cNvPicPr>
            <a:picLocks noChangeAspect="1"/>
          </p:cNvPicPr>
          <p:nvPr/>
        </p:nvPicPr>
        <p:blipFill>
          <a:blip r:embed="rId2"/>
          <a:stretch>
            <a:fillRect/>
          </a:stretch>
        </p:blipFill>
        <p:spPr>
          <a:xfrm>
            <a:off x="6598493" y="2863169"/>
            <a:ext cx="272125" cy="272125"/>
          </a:xfrm>
          <a:prstGeom prst="rect">
            <a:avLst/>
          </a:prstGeom>
        </p:spPr>
      </p:pic>
      <p:sp>
        <p:nvSpPr>
          <p:cNvPr id="18" name="Text 14"/>
          <p:cNvSpPr/>
          <p:nvPr/>
        </p:nvSpPr>
        <p:spPr>
          <a:xfrm>
            <a:off x="6451092" y="3410712"/>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In-House QA</a:t>
            </a:r>
            <a:endParaRPr lang="en-US" sz="1450" dirty="0"/>
          </a:p>
        </p:txBody>
      </p:sp>
      <p:sp>
        <p:nvSpPr>
          <p:cNvPr id="19" name="Text 15"/>
          <p:cNvSpPr/>
          <p:nvPr/>
        </p:nvSpPr>
        <p:spPr>
          <a:xfrm>
            <a:off x="6451092" y="3739896"/>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Independent quality engineering at every production stage.</a:t>
            </a:r>
            <a:endParaRPr lang="en-US" sz="1050" dirty="0"/>
          </a:p>
        </p:txBody>
      </p:sp>
      <p:sp>
        <p:nvSpPr>
          <p:cNvPr id="20" name="Shape 16"/>
          <p:cNvSpPr/>
          <p:nvPr/>
        </p:nvSpPr>
        <p:spPr>
          <a:xfrm>
            <a:off x="685800" y="4448556"/>
            <a:ext cx="5289804" cy="1677924"/>
          </a:xfrm>
          <a:prstGeom prst="roundRect">
            <a:avLst>
              <a:gd name="adj" fmla="val 4905"/>
            </a:avLst>
          </a:prstGeom>
          <a:solidFill>
            <a:srgbClr val="141417"/>
          </a:solidFill>
          <a:ln w="12700">
            <a:solidFill>
              <a:srgbClr val="242528"/>
            </a:solidFill>
            <a:prstDash val="solid"/>
          </a:ln>
        </p:spPr>
      </p:sp>
      <p:sp>
        <p:nvSpPr>
          <p:cNvPr id="21" name="Shape 17"/>
          <p:cNvSpPr/>
          <p:nvPr/>
        </p:nvSpPr>
        <p:spPr>
          <a:xfrm>
            <a:off x="905256" y="4649724"/>
            <a:ext cx="566928" cy="566928"/>
          </a:xfrm>
          <a:prstGeom prst="ellipse">
            <a:avLst/>
          </a:prstGeom>
          <a:solidFill>
            <a:srgbClr val="1B1C1F"/>
          </a:solidFill>
          <a:ln w="12700">
            <a:solidFill>
              <a:srgbClr val="2C2D30"/>
            </a:solidFill>
            <a:prstDash val="solid"/>
          </a:ln>
        </p:spPr>
      </p:sp>
      <p:pic>
        <p:nvPicPr>
          <p:cNvPr id="22" name="Image 2" descr="preencoded.png">    </p:cNvPr>
          <p:cNvPicPr>
            <a:picLocks noChangeAspect="1"/>
          </p:cNvPicPr>
          <p:nvPr/>
        </p:nvPicPr>
        <p:blipFill>
          <a:blip r:embed="rId3"/>
          <a:stretch>
            <a:fillRect/>
          </a:stretch>
        </p:blipFill>
        <p:spPr>
          <a:xfrm>
            <a:off x="1052657" y="4797125"/>
            <a:ext cx="272125" cy="272125"/>
          </a:xfrm>
          <a:prstGeom prst="rect">
            <a:avLst/>
          </a:prstGeom>
        </p:spPr>
      </p:pic>
      <p:sp>
        <p:nvSpPr>
          <p:cNvPr id="23" name="Text 18"/>
          <p:cNvSpPr/>
          <p:nvPr/>
        </p:nvSpPr>
        <p:spPr>
          <a:xfrm>
            <a:off x="905256" y="5344668"/>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Vertical Supply Chain</a:t>
            </a:r>
            <a:endParaRPr lang="en-US" sz="1450" dirty="0"/>
          </a:p>
        </p:txBody>
      </p:sp>
      <p:sp>
        <p:nvSpPr>
          <p:cNvPr id="24" name="Text 19"/>
          <p:cNvSpPr/>
          <p:nvPr/>
        </p:nvSpPr>
        <p:spPr>
          <a:xfrm>
            <a:off x="905256" y="5673852"/>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Controlled sourcing from silicon to final housing.</a:t>
            </a:r>
            <a:endParaRPr lang="en-US" sz="1050" dirty="0"/>
          </a:p>
        </p:txBody>
      </p:sp>
      <p:sp>
        <p:nvSpPr>
          <p:cNvPr id="25" name="Shape 20"/>
          <p:cNvSpPr/>
          <p:nvPr/>
        </p:nvSpPr>
        <p:spPr>
          <a:xfrm>
            <a:off x="6231636" y="4448556"/>
            <a:ext cx="5289804" cy="1677924"/>
          </a:xfrm>
          <a:prstGeom prst="roundRect">
            <a:avLst>
              <a:gd name="adj" fmla="val 4905"/>
            </a:avLst>
          </a:prstGeom>
          <a:solidFill>
            <a:srgbClr val="141417"/>
          </a:solidFill>
          <a:ln w="12700">
            <a:solidFill>
              <a:srgbClr val="242528"/>
            </a:solidFill>
            <a:prstDash val="solid"/>
          </a:ln>
        </p:spPr>
      </p:sp>
      <p:sp>
        <p:nvSpPr>
          <p:cNvPr id="26" name="Shape 21"/>
          <p:cNvSpPr/>
          <p:nvPr/>
        </p:nvSpPr>
        <p:spPr>
          <a:xfrm>
            <a:off x="6451092" y="4649724"/>
            <a:ext cx="566928" cy="566928"/>
          </a:xfrm>
          <a:prstGeom prst="ellipse">
            <a:avLst/>
          </a:prstGeom>
          <a:solidFill>
            <a:srgbClr val="1B1C1F"/>
          </a:solidFill>
          <a:ln w="12700">
            <a:solidFill>
              <a:srgbClr val="2C2D30"/>
            </a:solidFill>
            <a:prstDash val="solid"/>
          </a:ln>
        </p:spPr>
      </p:sp>
      <p:pic>
        <p:nvPicPr>
          <p:cNvPr id="27" name="Image 3" descr="preencoded.png">    </p:cNvPr>
          <p:cNvPicPr>
            <a:picLocks noChangeAspect="1"/>
          </p:cNvPicPr>
          <p:nvPr/>
        </p:nvPicPr>
        <p:blipFill>
          <a:blip r:embed="rId4"/>
          <a:stretch>
            <a:fillRect/>
          </a:stretch>
        </p:blipFill>
        <p:spPr>
          <a:xfrm>
            <a:off x="6598493" y="4797125"/>
            <a:ext cx="272125" cy="272125"/>
          </a:xfrm>
          <a:prstGeom prst="rect">
            <a:avLst/>
          </a:prstGeom>
        </p:spPr>
      </p:pic>
      <p:sp>
        <p:nvSpPr>
          <p:cNvPr id="28" name="Text 22"/>
          <p:cNvSpPr/>
          <p:nvPr/>
        </p:nvSpPr>
        <p:spPr>
          <a:xfrm>
            <a:off x="6451092" y="5344668"/>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Scalable Production</a:t>
            </a:r>
            <a:endParaRPr lang="en-US" sz="1450" dirty="0"/>
          </a:p>
        </p:txBody>
      </p:sp>
      <p:sp>
        <p:nvSpPr>
          <p:cNvPr id="29" name="Text 23"/>
          <p:cNvSpPr/>
          <p:nvPr/>
        </p:nvSpPr>
        <p:spPr>
          <a:xfrm>
            <a:off x="6451092" y="5673852"/>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Built to scale from pilot runs to global volume.</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2F3F4"/>
        </a:solidFill>
      </p:bgPr>
    </p:bg>
    <p:spTree>
      <p:nvGrpSpPr>
        <p:cNvPr id="1" name=""/>
        <p:cNvGrpSpPr/>
        <p:nvPr/>
      </p:nvGrpSpPr>
      <p:grpSpPr>
        <a:xfrm>
          <a:off x="0" y="0"/>
          <a:ext cx="0" cy="0"/>
          <a:chOff x="0" y="0"/>
          <a:chExt cx="0" cy="0"/>
        </a:xfrm>
      </p:grpSpPr>
      <p:sp>
        <p:nvSpPr>
          <p:cNvPr id="2" name="Shape 0"/>
          <p:cNvSpPr/>
          <p:nvPr/>
        </p:nvSpPr>
        <p:spPr>
          <a:xfrm>
            <a:off x="9082735" y="-2377440"/>
            <a:ext cx="6400800" cy="6400800"/>
          </a:xfrm>
          <a:prstGeom prst="ellipse">
            <a:avLst/>
          </a:prstGeom>
          <a:solidFill>
            <a:srgbClr val="0A84FF">
              <a:alpha val="5000"/>
            </a:srgbClr>
          </a:solidFill>
          <a:ln/>
        </p:spPr>
      </p:sp>
      <p:sp>
        <p:nvSpPr>
          <p:cNvPr id="3" name="Text 1"/>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111214"/>
                </a:solidFill>
                <a:latin typeface="Arial" pitchFamily="34" charset="0"/>
                <a:ea typeface="Arial" pitchFamily="34" charset="-122"/>
                <a:cs typeface="Arial" pitchFamily="34" charset="-120"/>
              </a:rPr>
              <a:t>SYNTRA SMART</a:t>
            </a:r>
            <a:endParaRPr lang="en-US" sz="1050" dirty="0"/>
          </a:p>
        </p:txBody>
      </p:sp>
      <p:sp>
        <p:nvSpPr>
          <p:cNvPr id="4" name="Text 2"/>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5B5F63"/>
                </a:solidFill>
                <a:latin typeface="Arial" pitchFamily="34" charset="0"/>
                <a:ea typeface="Arial" pitchFamily="34" charset="-122"/>
                <a:cs typeface="Arial" pitchFamily="34" charset="-120"/>
              </a:rPr>
              <a:t>QUALITY STANDARDS</a:t>
            </a:r>
            <a:endParaRPr lang="en-US" sz="900" dirty="0"/>
          </a:p>
        </p:txBody>
      </p:sp>
      <p:sp>
        <p:nvSpPr>
          <p:cNvPr id="5" name="Text 3"/>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5B5F63"/>
                </a:solidFill>
                <a:latin typeface="Calibri" pitchFamily="34" charset="0"/>
                <a:ea typeface="Calibri" pitchFamily="34" charset="-122"/>
                <a:cs typeface="Calibri" pitchFamily="34" charset="-120"/>
              </a:rPr>
              <a:t>32 / 37   —   SYNTRA SMART GLOBAL COMPANY PROFILE</a:t>
            </a:r>
            <a:endParaRPr lang="en-US" sz="800" dirty="0"/>
          </a:p>
        </p:txBody>
      </p:sp>
      <p:sp>
        <p:nvSpPr>
          <p:cNvPr id="6" name="Text 4"/>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5B5F63"/>
                </a:solidFill>
                <a:latin typeface="Arial" pitchFamily="34" charset="0"/>
                <a:ea typeface="Arial" pitchFamily="34" charset="-122"/>
                <a:cs typeface="Arial" pitchFamily="34" charset="-120"/>
              </a:rPr>
              <a:t>SMART LIVING. SEAMLESSLY CONNECTED.</a:t>
            </a:r>
            <a:endParaRPr lang="en-US" sz="800" dirty="0"/>
          </a:p>
        </p:txBody>
      </p:sp>
      <p:sp>
        <p:nvSpPr>
          <p:cNvPr id="7" name="Text 5"/>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28 — QUALITY STANDARDS</a:t>
            </a:r>
            <a:endParaRPr lang="en-US" sz="1300" dirty="0"/>
          </a:p>
        </p:txBody>
      </p:sp>
      <p:sp>
        <p:nvSpPr>
          <p:cNvPr id="8" name="Text 6"/>
          <p:cNvSpPr/>
          <p:nvPr/>
        </p:nvSpPr>
        <p:spPr>
          <a:xfrm>
            <a:off x="640080" y="1344168"/>
            <a:ext cx="10881360" cy="1051560"/>
          </a:xfrm>
          <a:prstGeom prst="rect">
            <a:avLst/>
          </a:prstGeom>
          <a:noFill/>
          <a:ln/>
        </p:spPr>
        <p:txBody>
          <a:bodyPr wrap="square" lIns="0" tIns="0" rIns="0" bIns="0" rtlCol="0" anchor="ctr"/>
          <a:lstStyle/>
          <a:p>
            <a:pPr algn="l" indent="0" marL="0">
              <a:lnSpc>
                <a:spcPts val="2912"/>
              </a:lnSpc>
              <a:buNone/>
            </a:pPr>
            <a:r>
              <a:rPr lang="en-US" sz="2800" b="1" dirty="0">
                <a:solidFill>
                  <a:srgbClr val="111214"/>
                </a:solidFill>
                <a:latin typeface="Arial" pitchFamily="34" charset="0"/>
                <a:ea typeface="Arial" pitchFamily="34" charset="-122"/>
                <a:cs typeface="Arial" pitchFamily="34" charset="-120"/>
              </a:rPr>
              <a:t>Engineered to Meet Global Standards</a:t>
            </a:r>
            <a:endParaRPr lang="en-US" sz="2800" dirty="0"/>
          </a:p>
        </p:txBody>
      </p:sp>
      <p:sp>
        <p:nvSpPr>
          <p:cNvPr id="9" name="Text 7"/>
          <p:cNvSpPr/>
          <p:nvPr/>
        </p:nvSpPr>
        <p:spPr>
          <a:xfrm>
            <a:off x="685800" y="2331720"/>
            <a:ext cx="9875520" cy="731520"/>
          </a:xfrm>
          <a:prstGeom prst="rect">
            <a:avLst/>
          </a:prstGeom>
          <a:noFill/>
          <a:ln/>
        </p:spPr>
        <p:txBody>
          <a:bodyPr wrap="square" lIns="0" tIns="0" rIns="0" bIns="0" rtlCol="0" anchor="ctr"/>
          <a:lstStyle/>
          <a:p>
            <a:pPr indent="0" marL="0">
              <a:lnSpc>
                <a:spcPct val="130000"/>
              </a:lnSpc>
              <a:buNone/>
            </a:pPr>
            <a:r>
              <a:rPr lang="en-US" sz="1300" dirty="0">
                <a:solidFill>
                  <a:srgbClr val="5B5F63"/>
                </a:solidFill>
                <a:latin typeface="Calibri" pitchFamily="34" charset="0"/>
                <a:ea typeface="Calibri" pitchFamily="34" charset="-122"/>
                <a:cs typeface="Calibri" pitchFamily="34" charset="-120"/>
              </a:rPr>
              <a:t>Every SYNTRA device is engineered to meet the world's most demanding regulatory and safety requirements before it reaches a single home.</a:t>
            </a:r>
            <a:endParaRPr lang="en-US" sz="1300" dirty="0"/>
          </a:p>
        </p:txBody>
      </p:sp>
      <p:sp>
        <p:nvSpPr>
          <p:cNvPr id="10" name="Shape 8"/>
          <p:cNvSpPr/>
          <p:nvPr/>
        </p:nvSpPr>
        <p:spPr>
          <a:xfrm>
            <a:off x="925830" y="3383280"/>
            <a:ext cx="1097280" cy="1097280"/>
          </a:xfrm>
          <a:prstGeom prst="ellipse">
            <a:avLst/>
          </a:prstGeom>
          <a:solidFill>
            <a:srgbClr val="FFFFFF"/>
          </a:solidFill>
          <a:ln w="19050">
            <a:solidFill>
              <a:srgbClr val="D6D7D8"/>
            </a:solidFill>
            <a:prstDash val="solid"/>
          </a:ln>
        </p:spPr>
      </p:sp>
      <p:sp>
        <p:nvSpPr>
          <p:cNvPr id="11" name="Text 9"/>
          <p:cNvSpPr/>
          <p:nvPr/>
        </p:nvSpPr>
        <p:spPr>
          <a:xfrm>
            <a:off x="685800" y="3785616"/>
            <a:ext cx="1577340" cy="320040"/>
          </a:xfrm>
          <a:prstGeom prst="rect">
            <a:avLst/>
          </a:prstGeom>
          <a:noFill/>
          <a:ln/>
        </p:spPr>
        <p:txBody>
          <a:bodyPr wrap="square" lIns="0" tIns="0" rIns="0" bIns="0" rtlCol="0" anchor="ctr"/>
          <a:lstStyle/>
          <a:p>
            <a:pPr algn="ctr" indent="0" marL="0">
              <a:buNone/>
            </a:pPr>
            <a:r>
              <a:rPr lang="en-US" sz="1200" b="1" dirty="0">
                <a:solidFill>
                  <a:srgbClr val="111214"/>
                </a:solidFill>
                <a:latin typeface="Arial" pitchFamily="34" charset="0"/>
                <a:ea typeface="Arial" pitchFamily="34" charset="-122"/>
                <a:cs typeface="Arial" pitchFamily="34" charset="-120"/>
              </a:rPr>
              <a:t>CE</a:t>
            </a:r>
            <a:endParaRPr lang="en-US" sz="1200" dirty="0"/>
          </a:p>
        </p:txBody>
      </p:sp>
      <p:sp>
        <p:nvSpPr>
          <p:cNvPr id="12" name="Shape 10"/>
          <p:cNvSpPr/>
          <p:nvPr/>
        </p:nvSpPr>
        <p:spPr>
          <a:xfrm>
            <a:off x="2777490" y="3383280"/>
            <a:ext cx="1097280" cy="1097280"/>
          </a:xfrm>
          <a:prstGeom prst="ellipse">
            <a:avLst/>
          </a:prstGeom>
          <a:solidFill>
            <a:srgbClr val="FFFFFF"/>
          </a:solidFill>
          <a:ln w="19050">
            <a:solidFill>
              <a:srgbClr val="D6D7D8"/>
            </a:solidFill>
            <a:prstDash val="solid"/>
          </a:ln>
        </p:spPr>
      </p:sp>
      <p:sp>
        <p:nvSpPr>
          <p:cNvPr id="13" name="Text 11"/>
          <p:cNvSpPr/>
          <p:nvPr/>
        </p:nvSpPr>
        <p:spPr>
          <a:xfrm>
            <a:off x="2537460" y="3785616"/>
            <a:ext cx="1577340" cy="320040"/>
          </a:xfrm>
          <a:prstGeom prst="rect">
            <a:avLst/>
          </a:prstGeom>
          <a:noFill/>
          <a:ln/>
        </p:spPr>
        <p:txBody>
          <a:bodyPr wrap="square" lIns="0" tIns="0" rIns="0" bIns="0" rtlCol="0" anchor="ctr"/>
          <a:lstStyle/>
          <a:p>
            <a:pPr algn="ctr" indent="0" marL="0">
              <a:buNone/>
            </a:pPr>
            <a:r>
              <a:rPr lang="en-US" sz="1200" b="1" dirty="0">
                <a:solidFill>
                  <a:srgbClr val="111214"/>
                </a:solidFill>
                <a:latin typeface="Arial" pitchFamily="34" charset="0"/>
                <a:ea typeface="Arial" pitchFamily="34" charset="-122"/>
                <a:cs typeface="Arial" pitchFamily="34" charset="-120"/>
              </a:rPr>
              <a:t>FCC</a:t>
            </a:r>
            <a:endParaRPr lang="en-US" sz="1200" dirty="0"/>
          </a:p>
        </p:txBody>
      </p:sp>
      <p:sp>
        <p:nvSpPr>
          <p:cNvPr id="14" name="Shape 12"/>
          <p:cNvSpPr/>
          <p:nvPr/>
        </p:nvSpPr>
        <p:spPr>
          <a:xfrm>
            <a:off x="4629150" y="3383280"/>
            <a:ext cx="1097280" cy="1097280"/>
          </a:xfrm>
          <a:prstGeom prst="ellipse">
            <a:avLst/>
          </a:prstGeom>
          <a:solidFill>
            <a:srgbClr val="FFFFFF"/>
          </a:solidFill>
          <a:ln w="19050">
            <a:solidFill>
              <a:srgbClr val="D6D7D8"/>
            </a:solidFill>
            <a:prstDash val="solid"/>
          </a:ln>
        </p:spPr>
      </p:sp>
      <p:sp>
        <p:nvSpPr>
          <p:cNvPr id="15" name="Text 13"/>
          <p:cNvSpPr/>
          <p:nvPr/>
        </p:nvSpPr>
        <p:spPr>
          <a:xfrm>
            <a:off x="4389120" y="3785616"/>
            <a:ext cx="1577340" cy="320040"/>
          </a:xfrm>
          <a:prstGeom prst="rect">
            <a:avLst/>
          </a:prstGeom>
          <a:noFill/>
          <a:ln/>
        </p:spPr>
        <p:txBody>
          <a:bodyPr wrap="square" lIns="0" tIns="0" rIns="0" bIns="0" rtlCol="0" anchor="ctr"/>
          <a:lstStyle/>
          <a:p>
            <a:pPr algn="ctr" indent="0" marL="0">
              <a:buNone/>
            </a:pPr>
            <a:r>
              <a:rPr lang="en-US" sz="1200" b="1" dirty="0">
                <a:solidFill>
                  <a:srgbClr val="111214"/>
                </a:solidFill>
                <a:latin typeface="Arial" pitchFamily="34" charset="0"/>
                <a:ea typeface="Arial" pitchFamily="34" charset="-122"/>
                <a:cs typeface="Arial" pitchFamily="34" charset="-120"/>
              </a:rPr>
              <a:t>SASO</a:t>
            </a:r>
            <a:endParaRPr lang="en-US" sz="1200" dirty="0"/>
          </a:p>
        </p:txBody>
      </p:sp>
      <p:sp>
        <p:nvSpPr>
          <p:cNvPr id="16" name="Shape 14"/>
          <p:cNvSpPr/>
          <p:nvPr/>
        </p:nvSpPr>
        <p:spPr>
          <a:xfrm>
            <a:off x="6480810" y="3383280"/>
            <a:ext cx="1097280" cy="1097280"/>
          </a:xfrm>
          <a:prstGeom prst="ellipse">
            <a:avLst/>
          </a:prstGeom>
          <a:solidFill>
            <a:srgbClr val="FFFFFF"/>
          </a:solidFill>
          <a:ln w="19050">
            <a:solidFill>
              <a:srgbClr val="D6D7D8"/>
            </a:solidFill>
            <a:prstDash val="solid"/>
          </a:ln>
        </p:spPr>
      </p:sp>
      <p:sp>
        <p:nvSpPr>
          <p:cNvPr id="17" name="Text 15"/>
          <p:cNvSpPr/>
          <p:nvPr/>
        </p:nvSpPr>
        <p:spPr>
          <a:xfrm>
            <a:off x="6240780" y="3785616"/>
            <a:ext cx="1577340" cy="320040"/>
          </a:xfrm>
          <a:prstGeom prst="rect">
            <a:avLst/>
          </a:prstGeom>
          <a:noFill/>
          <a:ln/>
        </p:spPr>
        <p:txBody>
          <a:bodyPr wrap="square" lIns="0" tIns="0" rIns="0" bIns="0" rtlCol="0" anchor="ctr"/>
          <a:lstStyle/>
          <a:p>
            <a:pPr algn="ctr" indent="0" marL="0">
              <a:buNone/>
            </a:pPr>
            <a:r>
              <a:rPr lang="en-US" sz="1200" b="1" dirty="0">
                <a:solidFill>
                  <a:srgbClr val="111214"/>
                </a:solidFill>
                <a:latin typeface="Arial" pitchFamily="34" charset="0"/>
                <a:ea typeface="Arial" pitchFamily="34" charset="-122"/>
                <a:cs typeface="Arial" pitchFamily="34" charset="-120"/>
              </a:rPr>
              <a:t>RoHS</a:t>
            </a:r>
            <a:endParaRPr lang="en-US" sz="1200" dirty="0"/>
          </a:p>
        </p:txBody>
      </p:sp>
      <p:sp>
        <p:nvSpPr>
          <p:cNvPr id="18" name="Shape 16"/>
          <p:cNvSpPr/>
          <p:nvPr/>
        </p:nvSpPr>
        <p:spPr>
          <a:xfrm>
            <a:off x="8332470" y="3383280"/>
            <a:ext cx="1097280" cy="1097280"/>
          </a:xfrm>
          <a:prstGeom prst="ellipse">
            <a:avLst/>
          </a:prstGeom>
          <a:solidFill>
            <a:srgbClr val="FFFFFF"/>
          </a:solidFill>
          <a:ln w="19050">
            <a:solidFill>
              <a:srgbClr val="D6D7D8"/>
            </a:solidFill>
            <a:prstDash val="solid"/>
          </a:ln>
        </p:spPr>
      </p:sp>
      <p:sp>
        <p:nvSpPr>
          <p:cNvPr id="19" name="Text 17"/>
          <p:cNvSpPr/>
          <p:nvPr/>
        </p:nvSpPr>
        <p:spPr>
          <a:xfrm>
            <a:off x="8092440" y="3785616"/>
            <a:ext cx="1577340" cy="320040"/>
          </a:xfrm>
          <a:prstGeom prst="rect">
            <a:avLst/>
          </a:prstGeom>
          <a:noFill/>
          <a:ln/>
        </p:spPr>
        <p:txBody>
          <a:bodyPr wrap="square" lIns="0" tIns="0" rIns="0" bIns="0" rtlCol="0" anchor="ctr"/>
          <a:lstStyle/>
          <a:p>
            <a:pPr algn="ctr" indent="0" marL="0">
              <a:buNone/>
            </a:pPr>
            <a:r>
              <a:rPr lang="en-US" sz="1200" b="1" dirty="0">
                <a:solidFill>
                  <a:srgbClr val="111214"/>
                </a:solidFill>
                <a:latin typeface="Arial" pitchFamily="34" charset="0"/>
                <a:ea typeface="Arial" pitchFamily="34" charset="-122"/>
                <a:cs typeface="Arial" pitchFamily="34" charset="-120"/>
              </a:rPr>
              <a:t>ISO 9001</a:t>
            </a:r>
            <a:endParaRPr lang="en-US" sz="1200" dirty="0"/>
          </a:p>
        </p:txBody>
      </p:sp>
      <p:sp>
        <p:nvSpPr>
          <p:cNvPr id="20" name="Shape 18"/>
          <p:cNvSpPr/>
          <p:nvPr/>
        </p:nvSpPr>
        <p:spPr>
          <a:xfrm>
            <a:off x="10184130" y="3383280"/>
            <a:ext cx="1097280" cy="1097280"/>
          </a:xfrm>
          <a:prstGeom prst="ellipse">
            <a:avLst/>
          </a:prstGeom>
          <a:solidFill>
            <a:srgbClr val="FFFFFF"/>
          </a:solidFill>
          <a:ln w="19050">
            <a:solidFill>
              <a:srgbClr val="D6D7D8"/>
            </a:solidFill>
            <a:prstDash val="solid"/>
          </a:ln>
        </p:spPr>
      </p:sp>
      <p:sp>
        <p:nvSpPr>
          <p:cNvPr id="21" name="Text 19"/>
          <p:cNvSpPr/>
          <p:nvPr/>
        </p:nvSpPr>
        <p:spPr>
          <a:xfrm>
            <a:off x="9944100" y="3785616"/>
            <a:ext cx="1577340" cy="320040"/>
          </a:xfrm>
          <a:prstGeom prst="rect">
            <a:avLst/>
          </a:prstGeom>
          <a:noFill/>
          <a:ln/>
        </p:spPr>
        <p:txBody>
          <a:bodyPr wrap="square" lIns="0" tIns="0" rIns="0" bIns="0" rtlCol="0" anchor="ctr"/>
          <a:lstStyle/>
          <a:p>
            <a:pPr algn="ctr" indent="0" marL="0">
              <a:buNone/>
            </a:pPr>
            <a:r>
              <a:rPr lang="en-US" sz="1200" b="1" dirty="0">
                <a:solidFill>
                  <a:srgbClr val="111214"/>
                </a:solidFill>
                <a:latin typeface="Arial" pitchFamily="34" charset="0"/>
                <a:ea typeface="Arial" pitchFamily="34" charset="-122"/>
                <a:cs typeface="Arial" pitchFamily="34" charset="-120"/>
              </a:rPr>
              <a:t>IP65</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GLOBAL EXPANSION</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33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29 — GLOBAL EXPANSION VISION</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From Riyadh to the World</a:t>
            </a:r>
            <a:endParaRPr lang="en-US" sz="3200" dirty="0"/>
          </a:p>
        </p:txBody>
      </p:sp>
      <p:sp>
        <p:nvSpPr>
          <p:cNvPr id="10" name="Shape 8"/>
          <p:cNvSpPr/>
          <p:nvPr/>
        </p:nvSpPr>
        <p:spPr>
          <a:xfrm>
            <a:off x="685800" y="2606040"/>
            <a:ext cx="1984248" cy="2926080"/>
          </a:xfrm>
          <a:prstGeom prst="roundRect">
            <a:avLst>
              <a:gd name="adj" fmla="val 4147"/>
            </a:avLst>
          </a:prstGeom>
          <a:solidFill>
            <a:srgbClr val="141417"/>
          </a:solidFill>
          <a:ln w="12700">
            <a:solidFill>
              <a:srgbClr val="242528"/>
            </a:solidFill>
            <a:prstDash val="solid"/>
          </a:ln>
        </p:spPr>
      </p:sp>
      <p:sp>
        <p:nvSpPr>
          <p:cNvPr id="11" name="Text 9"/>
          <p:cNvSpPr/>
          <p:nvPr/>
        </p:nvSpPr>
        <p:spPr>
          <a:xfrm>
            <a:off x="868680" y="2834640"/>
            <a:ext cx="1618488" cy="548640"/>
          </a:xfrm>
          <a:prstGeom prst="rect">
            <a:avLst/>
          </a:prstGeom>
          <a:noFill/>
          <a:ln/>
        </p:spPr>
        <p:txBody>
          <a:bodyPr wrap="square" lIns="0" tIns="0" rIns="0" bIns="0" rtlCol="0" anchor="ctr"/>
          <a:lstStyle/>
          <a:p>
            <a:pPr indent="0" marL="0">
              <a:buNone/>
            </a:pPr>
            <a:r>
              <a:rPr lang="en-US" sz="2600" b="1" dirty="0">
                <a:solidFill>
                  <a:srgbClr val="0A84FF"/>
                </a:solidFill>
                <a:latin typeface="Arial" pitchFamily="34" charset="0"/>
                <a:ea typeface="Arial" pitchFamily="34" charset="-122"/>
                <a:cs typeface="Arial" pitchFamily="34" charset="-120"/>
              </a:rPr>
              <a:t>01</a:t>
            </a:r>
            <a:endParaRPr lang="en-US" sz="2600" dirty="0"/>
          </a:p>
        </p:txBody>
      </p:sp>
      <p:sp>
        <p:nvSpPr>
          <p:cNvPr id="12" name="Text 10"/>
          <p:cNvSpPr/>
          <p:nvPr/>
        </p:nvSpPr>
        <p:spPr>
          <a:xfrm>
            <a:off x="868680" y="3840480"/>
            <a:ext cx="1618488" cy="731520"/>
          </a:xfrm>
          <a:prstGeom prst="rect">
            <a:avLst/>
          </a:prstGeom>
          <a:noFill/>
          <a:ln/>
        </p:spPr>
        <p:txBody>
          <a:bodyPr wrap="square" lIns="0" tIns="0" rIns="0" bIns="0" rtlCol="0" anchor="ctr"/>
          <a:lstStyle/>
          <a:p>
            <a:pPr indent="0" marL="0">
              <a:lnSpc>
                <a:spcPct val="115000"/>
              </a:lnSpc>
              <a:buNone/>
            </a:pPr>
            <a:r>
              <a:rPr lang="en-US" sz="1250" b="1" dirty="0">
                <a:solidFill>
                  <a:srgbClr val="FFFFFF"/>
                </a:solidFill>
                <a:latin typeface="Arial" pitchFamily="34" charset="0"/>
                <a:ea typeface="Arial" pitchFamily="34" charset="-122"/>
                <a:cs typeface="Arial" pitchFamily="34" charset="-120"/>
              </a:rPr>
              <a:t>Saudi Arabia &amp; GCC</a:t>
            </a:r>
            <a:endParaRPr lang="en-US" sz="1250" dirty="0"/>
          </a:p>
        </p:txBody>
      </p:sp>
      <p:sp>
        <p:nvSpPr>
          <p:cNvPr id="13" name="Text 11"/>
          <p:cNvSpPr/>
          <p:nvPr/>
        </p:nvSpPr>
        <p:spPr>
          <a:xfrm>
            <a:off x="868680" y="5120640"/>
            <a:ext cx="1618488" cy="320040"/>
          </a:xfrm>
          <a:prstGeom prst="rect">
            <a:avLst/>
          </a:prstGeom>
          <a:noFill/>
          <a:ln/>
        </p:spPr>
        <p:txBody>
          <a:bodyPr wrap="square" lIns="0" tIns="0" rIns="0" bIns="0" rtlCol="0" anchor="ctr"/>
          <a:lstStyle/>
          <a:p>
            <a:pPr indent="0" marL="0">
              <a:buNone/>
            </a:pPr>
            <a:r>
              <a:rPr lang="en-US" sz="1050" dirty="0">
                <a:solidFill>
                  <a:srgbClr val="8B8E93"/>
                </a:solidFill>
                <a:latin typeface="Calibri" pitchFamily="34" charset="0"/>
                <a:ea typeface="Calibri" pitchFamily="34" charset="-122"/>
                <a:cs typeface="Calibri" pitchFamily="34" charset="-120"/>
              </a:rPr>
              <a:t>2026</a:t>
            </a:r>
            <a:endParaRPr lang="en-US" sz="1050" dirty="0"/>
          </a:p>
        </p:txBody>
      </p:sp>
      <p:sp>
        <p:nvSpPr>
          <p:cNvPr id="14" name="Shape 12"/>
          <p:cNvSpPr/>
          <p:nvPr/>
        </p:nvSpPr>
        <p:spPr>
          <a:xfrm>
            <a:off x="2898648" y="2606040"/>
            <a:ext cx="1984248" cy="2926080"/>
          </a:xfrm>
          <a:prstGeom prst="roundRect">
            <a:avLst>
              <a:gd name="adj" fmla="val 4147"/>
            </a:avLst>
          </a:prstGeom>
          <a:solidFill>
            <a:srgbClr val="141417"/>
          </a:solidFill>
          <a:ln w="12700">
            <a:solidFill>
              <a:srgbClr val="242528"/>
            </a:solidFill>
            <a:prstDash val="solid"/>
          </a:ln>
        </p:spPr>
      </p:sp>
      <p:sp>
        <p:nvSpPr>
          <p:cNvPr id="15" name="Text 13"/>
          <p:cNvSpPr/>
          <p:nvPr/>
        </p:nvSpPr>
        <p:spPr>
          <a:xfrm>
            <a:off x="3081528" y="2834640"/>
            <a:ext cx="1618488" cy="548640"/>
          </a:xfrm>
          <a:prstGeom prst="rect">
            <a:avLst/>
          </a:prstGeom>
          <a:noFill/>
          <a:ln/>
        </p:spPr>
        <p:txBody>
          <a:bodyPr wrap="square" lIns="0" tIns="0" rIns="0" bIns="0" rtlCol="0" anchor="ctr"/>
          <a:lstStyle/>
          <a:p>
            <a:pPr indent="0" marL="0">
              <a:buNone/>
            </a:pPr>
            <a:r>
              <a:rPr lang="en-US" sz="2600" b="1" dirty="0">
                <a:solidFill>
                  <a:srgbClr val="0A84FF"/>
                </a:solidFill>
                <a:latin typeface="Arial" pitchFamily="34" charset="0"/>
                <a:ea typeface="Arial" pitchFamily="34" charset="-122"/>
                <a:cs typeface="Arial" pitchFamily="34" charset="-120"/>
              </a:rPr>
              <a:t>02</a:t>
            </a:r>
            <a:endParaRPr lang="en-US" sz="2600" dirty="0"/>
          </a:p>
        </p:txBody>
      </p:sp>
      <p:sp>
        <p:nvSpPr>
          <p:cNvPr id="16" name="Text 14"/>
          <p:cNvSpPr/>
          <p:nvPr/>
        </p:nvSpPr>
        <p:spPr>
          <a:xfrm>
            <a:off x="3081528" y="3840480"/>
            <a:ext cx="1618488" cy="731520"/>
          </a:xfrm>
          <a:prstGeom prst="rect">
            <a:avLst/>
          </a:prstGeom>
          <a:noFill/>
          <a:ln/>
        </p:spPr>
        <p:txBody>
          <a:bodyPr wrap="square" lIns="0" tIns="0" rIns="0" bIns="0" rtlCol="0" anchor="ctr"/>
          <a:lstStyle/>
          <a:p>
            <a:pPr indent="0" marL="0">
              <a:lnSpc>
                <a:spcPct val="115000"/>
              </a:lnSpc>
              <a:buNone/>
            </a:pPr>
            <a:r>
              <a:rPr lang="en-US" sz="1250" b="1" dirty="0">
                <a:solidFill>
                  <a:srgbClr val="FFFFFF"/>
                </a:solidFill>
                <a:latin typeface="Arial" pitchFamily="34" charset="0"/>
                <a:ea typeface="Arial" pitchFamily="34" charset="-122"/>
                <a:cs typeface="Arial" pitchFamily="34" charset="-120"/>
              </a:rPr>
              <a:t>Wider MENA</a:t>
            </a:r>
            <a:endParaRPr lang="en-US" sz="1250" dirty="0"/>
          </a:p>
        </p:txBody>
      </p:sp>
      <p:sp>
        <p:nvSpPr>
          <p:cNvPr id="17" name="Text 15"/>
          <p:cNvSpPr/>
          <p:nvPr/>
        </p:nvSpPr>
        <p:spPr>
          <a:xfrm>
            <a:off x="3081528" y="5120640"/>
            <a:ext cx="1618488" cy="320040"/>
          </a:xfrm>
          <a:prstGeom prst="rect">
            <a:avLst/>
          </a:prstGeom>
          <a:noFill/>
          <a:ln/>
        </p:spPr>
        <p:txBody>
          <a:bodyPr wrap="square" lIns="0" tIns="0" rIns="0" bIns="0" rtlCol="0" anchor="ctr"/>
          <a:lstStyle/>
          <a:p>
            <a:pPr indent="0" marL="0">
              <a:buNone/>
            </a:pPr>
            <a:r>
              <a:rPr lang="en-US" sz="1050" dirty="0">
                <a:solidFill>
                  <a:srgbClr val="8B8E93"/>
                </a:solidFill>
                <a:latin typeface="Calibri" pitchFamily="34" charset="0"/>
                <a:ea typeface="Calibri" pitchFamily="34" charset="-122"/>
                <a:cs typeface="Calibri" pitchFamily="34" charset="-120"/>
              </a:rPr>
              <a:t>2027</a:t>
            </a:r>
            <a:endParaRPr lang="en-US" sz="1050" dirty="0"/>
          </a:p>
        </p:txBody>
      </p:sp>
      <p:sp>
        <p:nvSpPr>
          <p:cNvPr id="18" name="Shape 16"/>
          <p:cNvSpPr/>
          <p:nvPr/>
        </p:nvSpPr>
        <p:spPr>
          <a:xfrm>
            <a:off x="5111496" y="2606040"/>
            <a:ext cx="1984248" cy="2926080"/>
          </a:xfrm>
          <a:prstGeom prst="roundRect">
            <a:avLst>
              <a:gd name="adj" fmla="val 4147"/>
            </a:avLst>
          </a:prstGeom>
          <a:solidFill>
            <a:srgbClr val="141417"/>
          </a:solidFill>
          <a:ln w="12700">
            <a:solidFill>
              <a:srgbClr val="242528"/>
            </a:solidFill>
            <a:prstDash val="solid"/>
          </a:ln>
        </p:spPr>
      </p:sp>
      <p:sp>
        <p:nvSpPr>
          <p:cNvPr id="19" name="Text 17"/>
          <p:cNvSpPr/>
          <p:nvPr/>
        </p:nvSpPr>
        <p:spPr>
          <a:xfrm>
            <a:off x="5294376" y="2834640"/>
            <a:ext cx="1618488" cy="548640"/>
          </a:xfrm>
          <a:prstGeom prst="rect">
            <a:avLst/>
          </a:prstGeom>
          <a:noFill/>
          <a:ln/>
        </p:spPr>
        <p:txBody>
          <a:bodyPr wrap="square" lIns="0" tIns="0" rIns="0" bIns="0" rtlCol="0" anchor="ctr"/>
          <a:lstStyle/>
          <a:p>
            <a:pPr indent="0" marL="0">
              <a:buNone/>
            </a:pPr>
            <a:r>
              <a:rPr lang="en-US" sz="2600" b="1" dirty="0">
                <a:solidFill>
                  <a:srgbClr val="0A84FF"/>
                </a:solidFill>
                <a:latin typeface="Arial" pitchFamily="34" charset="0"/>
                <a:ea typeface="Arial" pitchFamily="34" charset="-122"/>
                <a:cs typeface="Arial" pitchFamily="34" charset="-120"/>
              </a:rPr>
              <a:t>03</a:t>
            </a:r>
            <a:endParaRPr lang="en-US" sz="2600" dirty="0"/>
          </a:p>
        </p:txBody>
      </p:sp>
      <p:sp>
        <p:nvSpPr>
          <p:cNvPr id="20" name="Text 18"/>
          <p:cNvSpPr/>
          <p:nvPr/>
        </p:nvSpPr>
        <p:spPr>
          <a:xfrm>
            <a:off x="5294376" y="3840480"/>
            <a:ext cx="1618488" cy="731520"/>
          </a:xfrm>
          <a:prstGeom prst="rect">
            <a:avLst/>
          </a:prstGeom>
          <a:noFill/>
          <a:ln/>
        </p:spPr>
        <p:txBody>
          <a:bodyPr wrap="square" lIns="0" tIns="0" rIns="0" bIns="0" rtlCol="0" anchor="ctr"/>
          <a:lstStyle/>
          <a:p>
            <a:pPr indent="0" marL="0">
              <a:lnSpc>
                <a:spcPct val="115000"/>
              </a:lnSpc>
              <a:buNone/>
            </a:pPr>
            <a:r>
              <a:rPr lang="en-US" sz="1250" b="1" dirty="0">
                <a:solidFill>
                  <a:srgbClr val="FFFFFF"/>
                </a:solidFill>
                <a:latin typeface="Arial" pitchFamily="34" charset="0"/>
                <a:ea typeface="Arial" pitchFamily="34" charset="-122"/>
                <a:cs typeface="Arial" pitchFamily="34" charset="-120"/>
              </a:rPr>
              <a:t>Europe</a:t>
            </a:r>
            <a:endParaRPr lang="en-US" sz="1250" dirty="0"/>
          </a:p>
        </p:txBody>
      </p:sp>
      <p:sp>
        <p:nvSpPr>
          <p:cNvPr id="21" name="Text 19"/>
          <p:cNvSpPr/>
          <p:nvPr/>
        </p:nvSpPr>
        <p:spPr>
          <a:xfrm>
            <a:off x="5294376" y="5120640"/>
            <a:ext cx="1618488" cy="320040"/>
          </a:xfrm>
          <a:prstGeom prst="rect">
            <a:avLst/>
          </a:prstGeom>
          <a:noFill/>
          <a:ln/>
        </p:spPr>
        <p:txBody>
          <a:bodyPr wrap="square" lIns="0" tIns="0" rIns="0" bIns="0" rtlCol="0" anchor="ctr"/>
          <a:lstStyle/>
          <a:p>
            <a:pPr indent="0" marL="0">
              <a:buNone/>
            </a:pPr>
            <a:r>
              <a:rPr lang="en-US" sz="1050" dirty="0">
                <a:solidFill>
                  <a:srgbClr val="8B8E93"/>
                </a:solidFill>
                <a:latin typeface="Calibri" pitchFamily="34" charset="0"/>
                <a:ea typeface="Calibri" pitchFamily="34" charset="-122"/>
                <a:cs typeface="Calibri" pitchFamily="34" charset="-120"/>
              </a:rPr>
              <a:t>2028</a:t>
            </a:r>
            <a:endParaRPr lang="en-US" sz="1050" dirty="0"/>
          </a:p>
        </p:txBody>
      </p:sp>
      <p:sp>
        <p:nvSpPr>
          <p:cNvPr id="22" name="Shape 20"/>
          <p:cNvSpPr/>
          <p:nvPr/>
        </p:nvSpPr>
        <p:spPr>
          <a:xfrm>
            <a:off x="7324344" y="2606040"/>
            <a:ext cx="1984248" cy="2926080"/>
          </a:xfrm>
          <a:prstGeom prst="roundRect">
            <a:avLst>
              <a:gd name="adj" fmla="val 4147"/>
            </a:avLst>
          </a:prstGeom>
          <a:solidFill>
            <a:srgbClr val="141417"/>
          </a:solidFill>
          <a:ln w="12700">
            <a:solidFill>
              <a:srgbClr val="242528"/>
            </a:solidFill>
            <a:prstDash val="solid"/>
          </a:ln>
        </p:spPr>
      </p:sp>
      <p:sp>
        <p:nvSpPr>
          <p:cNvPr id="23" name="Text 21"/>
          <p:cNvSpPr/>
          <p:nvPr/>
        </p:nvSpPr>
        <p:spPr>
          <a:xfrm>
            <a:off x="7507224" y="2834640"/>
            <a:ext cx="1618488" cy="548640"/>
          </a:xfrm>
          <a:prstGeom prst="rect">
            <a:avLst/>
          </a:prstGeom>
          <a:noFill/>
          <a:ln/>
        </p:spPr>
        <p:txBody>
          <a:bodyPr wrap="square" lIns="0" tIns="0" rIns="0" bIns="0" rtlCol="0" anchor="ctr"/>
          <a:lstStyle/>
          <a:p>
            <a:pPr indent="0" marL="0">
              <a:buNone/>
            </a:pPr>
            <a:r>
              <a:rPr lang="en-US" sz="2600" b="1" dirty="0">
                <a:solidFill>
                  <a:srgbClr val="0A84FF"/>
                </a:solidFill>
                <a:latin typeface="Arial" pitchFamily="34" charset="0"/>
                <a:ea typeface="Arial" pitchFamily="34" charset="-122"/>
                <a:cs typeface="Arial" pitchFamily="34" charset="-120"/>
              </a:rPr>
              <a:t>04</a:t>
            </a:r>
            <a:endParaRPr lang="en-US" sz="2600" dirty="0"/>
          </a:p>
        </p:txBody>
      </p:sp>
      <p:sp>
        <p:nvSpPr>
          <p:cNvPr id="24" name="Text 22"/>
          <p:cNvSpPr/>
          <p:nvPr/>
        </p:nvSpPr>
        <p:spPr>
          <a:xfrm>
            <a:off x="7507224" y="3840480"/>
            <a:ext cx="1618488" cy="731520"/>
          </a:xfrm>
          <a:prstGeom prst="rect">
            <a:avLst/>
          </a:prstGeom>
          <a:noFill/>
          <a:ln/>
        </p:spPr>
        <p:txBody>
          <a:bodyPr wrap="square" lIns="0" tIns="0" rIns="0" bIns="0" rtlCol="0" anchor="ctr"/>
          <a:lstStyle/>
          <a:p>
            <a:pPr indent="0" marL="0">
              <a:lnSpc>
                <a:spcPct val="115000"/>
              </a:lnSpc>
              <a:buNone/>
            </a:pPr>
            <a:r>
              <a:rPr lang="en-US" sz="1250" b="1" dirty="0">
                <a:solidFill>
                  <a:srgbClr val="FFFFFF"/>
                </a:solidFill>
                <a:latin typeface="Arial" pitchFamily="34" charset="0"/>
                <a:ea typeface="Arial" pitchFamily="34" charset="-122"/>
                <a:cs typeface="Arial" pitchFamily="34" charset="-120"/>
              </a:rPr>
              <a:t>North America</a:t>
            </a:r>
            <a:endParaRPr lang="en-US" sz="1250" dirty="0"/>
          </a:p>
        </p:txBody>
      </p:sp>
      <p:sp>
        <p:nvSpPr>
          <p:cNvPr id="25" name="Text 23"/>
          <p:cNvSpPr/>
          <p:nvPr/>
        </p:nvSpPr>
        <p:spPr>
          <a:xfrm>
            <a:off x="7507224" y="5120640"/>
            <a:ext cx="1618488" cy="320040"/>
          </a:xfrm>
          <a:prstGeom prst="rect">
            <a:avLst/>
          </a:prstGeom>
          <a:noFill/>
          <a:ln/>
        </p:spPr>
        <p:txBody>
          <a:bodyPr wrap="square" lIns="0" tIns="0" rIns="0" bIns="0" rtlCol="0" anchor="ctr"/>
          <a:lstStyle/>
          <a:p>
            <a:pPr indent="0" marL="0">
              <a:buNone/>
            </a:pPr>
            <a:r>
              <a:rPr lang="en-US" sz="1050" dirty="0">
                <a:solidFill>
                  <a:srgbClr val="8B8E93"/>
                </a:solidFill>
                <a:latin typeface="Calibri" pitchFamily="34" charset="0"/>
                <a:ea typeface="Calibri" pitchFamily="34" charset="-122"/>
                <a:cs typeface="Calibri" pitchFamily="34" charset="-120"/>
              </a:rPr>
              <a:t>2029</a:t>
            </a:r>
            <a:endParaRPr lang="en-US" sz="1050" dirty="0"/>
          </a:p>
        </p:txBody>
      </p:sp>
      <p:sp>
        <p:nvSpPr>
          <p:cNvPr id="26" name="Shape 24"/>
          <p:cNvSpPr/>
          <p:nvPr/>
        </p:nvSpPr>
        <p:spPr>
          <a:xfrm>
            <a:off x="9537192" y="2606040"/>
            <a:ext cx="1984248" cy="2926080"/>
          </a:xfrm>
          <a:prstGeom prst="roundRect">
            <a:avLst>
              <a:gd name="adj" fmla="val 4147"/>
            </a:avLst>
          </a:prstGeom>
          <a:solidFill>
            <a:srgbClr val="141417"/>
          </a:solidFill>
          <a:ln w="12700">
            <a:solidFill>
              <a:srgbClr val="242528"/>
            </a:solidFill>
            <a:prstDash val="solid"/>
          </a:ln>
        </p:spPr>
      </p:sp>
      <p:sp>
        <p:nvSpPr>
          <p:cNvPr id="27" name="Text 25"/>
          <p:cNvSpPr/>
          <p:nvPr/>
        </p:nvSpPr>
        <p:spPr>
          <a:xfrm>
            <a:off x="9720072" y="2834640"/>
            <a:ext cx="1618488" cy="548640"/>
          </a:xfrm>
          <a:prstGeom prst="rect">
            <a:avLst/>
          </a:prstGeom>
          <a:noFill/>
          <a:ln/>
        </p:spPr>
        <p:txBody>
          <a:bodyPr wrap="square" lIns="0" tIns="0" rIns="0" bIns="0" rtlCol="0" anchor="ctr"/>
          <a:lstStyle/>
          <a:p>
            <a:pPr indent="0" marL="0">
              <a:buNone/>
            </a:pPr>
            <a:r>
              <a:rPr lang="en-US" sz="2600" b="1" dirty="0">
                <a:solidFill>
                  <a:srgbClr val="0A84FF"/>
                </a:solidFill>
                <a:latin typeface="Arial" pitchFamily="34" charset="0"/>
                <a:ea typeface="Arial" pitchFamily="34" charset="-122"/>
                <a:cs typeface="Arial" pitchFamily="34" charset="-120"/>
              </a:rPr>
              <a:t>05</a:t>
            </a:r>
            <a:endParaRPr lang="en-US" sz="2600" dirty="0"/>
          </a:p>
        </p:txBody>
      </p:sp>
      <p:sp>
        <p:nvSpPr>
          <p:cNvPr id="28" name="Text 26"/>
          <p:cNvSpPr/>
          <p:nvPr/>
        </p:nvSpPr>
        <p:spPr>
          <a:xfrm>
            <a:off x="9720072" y="3840480"/>
            <a:ext cx="1618488" cy="731520"/>
          </a:xfrm>
          <a:prstGeom prst="rect">
            <a:avLst/>
          </a:prstGeom>
          <a:noFill/>
          <a:ln/>
        </p:spPr>
        <p:txBody>
          <a:bodyPr wrap="square" lIns="0" tIns="0" rIns="0" bIns="0" rtlCol="0" anchor="ctr"/>
          <a:lstStyle/>
          <a:p>
            <a:pPr indent="0" marL="0">
              <a:lnSpc>
                <a:spcPct val="115000"/>
              </a:lnSpc>
              <a:buNone/>
            </a:pPr>
            <a:r>
              <a:rPr lang="en-US" sz="1250" b="1" dirty="0">
                <a:solidFill>
                  <a:srgbClr val="FFFFFF"/>
                </a:solidFill>
                <a:latin typeface="Arial" pitchFamily="34" charset="0"/>
                <a:ea typeface="Arial" pitchFamily="34" charset="-122"/>
                <a:cs typeface="Arial" pitchFamily="34" charset="-120"/>
              </a:rPr>
              <a:t>Global Network</a:t>
            </a:r>
            <a:endParaRPr lang="en-US" sz="1250" dirty="0"/>
          </a:p>
        </p:txBody>
      </p:sp>
      <p:sp>
        <p:nvSpPr>
          <p:cNvPr id="29" name="Text 27"/>
          <p:cNvSpPr/>
          <p:nvPr/>
        </p:nvSpPr>
        <p:spPr>
          <a:xfrm>
            <a:off x="9720072" y="5120640"/>
            <a:ext cx="1618488" cy="320040"/>
          </a:xfrm>
          <a:prstGeom prst="rect">
            <a:avLst/>
          </a:prstGeom>
          <a:noFill/>
          <a:ln/>
        </p:spPr>
        <p:txBody>
          <a:bodyPr wrap="square" lIns="0" tIns="0" rIns="0" bIns="0" rtlCol="0" anchor="ctr"/>
          <a:lstStyle/>
          <a:p>
            <a:pPr indent="0" marL="0">
              <a:buNone/>
            </a:pPr>
            <a:r>
              <a:rPr lang="en-US" sz="1050" dirty="0">
                <a:solidFill>
                  <a:srgbClr val="8B8E93"/>
                </a:solidFill>
                <a:latin typeface="Calibri" pitchFamily="34" charset="0"/>
                <a:ea typeface="Calibri" pitchFamily="34" charset="-122"/>
                <a:cs typeface="Calibri" pitchFamily="34" charset="-120"/>
              </a:rPr>
              <a:t>2030</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FUTURE ROADMAP</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34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30 — FUTURE ROADMAP</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The Next Five Years</a:t>
            </a:r>
            <a:endParaRPr lang="en-US" sz="3200" dirty="0"/>
          </a:p>
        </p:txBody>
      </p:sp>
      <p:sp>
        <p:nvSpPr>
          <p:cNvPr id="10" name="Shape 8"/>
          <p:cNvSpPr/>
          <p:nvPr/>
        </p:nvSpPr>
        <p:spPr>
          <a:xfrm>
            <a:off x="685800" y="2542032"/>
            <a:ext cx="411480" cy="411480"/>
          </a:xfrm>
          <a:prstGeom prst="ellipse">
            <a:avLst/>
          </a:prstGeom>
          <a:solidFill>
            <a:srgbClr val="0A84FF"/>
          </a:solidFill>
          <a:ln w="15875">
            <a:solidFill>
              <a:srgbClr val="0A84FF"/>
            </a:solidFill>
            <a:prstDash val="solid"/>
          </a:ln>
        </p:spPr>
      </p:sp>
      <p:sp>
        <p:nvSpPr>
          <p:cNvPr id="11" name="Text 9"/>
          <p:cNvSpPr/>
          <p:nvPr/>
        </p:nvSpPr>
        <p:spPr>
          <a:xfrm>
            <a:off x="685800" y="2542032"/>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2" name="Text 10"/>
          <p:cNvSpPr/>
          <p:nvPr/>
        </p:nvSpPr>
        <p:spPr>
          <a:xfrm>
            <a:off x="1325880" y="2487168"/>
            <a:ext cx="1280160" cy="457200"/>
          </a:xfrm>
          <a:prstGeom prst="rect">
            <a:avLst/>
          </a:prstGeom>
          <a:noFill/>
          <a:ln/>
        </p:spPr>
        <p:txBody>
          <a:bodyPr wrap="square" lIns="0" tIns="0" rIns="0" bIns="0" rtlCol="0" anchor="ctr"/>
          <a:lstStyle/>
          <a:p>
            <a:pPr indent="0" marL="0">
              <a:buNone/>
            </a:pPr>
            <a:r>
              <a:rPr lang="en-US" sz="1600" b="1" dirty="0">
                <a:solidFill>
                  <a:srgbClr val="0A84FF"/>
                </a:solidFill>
                <a:latin typeface="Arial" pitchFamily="34" charset="0"/>
                <a:ea typeface="Arial" pitchFamily="34" charset="-122"/>
                <a:cs typeface="Arial" pitchFamily="34" charset="-120"/>
              </a:rPr>
              <a:t>2026</a:t>
            </a:r>
            <a:endParaRPr lang="en-US" sz="1600" dirty="0"/>
          </a:p>
        </p:txBody>
      </p:sp>
      <p:sp>
        <p:nvSpPr>
          <p:cNvPr id="13" name="Text 11"/>
          <p:cNvSpPr/>
          <p:nvPr/>
        </p:nvSpPr>
        <p:spPr>
          <a:xfrm>
            <a:off x="2743200" y="2505456"/>
            <a:ext cx="8321040" cy="457200"/>
          </a:xfrm>
          <a:prstGeom prst="rect">
            <a:avLst/>
          </a:prstGeom>
          <a:noFill/>
          <a:ln/>
        </p:spPr>
        <p:txBody>
          <a:bodyPr wrap="square" lIns="0" tIns="0" rIns="0" bIns="0" rtlCol="0" anchor="ctr"/>
          <a:lstStyle/>
          <a:p>
            <a:pPr indent="0" marL="0">
              <a:buNone/>
            </a:pPr>
            <a:r>
              <a:rPr lang="en-US" sz="1400" dirty="0">
                <a:solidFill>
                  <a:srgbClr val="C9CCCF"/>
                </a:solidFill>
                <a:latin typeface="Calibri" pitchFamily="34" charset="0"/>
                <a:ea typeface="Calibri" pitchFamily="34" charset="-122"/>
                <a:cs typeface="Calibri" pitchFamily="34" charset="-120"/>
              </a:rPr>
              <a:t>Global Launch &amp; SYNTRA OS 1.0</a:t>
            </a:r>
            <a:endParaRPr lang="en-US" sz="1400" dirty="0"/>
          </a:p>
        </p:txBody>
      </p:sp>
      <p:sp>
        <p:nvSpPr>
          <p:cNvPr id="14" name="Shape 12"/>
          <p:cNvSpPr/>
          <p:nvPr/>
        </p:nvSpPr>
        <p:spPr>
          <a:xfrm>
            <a:off x="685800" y="3200400"/>
            <a:ext cx="411480" cy="411480"/>
          </a:xfrm>
          <a:prstGeom prst="ellipse">
            <a:avLst/>
          </a:prstGeom>
          <a:solidFill>
            <a:srgbClr val="141417"/>
          </a:solidFill>
          <a:ln w="15875">
            <a:solidFill>
              <a:srgbClr val="0A84FF"/>
            </a:solidFill>
            <a:prstDash val="solid"/>
          </a:ln>
        </p:spPr>
      </p:sp>
      <p:sp>
        <p:nvSpPr>
          <p:cNvPr id="15" name="Text 13"/>
          <p:cNvSpPr/>
          <p:nvPr/>
        </p:nvSpPr>
        <p:spPr>
          <a:xfrm>
            <a:off x="685800" y="3200400"/>
            <a:ext cx="411480" cy="411480"/>
          </a:xfrm>
          <a:prstGeom prst="rect">
            <a:avLst/>
          </a:prstGeom>
          <a:noFill/>
          <a:ln/>
        </p:spPr>
        <p:txBody>
          <a:bodyPr wrap="square" lIns="0" tIns="0" rIns="0" bIns="0" rtlCol="0" anchor="ctr"/>
          <a:lstStyle/>
          <a:p>
            <a:pPr algn="ctr" indent="0" marL="0">
              <a:buNone/>
            </a:pPr>
            <a:r>
              <a:rPr lang="en-US" sz="1200" b="1" dirty="0">
                <a:solidFill>
                  <a:srgbClr val="0A84FF"/>
                </a:solidFill>
                <a:latin typeface="Arial" pitchFamily="34" charset="0"/>
                <a:ea typeface="Arial" pitchFamily="34" charset="-122"/>
                <a:cs typeface="Arial" pitchFamily="34" charset="-120"/>
              </a:rPr>
              <a:t>2</a:t>
            </a:r>
            <a:endParaRPr lang="en-US" sz="1200" dirty="0"/>
          </a:p>
        </p:txBody>
      </p:sp>
      <p:sp>
        <p:nvSpPr>
          <p:cNvPr id="16" name="Text 14"/>
          <p:cNvSpPr/>
          <p:nvPr/>
        </p:nvSpPr>
        <p:spPr>
          <a:xfrm>
            <a:off x="1325880" y="3145536"/>
            <a:ext cx="1280160" cy="457200"/>
          </a:xfrm>
          <a:prstGeom prst="rect">
            <a:avLst/>
          </a:prstGeom>
          <a:noFill/>
          <a:ln/>
        </p:spPr>
        <p:txBody>
          <a:bodyPr wrap="square" lIns="0" tIns="0" rIns="0" bIns="0" rtlCol="0" anchor="ctr"/>
          <a:lstStyle/>
          <a:p>
            <a:pPr indent="0" marL="0">
              <a:buNone/>
            </a:pPr>
            <a:r>
              <a:rPr lang="en-US" sz="1600" b="1" dirty="0">
                <a:solidFill>
                  <a:srgbClr val="0A84FF"/>
                </a:solidFill>
                <a:latin typeface="Arial" pitchFamily="34" charset="0"/>
                <a:ea typeface="Arial" pitchFamily="34" charset="-122"/>
                <a:cs typeface="Arial" pitchFamily="34" charset="-120"/>
              </a:rPr>
              <a:t>2027</a:t>
            </a:r>
            <a:endParaRPr lang="en-US" sz="1600" dirty="0"/>
          </a:p>
        </p:txBody>
      </p:sp>
      <p:sp>
        <p:nvSpPr>
          <p:cNvPr id="17" name="Text 15"/>
          <p:cNvSpPr/>
          <p:nvPr/>
        </p:nvSpPr>
        <p:spPr>
          <a:xfrm>
            <a:off x="2743200" y="3163824"/>
            <a:ext cx="8321040" cy="457200"/>
          </a:xfrm>
          <a:prstGeom prst="rect">
            <a:avLst/>
          </a:prstGeom>
          <a:noFill/>
          <a:ln/>
        </p:spPr>
        <p:txBody>
          <a:bodyPr wrap="square" lIns="0" tIns="0" rIns="0" bIns="0" rtlCol="0" anchor="ctr"/>
          <a:lstStyle/>
          <a:p>
            <a:pPr indent="0" marL="0">
              <a:buNone/>
            </a:pPr>
            <a:r>
              <a:rPr lang="en-US" sz="1400" dirty="0">
                <a:solidFill>
                  <a:srgbClr val="C9CCCF"/>
                </a:solidFill>
                <a:latin typeface="Calibri" pitchFamily="34" charset="0"/>
                <a:ea typeface="Calibri" pitchFamily="34" charset="-122"/>
                <a:cs typeface="Calibri" pitchFamily="34" charset="-120"/>
              </a:rPr>
              <a:t>SYNTRA AI 2.0 &amp; Regional Expansion</a:t>
            </a:r>
            <a:endParaRPr lang="en-US" sz="1400" dirty="0"/>
          </a:p>
        </p:txBody>
      </p:sp>
      <p:sp>
        <p:nvSpPr>
          <p:cNvPr id="18" name="Shape 16"/>
          <p:cNvSpPr/>
          <p:nvPr/>
        </p:nvSpPr>
        <p:spPr>
          <a:xfrm>
            <a:off x="685800" y="3858768"/>
            <a:ext cx="411480" cy="411480"/>
          </a:xfrm>
          <a:prstGeom prst="ellipse">
            <a:avLst/>
          </a:prstGeom>
          <a:solidFill>
            <a:srgbClr val="141417"/>
          </a:solidFill>
          <a:ln w="15875">
            <a:solidFill>
              <a:srgbClr val="0A84FF"/>
            </a:solidFill>
            <a:prstDash val="solid"/>
          </a:ln>
        </p:spPr>
      </p:sp>
      <p:sp>
        <p:nvSpPr>
          <p:cNvPr id="19" name="Text 17"/>
          <p:cNvSpPr/>
          <p:nvPr/>
        </p:nvSpPr>
        <p:spPr>
          <a:xfrm>
            <a:off x="685800" y="3858768"/>
            <a:ext cx="411480" cy="411480"/>
          </a:xfrm>
          <a:prstGeom prst="rect">
            <a:avLst/>
          </a:prstGeom>
          <a:noFill/>
          <a:ln/>
        </p:spPr>
        <p:txBody>
          <a:bodyPr wrap="square" lIns="0" tIns="0" rIns="0" bIns="0" rtlCol="0" anchor="ctr"/>
          <a:lstStyle/>
          <a:p>
            <a:pPr algn="ctr" indent="0" marL="0">
              <a:buNone/>
            </a:pPr>
            <a:r>
              <a:rPr lang="en-US" sz="1200" b="1" dirty="0">
                <a:solidFill>
                  <a:srgbClr val="0A84FF"/>
                </a:solidFill>
                <a:latin typeface="Arial" pitchFamily="34" charset="0"/>
                <a:ea typeface="Arial" pitchFamily="34" charset="-122"/>
                <a:cs typeface="Arial" pitchFamily="34" charset="-120"/>
              </a:rPr>
              <a:t>3</a:t>
            </a:r>
            <a:endParaRPr lang="en-US" sz="1200" dirty="0"/>
          </a:p>
        </p:txBody>
      </p:sp>
      <p:sp>
        <p:nvSpPr>
          <p:cNvPr id="20" name="Text 18"/>
          <p:cNvSpPr/>
          <p:nvPr/>
        </p:nvSpPr>
        <p:spPr>
          <a:xfrm>
            <a:off x="1325880" y="3803904"/>
            <a:ext cx="1280160" cy="457200"/>
          </a:xfrm>
          <a:prstGeom prst="rect">
            <a:avLst/>
          </a:prstGeom>
          <a:noFill/>
          <a:ln/>
        </p:spPr>
        <p:txBody>
          <a:bodyPr wrap="square" lIns="0" tIns="0" rIns="0" bIns="0" rtlCol="0" anchor="ctr"/>
          <a:lstStyle/>
          <a:p>
            <a:pPr indent="0" marL="0">
              <a:buNone/>
            </a:pPr>
            <a:r>
              <a:rPr lang="en-US" sz="1600" b="1" dirty="0">
                <a:solidFill>
                  <a:srgbClr val="0A84FF"/>
                </a:solidFill>
                <a:latin typeface="Arial" pitchFamily="34" charset="0"/>
                <a:ea typeface="Arial" pitchFamily="34" charset="-122"/>
                <a:cs typeface="Arial" pitchFamily="34" charset="-120"/>
              </a:rPr>
              <a:t>2028</a:t>
            </a:r>
            <a:endParaRPr lang="en-US" sz="1600" dirty="0"/>
          </a:p>
        </p:txBody>
      </p:sp>
      <p:sp>
        <p:nvSpPr>
          <p:cNvPr id="21" name="Text 19"/>
          <p:cNvSpPr/>
          <p:nvPr/>
        </p:nvSpPr>
        <p:spPr>
          <a:xfrm>
            <a:off x="2743200" y="3822192"/>
            <a:ext cx="8321040" cy="457200"/>
          </a:xfrm>
          <a:prstGeom prst="rect">
            <a:avLst/>
          </a:prstGeom>
          <a:noFill/>
          <a:ln/>
        </p:spPr>
        <p:txBody>
          <a:bodyPr wrap="square" lIns="0" tIns="0" rIns="0" bIns="0" rtlCol="0" anchor="ctr"/>
          <a:lstStyle/>
          <a:p>
            <a:pPr indent="0" marL="0">
              <a:buNone/>
            </a:pPr>
            <a:r>
              <a:rPr lang="en-US" sz="1400" dirty="0">
                <a:solidFill>
                  <a:srgbClr val="C9CCCF"/>
                </a:solidFill>
                <a:latin typeface="Calibri" pitchFamily="34" charset="0"/>
                <a:ea typeface="Calibri" pitchFamily="34" charset="-122"/>
                <a:cs typeface="Calibri" pitchFamily="34" charset="-120"/>
              </a:rPr>
              <a:t>Industrial &amp; Enterprise Product Line</a:t>
            </a:r>
            <a:endParaRPr lang="en-US" sz="1400" dirty="0"/>
          </a:p>
        </p:txBody>
      </p:sp>
      <p:sp>
        <p:nvSpPr>
          <p:cNvPr id="22" name="Shape 20"/>
          <p:cNvSpPr/>
          <p:nvPr/>
        </p:nvSpPr>
        <p:spPr>
          <a:xfrm>
            <a:off x="685800" y="4517136"/>
            <a:ext cx="411480" cy="411480"/>
          </a:xfrm>
          <a:prstGeom prst="ellipse">
            <a:avLst/>
          </a:prstGeom>
          <a:solidFill>
            <a:srgbClr val="141417"/>
          </a:solidFill>
          <a:ln w="15875">
            <a:solidFill>
              <a:srgbClr val="0A84FF"/>
            </a:solidFill>
            <a:prstDash val="solid"/>
          </a:ln>
        </p:spPr>
      </p:sp>
      <p:sp>
        <p:nvSpPr>
          <p:cNvPr id="23" name="Text 21"/>
          <p:cNvSpPr/>
          <p:nvPr/>
        </p:nvSpPr>
        <p:spPr>
          <a:xfrm>
            <a:off x="685800" y="4517136"/>
            <a:ext cx="411480" cy="411480"/>
          </a:xfrm>
          <a:prstGeom prst="rect">
            <a:avLst/>
          </a:prstGeom>
          <a:noFill/>
          <a:ln/>
        </p:spPr>
        <p:txBody>
          <a:bodyPr wrap="square" lIns="0" tIns="0" rIns="0" bIns="0" rtlCol="0" anchor="ctr"/>
          <a:lstStyle/>
          <a:p>
            <a:pPr algn="ctr" indent="0" marL="0">
              <a:buNone/>
            </a:pPr>
            <a:r>
              <a:rPr lang="en-US" sz="1200" b="1" dirty="0">
                <a:solidFill>
                  <a:srgbClr val="0A84FF"/>
                </a:solidFill>
                <a:latin typeface="Arial" pitchFamily="34" charset="0"/>
                <a:ea typeface="Arial" pitchFamily="34" charset="-122"/>
                <a:cs typeface="Arial" pitchFamily="34" charset="-120"/>
              </a:rPr>
              <a:t>4</a:t>
            </a:r>
            <a:endParaRPr lang="en-US" sz="1200" dirty="0"/>
          </a:p>
        </p:txBody>
      </p:sp>
      <p:sp>
        <p:nvSpPr>
          <p:cNvPr id="24" name="Text 22"/>
          <p:cNvSpPr/>
          <p:nvPr/>
        </p:nvSpPr>
        <p:spPr>
          <a:xfrm>
            <a:off x="1325880" y="4462272"/>
            <a:ext cx="1280160" cy="457200"/>
          </a:xfrm>
          <a:prstGeom prst="rect">
            <a:avLst/>
          </a:prstGeom>
          <a:noFill/>
          <a:ln/>
        </p:spPr>
        <p:txBody>
          <a:bodyPr wrap="square" lIns="0" tIns="0" rIns="0" bIns="0" rtlCol="0" anchor="ctr"/>
          <a:lstStyle/>
          <a:p>
            <a:pPr indent="0" marL="0">
              <a:buNone/>
            </a:pPr>
            <a:r>
              <a:rPr lang="en-US" sz="1600" b="1" dirty="0">
                <a:solidFill>
                  <a:srgbClr val="0A84FF"/>
                </a:solidFill>
                <a:latin typeface="Arial" pitchFamily="34" charset="0"/>
                <a:ea typeface="Arial" pitchFamily="34" charset="-122"/>
                <a:cs typeface="Arial" pitchFamily="34" charset="-120"/>
              </a:rPr>
              <a:t>2029</a:t>
            </a:r>
            <a:endParaRPr lang="en-US" sz="1600" dirty="0"/>
          </a:p>
        </p:txBody>
      </p:sp>
      <p:sp>
        <p:nvSpPr>
          <p:cNvPr id="25" name="Text 23"/>
          <p:cNvSpPr/>
          <p:nvPr/>
        </p:nvSpPr>
        <p:spPr>
          <a:xfrm>
            <a:off x="2743200" y="4480560"/>
            <a:ext cx="8321040" cy="457200"/>
          </a:xfrm>
          <a:prstGeom prst="rect">
            <a:avLst/>
          </a:prstGeom>
          <a:noFill/>
          <a:ln/>
        </p:spPr>
        <p:txBody>
          <a:bodyPr wrap="square" lIns="0" tIns="0" rIns="0" bIns="0" rtlCol="0" anchor="ctr"/>
          <a:lstStyle/>
          <a:p>
            <a:pPr indent="0" marL="0">
              <a:buNone/>
            </a:pPr>
            <a:r>
              <a:rPr lang="en-US" sz="1400" dirty="0">
                <a:solidFill>
                  <a:srgbClr val="C9CCCF"/>
                </a:solidFill>
                <a:latin typeface="Calibri" pitchFamily="34" charset="0"/>
                <a:ea typeface="Calibri" pitchFamily="34" charset="-122"/>
                <a:cs typeface="Calibri" pitchFamily="34" charset="-120"/>
              </a:rPr>
              <a:t>North America Market Entry</a:t>
            </a:r>
            <a:endParaRPr lang="en-US" sz="1400" dirty="0"/>
          </a:p>
        </p:txBody>
      </p:sp>
      <p:sp>
        <p:nvSpPr>
          <p:cNvPr id="26" name="Shape 24"/>
          <p:cNvSpPr/>
          <p:nvPr/>
        </p:nvSpPr>
        <p:spPr>
          <a:xfrm>
            <a:off x="685800" y="5175504"/>
            <a:ext cx="411480" cy="411480"/>
          </a:xfrm>
          <a:prstGeom prst="ellipse">
            <a:avLst/>
          </a:prstGeom>
          <a:solidFill>
            <a:srgbClr val="141417"/>
          </a:solidFill>
          <a:ln w="15875">
            <a:solidFill>
              <a:srgbClr val="0A84FF"/>
            </a:solidFill>
            <a:prstDash val="solid"/>
          </a:ln>
        </p:spPr>
      </p:sp>
      <p:sp>
        <p:nvSpPr>
          <p:cNvPr id="27" name="Text 25"/>
          <p:cNvSpPr/>
          <p:nvPr/>
        </p:nvSpPr>
        <p:spPr>
          <a:xfrm>
            <a:off x="685800" y="5175504"/>
            <a:ext cx="411480" cy="411480"/>
          </a:xfrm>
          <a:prstGeom prst="rect">
            <a:avLst/>
          </a:prstGeom>
          <a:noFill/>
          <a:ln/>
        </p:spPr>
        <p:txBody>
          <a:bodyPr wrap="square" lIns="0" tIns="0" rIns="0" bIns="0" rtlCol="0" anchor="ctr"/>
          <a:lstStyle/>
          <a:p>
            <a:pPr algn="ctr" indent="0" marL="0">
              <a:buNone/>
            </a:pPr>
            <a:r>
              <a:rPr lang="en-US" sz="1200" b="1" dirty="0">
                <a:solidFill>
                  <a:srgbClr val="0A84FF"/>
                </a:solidFill>
                <a:latin typeface="Arial" pitchFamily="34" charset="0"/>
                <a:ea typeface="Arial" pitchFamily="34" charset="-122"/>
                <a:cs typeface="Arial" pitchFamily="34" charset="-120"/>
              </a:rPr>
              <a:t>5</a:t>
            </a:r>
            <a:endParaRPr lang="en-US" sz="1200" dirty="0"/>
          </a:p>
        </p:txBody>
      </p:sp>
      <p:sp>
        <p:nvSpPr>
          <p:cNvPr id="28" name="Text 26"/>
          <p:cNvSpPr/>
          <p:nvPr/>
        </p:nvSpPr>
        <p:spPr>
          <a:xfrm>
            <a:off x="1325880" y="5120640"/>
            <a:ext cx="1280160" cy="457200"/>
          </a:xfrm>
          <a:prstGeom prst="rect">
            <a:avLst/>
          </a:prstGeom>
          <a:noFill/>
          <a:ln/>
        </p:spPr>
        <p:txBody>
          <a:bodyPr wrap="square" lIns="0" tIns="0" rIns="0" bIns="0" rtlCol="0" anchor="ctr"/>
          <a:lstStyle/>
          <a:p>
            <a:pPr indent="0" marL="0">
              <a:buNone/>
            </a:pPr>
            <a:r>
              <a:rPr lang="en-US" sz="1600" b="1" dirty="0">
                <a:solidFill>
                  <a:srgbClr val="0A84FF"/>
                </a:solidFill>
                <a:latin typeface="Arial" pitchFamily="34" charset="0"/>
                <a:ea typeface="Arial" pitchFamily="34" charset="-122"/>
                <a:cs typeface="Arial" pitchFamily="34" charset="-120"/>
              </a:rPr>
              <a:t>2030</a:t>
            </a:r>
            <a:endParaRPr lang="en-US" sz="1600" dirty="0"/>
          </a:p>
        </p:txBody>
      </p:sp>
      <p:sp>
        <p:nvSpPr>
          <p:cNvPr id="29" name="Text 27"/>
          <p:cNvSpPr/>
          <p:nvPr/>
        </p:nvSpPr>
        <p:spPr>
          <a:xfrm>
            <a:off x="2743200" y="5138928"/>
            <a:ext cx="8321040" cy="457200"/>
          </a:xfrm>
          <a:prstGeom prst="rect">
            <a:avLst/>
          </a:prstGeom>
          <a:noFill/>
          <a:ln/>
        </p:spPr>
        <p:txBody>
          <a:bodyPr wrap="square" lIns="0" tIns="0" rIns="0" bIns="0" rtlCol="0" anchor="ctr"/>
          <a:lstStyle/>
          <a:p>
            <a:pPr indent="0" marL="0">
              <a:buNone/>
            </a:pPr>
            <a:r>
              <a:rPr lang="en-US" sz="1400" dirty="0">
                <a:solidFill>
                  <a:srgbClr val="C9CCCF"/>
                </a:solidFill>
                <a:latin typeface="Calibri" pitchFamily="34" charset="0"/>
                <a:ea typeface="Calibri" pitchFamily="34" charset="-122"/>
                <a:cs typeface="Calibri" pitchFamily="34" charset="-120"/>
              </a:rPr>
              <a:t>1M+ Connected Spaces Worldwide</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SUSTAINABILITY</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35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31 — SUSTAINABILITY</a:t>
            </a:r>
            <a:endParaRPr lang="en-US" sz="1300" dirty="0"/>
          </a:p>
        </p:txBody>
      </p:sp>
      <p:sp>
        <p:nvSpPr>
          <p:cNvPr id="9" name="Text 7"/>
          <p:cNvSpPr/>
          <p:nvPr/>
        </p:nvSpPr>
        <p:spPr>
          <a:xfrm>
            <a:off x="640080" y="1344168"/>
            <a:ext cx="10881360" cy="1463040"/>
          </a:xfrm>
          <a:prstGeom prst="rect">
            <a:avLst/>
          </a:prstGeom>
          <a:noFill/>
          <a:ln/>
        </p:spPr>
        <p:txBody>
          <a:bodyPr wrap="square" lIns="0" tIns="0" rIns="0" bIns="0" rtlCol="0" anchor="ctr"/>
          <a:lstStyle/>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Designed to Last,</a:t>
            </a:r>
            <a:endParaRPr lang="en-US" sz="3200" dirty="0"/>
          </a:p>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Not to Be Replaced</a:t>
            </a:r>
            <a:endParaRPr lang="en-US" sz="3200" dirty="0"/>
          </a:p>
        </p:txBody>
      </p:sp>
      <p:sp>
        <p:nvSpPr>
          <p:cNvPr id="10" name="Shape 8"/>
          <p:cNvSpPr/>
          <p:nvPr/>
        </p:nvSpPr>
        <p:spPr>
          <a:xfrm>
            <a:off x="685800" y="2514600"/>
            <a:ext cx="5289804" cy="1677924"/>
          </a:xfrm>
          <a:prstGeom prst="roundRect">
            <a:avLst>
              <a:gd name="adj" fmla="val 4905"/>
            </a:avLst>
          </a:prstGeom>
          <a:solidFill>
            <a:srgbClr val="141417"/>
          </a:solidFill>
          <a:ln w="12700">
            <a:solidFill>
              <a:srgbClr val="242528"/>
            </a:solidFill>
            <a:prstDash val="solid"/>
          </a:ln>
        </p:spPr>
      </p:sp>
      <p:sp>
        <p:nvSpPr>
          <p:cNvPr id="11" name="Shape 9"/>
          <p:cNvSpPr/>
          <p:nvPr/>
        </p:nvSpPr>
        <p:spPr>
          <a:xfrm>
            <a:off x="905256" y="2715768"/>
            <a:ext cx="566928" cy="566928"/>
          </a:xfrm>
          <a:prstGeom prst="ellipse">
            <a:avLst/>
          </a:prstGeom>
          <a:solidFill>
            <a:srgbClr val="1B1C1F"/>
          </a:solidFill>
          <a:ln w="12700">
            <a:solidFill>
              <a:srgbClr val="2C2D30"/>
            </a:solidFill>
            <a:prstDash val="solid"/>
          </a:ln>
        </p:spPr>
      </p:sp>
      <p:pic>
        <p:nvPicPr>
          <p:cNvPr id="12" name="Image 0" descr="preencoded.png">    </p:cNvPr>
          <p:cNvPicPr>
            <a:picLocks noChangeAspect="1"/>
          </p:cNvPicPr>
          <p:nvPr/>
        </p:nvPicPr>
        <p:blipFill>
          <a:blip r:embed="rId1"/>
          <a:stretch>
            <a:fillRect/>
          </a:stretch>
        </p:blipFill>
        <p:spPr>
          <a:xfrm>
            <a:off x="1052657" y="2863169"/>
            <a:ext cx="272125" cy="272125"/>
          </a:xfrm>
          <a:prstGeom prst="rect">
            <a:avLst/>
          </a:prstGeom>
        </p:spPr>
      </p:pic>
      <p:sp>
        <p:nvSpPr>
          <p:cNvPr id="13" name="Text 10"/>
          <p:cNvSpPr/>
          <p:nvPr/>
        </p:nvSpPr>
        <p:spPr>
          <a:xfrm>
            <a:off x="905256" y="3410712"/>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Recyclable Materials</a:t>
            </a:r>
            <a:endParaRPr lang="en-US" sz="1450" dirty="0"/>
          </a:p>
        </p:txBody>
      </p:sp>
      <p:sp>
        <p:nvSpPr>
          <p:cNvPr id="14" name="Text 11"/>
          <p:cNvSpPr/>
          <p:nvPr/>
        </p:nvSpPr>
        <p:spPr>
          <a:xfrm>
            <a:off x="905256" y="3739896"/>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Aluminum and glass housings, engineered for reuse.</a:t>
            </a:r>
            <a:endParaRPr lang="en-US" sz="1050" dirty="0"/>
          </a:p>
        </p:txBody>
      </p:sp>
      <p:sp>
        <p:nvSpPr>
          <p:cNvPr id="15" name="Shape 12"/>
          <p:cNvSpPr/>
          <p:nvPr/>
        </p:nvSpPr>
        <p:spPr>
          <a:xfrm>
            <a:off x="6231636" y="2514600"/>
            <a:ext cx="5289804" cy="1677924"/>
          </a:xfrm>
          <a:prstGeom prst="roundRect">
            <a:avLst>
              <a:gd name="adj" fmla="val 4905"/>
            </a:avLst>
          </a:prstGeom>
          <a:solidFill>
            <a:srgbClr val="141417"/>
          </a:solidFill>
          <a:ln w="12700">
            <a:solidFill>
              <a:srgbClr val="242528"/>
            </a:solidFill>
            <a:prstDash val="solid"/>
          </a:ln>
        </p:spPr>
      </p:sp>
      <p:sp>
        <p:nvSpPr>
          <p:cNvPr id="16" name="Shape 13"/>
          <p:cNvSpPr/>
          <p:nvPr/>
        </p:nvSpPr>
        <p:spPr>
          <a:xfrm>
            <a:off x="6451092" y="2715768"/>
            <a:ext cx="566928" cy="566928"/>
          </a:xfrm>
          <a:prstGeom prst="ellipse">
            <a:avLst/>
          </a:prstGeom>
          <a:solidFill>
            <a:srgbClr val="1B1C1F"/>
          </a:solidFill>
          <a:ln w="12700">
            <a:solidFill>
              <a:srgbClr val="2C2D30"/>
            </a:solidFill>
            <a:prstDash val="solid"/>
          </a:ln>
        </p:spPr>
      </p:sp>
      <p:pic>
        <p:nvPicPr>
          <p:cNvPr id="17" name="Image 1" descr="preencoded.png">    </p:cNvPr>
          <p:cNvPicPr>
            <a:picLocks noChangeAspect="1"/>
          </p:cNvPicPr>
          <p:nvPr/>
        </p:nvPicPr>
        <p:blipFill>
          <a:blip r:embed="rId2"/>
          <a:stretch>
            <a:fillRect/>
          </a:stretch>
        </p:blipFill>
        <p:spPr>
          <a:xfrm>
            <a:off x="6598493" y="2863169"/>
            <a:ext cx="272125" cy="272125"/>
          </a:xfrm>
          <a:prstGeom prst="rect">
            <a:avLst/>
          </a:prstGeom>
        </p:spPr>
      </p:pic>
      <p:sp>
        <p:nvSpPr>
          <p:cNvPr id="18" name="Text 14"/>
          <p:cNvSpPr/>
          <p:nvPr/>
        </p:nvSpPr>
        <p:spPr>
          <a:xfrm>
            <a:off x="6451092" y="3410712"/>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Low-Power Silicon</a:t>
            </a:r>
            <a:endParaRPr lang="en-US" sz="1450" dirty="0"/>
          </a:p>
        </p:txBody>
      </p:sp>
      <p:sp>
        <p:nvSpPr>
          <p:cNvPr id="19" name="Text 15"/>
          <p:cNvSpPr/>
          <p:nvPr/>
        </p:nvSpPr>
        <p:spPr>
          <a:xfrm>
            <a:off x="6451092" y="3739896"/>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Efficient standby design across every device.</a:t>
            </a:r>
            <a:endParaRPr lang="en-US" sz="1050" dirty="0"/>
          </a:p>
        </p:txBody>
      </p:sp>
      <p:sp>
        <p:nvSpPr>
          <p:cNvPr id="20" name="Shape 16"/>
          <p:cNvSpPr/>
          <p:nvPr/>
        </p:nvSpPr>
        <p:spPr>
          <a:xfrm>
            <a:off x="685800" y="4448556"/>
            <a:ext cx="5289804" cy="1677924"/>
          </a:xfrm>
          <a:prstGeom prst="roundRect">
            <a:avLst>
              <a:gd name="adj" fmla="val 4905"/>
            </a:avLst>
          </a:prstGeom>
          <a:solidFill>
            <a:srgbClr val="141417"/>
          </a:solidFill>
          <a:ln w="12700">
            <a:solidFill>
              <a:srgbClr val="242528"/>
            </a:solidFill>
            <a:prstDash val="solid"/>
          </a:ln>
        </p:spPr>
      </p:sp>
      <p:sp>
        <p:nvSpPr>
          <p:cNvPr id="21" name="Shape 17"/>
          <p:cNvSpPr/>
          <p:nvPr/>
        </p:nvSpPr>
        <p:spPr>
          <a:xfrm>
            <a:off x="905256" y="4649724"/>
            <a:ext cx="566928" cy="566928"/>
          </a:xfrm>
          <a:prstGeom prst="ellipse">
            <a:avLst/>
          </a:prstGeom>
          <a:solidFill>
            <a:srgbClr val="1B1C1F"/>
          </a:solidFill>
          <a:ln w="12700">
            <a:solidFill>
              <a:srgbClr val="2C2D30"/>
            </a:solidFill>
            <a:prstDash val="solid"/>
          </a:ln>
        </p:spPr>
      </p:sp>
      <p:pic>
        <p:nvPicPr>
          <p:cNvPr id="22" name="Image 2" descr="preencoded.png">    </p:cNvPr>
          <p:cNvPicPr>
            <a:picLocks noChangeAspect="1"/>
          </p:cNvPicPr>
          <p:nvPr/>
        </p:nvPicPr>
        <p:blipFill>
          <a:blip r:embed="rId3"/>
          <a:stretch>
            <a:fillRect/>
          </a:stretch>
        </p:blipFill>
        <p:spPr>
          <a:xfrm>
            <a:off x="1052657" y="4797125"/>
            <a:ext cx="272125" cy="272125"/>
          </a:xfrm>
          <a:prstGeom prst="rect">
            <a:avLst/>
          </a:prstGeom>
        </p:spPr>
      </p:pic>
      <p:sp>
        <p:nvSpPr>
          <p:cNvPr id="23" name="Text 18"/>
          <p:cNvSpPr/>
          <p:nvPr/>
        </p:nvSpPr>
        <p:spPr>
          <a:xfrm>
            <a:off x="905256" y="5344668"/>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Repairable by Design</a:t>
            </a:r>
            <a:endParaRPr lang="en-US" sz="1450" dirty="0"/>
          </a:p>
        </p:txBody>
      </p:sp>
      <p:sp>
        <p:nvSpPr>
          <p:cNvPr id="24" name="Text 19"/>
          <p:cNvSpPr/>
          <p:nvPr/>
        </p:nvSpPr>
        <p:spPr>
          <a:xfrm>
            <a:off x="905256" y="5673852"/>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Modular hardware built for long-term serviceability.</a:t>
            </a:r>
            <a:endParaRPr lang="en-US" sz="1050" dirty="0"/>
          </a:p>
        </p:txBody>
      </p:sp>
      <p:sp>
        <p:nvSpPr>
          <p:cNvPr id="25" name="Shape 20"/>
          <p:cNvSpPr/>
          <p:nvPr/>
        </p:nvSpPr>
        <p:spPr>
          <a:xfrm>
            <a:off x="6231636" y="4448556"/>
            <a:ext cx="5289804" cy="1677924"/>
          </a:xfrm>
          <a:prstGeom prst="roundRect">
            <a:avLst>
              <a:gd name="adj" fmla="val 4905"/>
            </a:avLst>
          </a:prstGeom>
          <a:solidFill>
            <a:srgbClr val="141417"/>
          </a:solidFill>
          <a:ln w="12700">
            <a:solidFill>
              <a:srgbClr val="242528"/>
            </a:solidFill>
            <a:prstDash val="solid"/>
          </a:ln>
        </p:spPr>
      </p:sp>
      <p:sp>
        <p:nvSpPr>
          <p:cNvPr id="26" name="Shape 21"/>
          <p:cNvSpPr/>
          <p:nvPr/>
        </p:nvSpPr>
        <p:spPr>
          <a:xfrm>
            <a:off x="6451092" y="4649724"/>
            <a:ext cx="566928" cy="566928"/>
          </a:xfrm>
          <a:prstGeom prst="ellipse">
            <a:avLst/>
          </a:prstGeom>
          <a:solidFill>
            <a:srgbClr val="1B1C1F"/>
          </a:solidFill>
          <a:ln w="12700">
            <a:solidFill>
              <a:srgbClr val="2C2D30"/>
            </a:solidFill>
            <a:prstDash val="solid"/>
          </a:ln>
        </p:spPr>
      </p:sp>
      <p:pic>
        <p:nvPicPr>
          <p:cNvPr id="27" name="Image 3" descr="preencoded.png">    </p:cNvPr>
          <p:cNvPicPr>
            <a:picLocks noChangeAspect="1"/>
          </p:cNvPicPr>
          <p:nvPr/>
        </p:nvPicPr>
        <p:blipFill>
          <a:blip r:embed="rId4"/>
          <a:stretch>
            <a:fillRect/>
          </a:stretch>
        </p:blipFill>
        <p:spPr>
          <a:xfrm>
            <a:off x="6598493" y="4797125"/>
            <a:ext cx="272125" cy="272125"/>
          </a:xfrm>
          <a:prstGeom prst="rect">
            <a:avLst/>
          </a:prstGeom>
        </p:spPr>
      </p:pic>
      <p:sp>
        <p:nvSpPr>
          <p:cNvPr id="28" name="Text 22"/>
          <p:cNvSpPr/>
          <p:nvPr/>
        </p:nvSpPr>
        <p:spPr>
          <a:xfrm>
            <a:off x="6451092" y="5344668"/>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Conscious Manufacturing</a:t>
            </a:r>
            <a:endParaRPr lang="en-US" sz="1450" dirty="0"/>
          </a:p>
        </p:txBody>
      </p:sp>
      <p:sp>
        <p:nvSpPr>
          <p:cNvPr id="29" name="Text 23"/>
          <p:cNvSpPr/>
          <p:nvPr/>
        </p:nvSpPr>
        <p:spPr>
          <a:xfrm>
            <a:off x="6451092" y="5673852"/>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Partners selected for environmental accountability.</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SYNTRA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PARTNERSHIPS</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36 / 37   —   SYNTRA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32 — PARTNERSHIPS</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120"/>
              </a:lnSpc>
              <a:buNone/>
            </a:pPr>
            <a:r>
              <a:rPr lang="en-US" sz="3000" b="1" dirty="0">
                <a:solidFill>
                  <a:srgbClr val="FFFFFF"/>
                </a:solidFill>
                <a:latin typeface="Arial" pitchFamily="34" charset="0"/>
                <a:ea typeface="Arial" pitchFamily="34" charset="-122"/>
                <a:cs typeface="Arial" pitchFamily="34" charset="-120"/>
              </a:rPr>
              <a:t>Building the Ecosystem Together</a:t>
            </a:r>
            <a:endParaRPr lang="en-US" sz="3000" dirty="0"/>
          </a:p>
        </p:txBody>
      </p:sp>
      <p:sp>
        <p:nvSpPr>
          <p:cNvPr id="10" name="Shape 8"/>
          <p:cNvSpPr/>
          <p:nvPr/>
        </p:nvSpPr>
        <p:spPr>
          <a:xfrm>
            <a:off x="685800" y="2834640"/>
            <a:ext cx="2516886" cy="1554480"/>
          </a:xfrm>
          <a:prstGeom prst="roundRect">
            <a:avLst>
              <a:gd name="adj" fmla="val 5294"/>
            </a:avLst>
          </a:prstGeom>
          <a:solidFill>
            <a:srgbClr val="141417"/>
          </a:solidFill>
          <a:ln w="12700">
            <a:solidFill>
              <a:srgbClr val="242528"/>
            </a:solidFill>
            <a:prstDash val="solid"/>
          </a:ln>
        </p:spPr>
      </p:sp>
      <p:sp>
        <p:nvSpPr>
          <p:cNvPr id="11" name="Shape 9"/>
          <p:cNvSpPr/>
          <p:nvPr/>
        </p:nvSpPr>
        <p:spPr>
          <a:xfrm>
            <a:off x="905256" y="3035808"/>
            <a:ext cx="457200" cy="457200"/>
          </a:xfrm>
          <a:prstGeom prst="ellipse">
            <a:avLst/>
          </a:prstGeom>
          <a:solidFill>
            <a:srgbClr val="1B1C1F"/>
          </a:solidFill>
          <a:ln w="12700">
            <a:solidFill>
              <a:srgbClr val="2C2D30"/>
            </a:solidFill>
            <a:prstDash val="solid"/>
          </a:ln>
        </p:spPr>
      </p:sp>
      <p:pic>
        <p:nvPicPr>
          <p:cNvPr id="12" name="Image 0" descr="preencoded.png">    </p:cNvPr>
          <p:cNvPicPr>
            <a:picLocks noChangeAspect="1"/>
          </p:cNvPicPr>
          <p:nvPr/>
        </p:nvPicPr>
        <p:blipFill>
          <a:blip r:embed="rId1"/>
          <a:stretch>
            <a:fillRect/>
          </a:stretch>
        </p:blipFill>
        <p:spPr>
          <a:xfrm>
            <a:off x="1024128" y="3154680"/>
            <a:ext cx="219456" cy="219456"/>
          </a:xfrm>
          <a:prstGeom prst="rect">
            <a:avLst/>
          </a:prstGeom>
        </p:spPr>
      </p:pic>
      <p:sp>
        <p:nvSpPr>
          <p:cNvPr id="13" name="Text 10"/>
          <p:cNvSpPr/>
          <p:nvPr/>
        </p:nvSpPr>
        <p:spPr>
          <a:xfrm>
            <a:off x="905256" y="362102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Technology Partners</a:t>
            </a:r>
            <a:endParaRPr lang="en-US" sz="1250" dirty="0"/>
          </a:p>
        </p:txBody>
      </p:sp>
      <p:sp>
        <p:nvSpPr>
          <p:cNvPr id="14" name="Text 11"/>
          <p:cNvSpPr/>
          <p:nvPr/>
        </p:nvSpPr>
        <p:spPr>
          <a:xfrm>
            <a:off x="905256" y="3950208"/>
            <a:ext cx="2077974" cy="274320"/>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Chipset and protocol alliances across the industry.</a:t>
            </a:r>
            <a:endParaRPr lang="en-US" sz="950" dirty="0"/>
          </a:p>
        </p:txBody>
      </p:sp>
      <p:sp>
        <p:nvSpPr>
          <p:cNvPr id="15" name="Shape 12"/>
          <p:cNvSpPr/>
          <p:nvPr/>
        </p:nvSpPr>
        <p:spPr>
          <a:xfrm>
            <a:off x="3458718" y="2834640"/>
            <a:ext cx="2516886" cy="1554480"/>
          </a:xfrm>
          <a:prstGeom prst="roundRect">
            <a:avLst>
              <a:gd name="adj" fmla="val 5294"/>
            </a:avLst>
          </a:prstGeom>
          <a:solidFill>
            <a:srgbClr val="141417"/>
          </a:solidFill>
          <a:ln w="12700">
            <a:solidFill>
              <a:srgbClr val="242528"/>
            </a:solidFill>
            <a:prstDash val="solid"/>
          </a:ln>
        </p:spPr>
      </p:sp>
      <p:sp>
        <p:nvSpPr>
          <p:cNvPr id="16" name="Shape 13"/>
          <p:cNvSpPr/>
          <p:nvPr/>
        </p:nvSpPr>
        <p:spPr>
          <a:xfrm>
            <a:off x="3678174" y="3035808"/>
            <a:ext cx="457200" cy="457200"/>
          </a:xfrm>
          <a:prstGeom prst="ellipse">
            <a:avLst/>
          </a:prstGeom>
          <a:solidFill>
            <a:srgbClr val="1B1C1F"/>
          </a:solidFill>
          <a:ln w="12700">
            <a:solidFill>
              <a:srgbClr val="2C2D30"/>
            </a:solidFill>
            <a:prstDash val="solid"/>
          </a:ln>
        </p:spPr>
      </p:sp>
      <p:pic>
        <p:nvPicPr>
          <p:cNvPr id="17" name="Image 1" descr="preencoded.png">    </p:cNvPr>
          <p:cNvPicPr>
            <a:picLocks noChangeAspect="1"/>
          </p:cNvPicPr>
          <p:nvPr/>
        </p:nvPicPr>
        <p:blipFill>
          <a:blip r:embed="rId2"/>
          <a:stretch>
            <a:fillRect/>
          </a:stretch>
        </p:blipFill>
        <p:spPr>
          <a:xfrm>
            <a:off x="3797046" y="3154680"/>
            <a:ext cx="219456" cy="219456"/>
          </a:xfrm>
          <a:prstGeom prst="rect">
            <a:avLst/>
          </a:prstGeom>
        </p:spPr>
      </p:pic>
      <p:sp>
        <p:nvSpPr>
          <p:cNvPr id="18" name="Text 14"/>
          <p:cNvSpPr/>
          <p:nvPr/>
        </p:nvSpPr>
        <p:spPr>
          <a:xfrm>
            <a:off x="3678174" y="362102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Distribution Partners</a:t>
            </a:r>
            <a:endParaRPr lang="en-US" sz="1250" dirty="0"/>
          </a:p>
        </p:txBody>
      </p:sp>
      <p:sp>
        <p:nvSpPr>
          <p:cNvPr id="19" name="Text 15"/>
          <p:cNvSpPr/>
          <p:nvPr/>
        </p:nvSpPr>
        <p:spPr>
          <a:xfrm>
            <a:off x="3678174" y="3950208"/>
            <a:ext cx="2077974" cy="274320"/>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Regional distributors and premium retail networks.</a:t>
            </a:r>
            <a:endParaRPr lang="en-US" sz="950" dirty="0"/>
          </a:p>
        </p:txBody>
      </p:sp>
      <p:sp>
        <p:nvSpPr>
          <p:cNvPr id="20" name="Shape 16"/>
          <p:cNvSpPr/>
          <p:nvPr/>
        </p:nvSpPr>
        <p:spPr>
          <a:xfrm>
            <a:off x="6231636" y="2834640"/>
            <a:ext cx="2516886" cy="1554480"/>
          </a:xfrm>
          <a:prstGeom prst="roundRect">
            <a:avLst>
              <a:gd name="adj" fmla="val 5294"/>
            </a:avLst>
          </a:prstGeom>
          <a:solidFill>
            <a:srgbClr val="141417"/>
          </a:solidFill>
          <a:ln w="12700">
            <a:solidFill>
              <a:srgbClr val="242528"/>
            </a:solidFill>
            <a:prstDash val="solid"/>
          </a:ln>
        </p:spPr>
      </p:sp>
      <p:sp>
        <p:nvSpPr>
          <p:cNvPr id="21" name="Shape 17"/>
          <p:cNvSpPr/>
          <p:nvPr/>
        </p:nvSpPr>
        <p:spPr>
          <a:xfrm>
            <a:off x="6451092" y="3035808"/>
            <a:ext cx="457200" cy="457200"/>
          </a:xfrm>
          <a:prstGeom prst="ellipse">
            <a:avLst/>
          </a:prstGeom>
          <a:solidFill>
            <a:srgbClr val="1B1C1F"/>
          </a:solidFill>
          <a:ln w="12700">
            <a:solidFill>
              <a:srgbClr val="2C2D30"/>
            </a:solidFill>
            <a:prstDash val="solid"/>
          </a:ln>
        </p:spPr>
      </p:sp>
      <p:pic>
        <p:nvPicPr>
          <p:cNvPr id="22" name="Image 2" descr="preencoded.png">    </p:cNvPr>
          <p:cNvPicPr>
            <a:picLocks noChangeAspect="1"/>
          </p:cNvPicPr>
          <p:nvPr/>
        </p:nvPicPr>
        <p:blipFill>
          <a:blip r:embed="rId3"/>
          <a:stretch>
            <a:fillRect/>
          </a:stretch>
        </p:blipFill>
        <p:spPr>
          <a:xfrm>
            <a:off x="6569964" y="3154680"/>
            <a:ext cx="219456" cy="219456"/>
          </a:xfrm>
          <a:prstGeom prst="rect">
            <a:avLst/>
          </a:prstGeom>
        </p:spPr>
      </p:pic>
      <p:sp>
        <p:nvSpPr>
          <p:cNvPr id="23" name="Text 18"/>
          <p:cNvSpPr/>
          <p:nvPr/>
        </p:nvSpPr>
        <p:spPr>
          <a:xfrm>
            <a:off x="6451092" y="362102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Developer Partners</a:t>
            </a:r>
            <a:endParaRPr lang="en-US" sz="1250" dirty="0"/>
          </a:p>
        </p:txBody>
      </p:sp>
      <p:sp>
        <p:nvSpPr>
          <p:cNvPr id="24" name="Text 19"/>
          <p:cNvSpPr/>
          <p:nvPr/>
        </p:nvSpPr>
        <p:spPr>
          <a:xfrm>
            <a:off x="6451092" y="3950208"/>
            <a:ext cx="2077974" cy="274320"/>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Real estate and smart-building integrations.</a:t>
            </a:r>
            <a:endParaRPr lang="en-US" sz="950" dirty="0"/>
          </a:p>
        </p:txBody>
      </p:sp>
      <p:sp>
        <p:nvSpPr>
          <p:cNvPr id="25" name="Shape 20"/>
          <p:cNvSpPr/>
          <p:nvPr/>
        </p:nvSpPr>
        <p:spPr>
          <a:xfrm>
            <a:off x="9004554" y="2834640"/>
            <a:ext cx="2516886" cy="1554480"/>
          </a:xfrm>
          <a:prstGeom prst="roundRect">
            <a:avLst>
              <a:gd name="adj" fmla="val 5294"/>
            </a:avLst>
          </a:prstGeom>
          <a:solidFill>
            <a:srgbClr val="141417"/>
          </a:solidFill>
          <a:ln w="12700">
            <a:solidFill>
              <a:srgbClr val="242528"/>
            </a:solidFill>
            <a:prstDash val="solid"/>
          </a:ln>
        </p:spPr>
      </p:sp>
      <p:sp>
        <p:nvSpPr>
          <p:cNvPr id="26" name="Shape 21"/>
          <p:cNvSpPr/>
          <p:nvPr/>
        </p:nvSpPr>
        <p:spPr>
          <a:xfrm>
            <a:off x="9224010" y="3035808"/>
            <a:ext cx="457200" cy="457200"/>
          </a:xfrm>
          <a:prstGeom prst="ellipse">
            <a:avLst/>
          </a:prstGeom>
          <a:solidFill>
            <a:srgbClr val="1B1C1F"/>
          </a:solidFill>
          <a:ln w="12700">
            <a:solidFill>
              <a:srgbClr val="2C2D30"/>
            </a:solidFill>
            <a:prstDash val="solid"/>
          </a:ln>
        </p:spPr>
      </p:sp>
      <p:pic>
        <p:nvPicPr>
          <p:cNvPr id="27" name="Image 3" descr="preencoded.png">    </p:cNvPr>
          <p:cNvPicPr>
            <a:picLocks noChangeAspect="1"/>
          </p:cNvPicPr>
          <p:nvPr/>
        </p:nvPicPr>
        <p:blipFill>
          <a:blip r:embed="rId4"/>
          <a:stretch>
            <a:fillRect/>
          </a:stretch>
        </p:blipFill>
        <p:spPr>
          <a:xfrm>
            <a:off x="9342882" y="3154680"/>
            <a:ext cx="219456" cy="219456"/>
          </a:xfrm>
          <a:prstGeom prst="rect">
            <a:avLst/>
          </a:prstGeom>
        </p:spPr>
      </p:pic>
      <p:sp>
        <p:nvSpPr>
          <p:cNvPr id="28" name="Text 22"/>
          <p:cNvSpPr/>
          <p:nvPr/>
        </p:nvSpPr>
        <p:spPr>
          <a:xfrm>
            <a:off x="9224010" y="362102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Integration Partners</a:t>
            </a:r>
            <a:endParaRPr lang="en-US" sz="1250" dirty="0"/>
          </a:p>
        </p:txBody>
      </p:sp>
      <p:sp>
        <p:nvSpPr>
          <p:cNvPr id="29" name="Text 23"/>
          <p:cNvSpPr/>
          <p:nvPr/>
        </p:nvSpPr>
        <p:spPr>
          <a:xfrm>
            <a:off x="9224010" y="3950208"/>
            <a:ext cx="2077974" cy="274320"/>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Home Assistant and the open smart-home ecosystem.</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7619695" y="-3200400"/>
            <a:ext cx="8229600" cy="8229600"/>
          </a:xfrm>
          <a:prstGeom prst="ellipse">
            <a:avLst/>
          </a:prstGeom>
          <a:solidFill>
            <a:srgbClr val="0A84FF">
              <a:alpha val="10000"/>
            </a:srgbClr>
          </a:solidFill>
          <a:ln/>
        </p:spPr>
      </p:sp>
      <p:pic>
        <p:nvPicPr>
          <p:cNvPr id="3" name="Image 0" descr="/sessions/youthful-gracious-curie/mnt/outputs/assets/logo_lockup.png">    </p:cNvPr>
          <p:cNvPicPr>
            <a:picLocks noChangeAspect="1"/>
          </p:cNvPicPr>
          <p:nvPr/>
        </p:nvPicPr>
        <p:blipFill>
          <a:blip r:embed="rId1"/>
          <a:stretch>
            <a:fillRect/>
          </a:stretch>
        </p:blipFill>
        <p:spPr>
          <a:xfrm>
            <a:off x="4084168" y="685800"/>
            <a:ext cx="4023360" cy="2211260"/>
          </a:xfrm>
          <a:prstGeom prst="rect">
            <a:avLst/>
          </a:prstGeom>
        </p:spPr>
      </p:pic>
      <p:sp>
        <p:nvSpPr>
          <p:cNvPr id="4" name="Text 1"/>
          <p:cNvSpPr/>
          <p:nvPr/>
        </p:nvSpPr>
        <p:spPr>
          <a:xfrm>
            <a:off x="0" y="3063240"/>
            <a:ext cx="12191695" cy="320040"/>
          </a:xfrm>
          <a:prstGeom prst="rect">
            <a:avLst/>
          </a:prstGeom>
          <a:noFill/>
          <a:ln/>
        </p:spPr>
        <p:txBody>
          <a:bodyPr wrap="square" lIns="0" tIns="0" rIns="0" bIns="0" rtlCol="0" anchor="ctr"/>
          <a:lstStyle/>
          <a:p>
            <a:pPr algn="ctr" indent="0" marL="0">
              <a:buNone/>
            </a:pPr>
            <a:r>
              <a:rPr lang="en-US" sz="1200" b="1" spc="300" kern="0" dirty="0">
                <a:solidFill>
                  <a:srgbClr val="0A84FF"/>
                </a:solidFill>
                <a:latin typeface="Arial" pitchFamily="34" charset="0"/>
                <a:ea typeface="Arial" pitchFamily="34" charset="-122"/>
                <a:cs typeface="Arial" pitchFamily="34" charset="-120"/>
              </a:rPr>
              <a:t>33 — CONTACT INFORMATION</a:t>
            </a:r>
            <a:endParaRPr lang="en-US" sz="1200" dirty="0"/>
          </a:p>
        </p:txBody>
      </p:sp>
      <p:sp>
        <p:nvSpPr>
          <p:cNvPr id="5" name="Text 2"/>
          <p:cNvSpPr/>
          <p:nvPr/>
        </p:nvSpPr>
        <p:spPr>
          <a:xfrm>
            <a:off x="0" y="3429000"/>
            <a:ext cx="12191695"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Let's Build the Future of Living, Together.</a:t>
            </a:r>
            <a:endParaRPr lang="en-US" sz="2400" dirty="0"/>
          </a:p>
        </p:txBody>
      </p:sp>
      <p:sp>
        <p:nvSpPr>
          <p:cNvPr id="6" name="Shape 3"/>
          <p:cNvSpPr/>
          <p:nvPr/>
        </p:nvSpPr>
        <p:spPr>
          <a:xfrm>
            <a:off x="2193417" y="4434840"/>
            <a:ext cx="512064" cy="512064"/>
          </a:xfrm>
          <a:prstGeom prst="ellipse">
            <a:avLst/>
          </a:prstGeom>
          <a:solidFill>
            <a:srgbClr val="1B1C1F"/>
          </a:solidFill>
          <a:ln w="12700">
            <a:solidFill>
              <a:srgbClr val="2C2D30"/>
            </a:solidFill>
            <a:prstDash val="solid"/>
          </a:ln>
        </p:spPr>
      </p:sp>
      <p:pic>
        <p:nvPicPr>
          <p:cNvPr id="7" name="Image 1" descr="preencoded.png">    </p:cNvPr>
          <p:cNvPicPr>
            <a:picLocks noChangeAspect="1"/>
          </p:cNvPicPr>
          <p:nvPr/>
        </p:nvPicPr>
        <p:blipFill>
          <a:blip r:embed="rId2"/>
          <a:stretch>
            <a:fillRect/>
          </a:stretch>
        </p:blipFill>
        <p:spPr>
          <a:xfrm>
            <a:off x="2326554" y="4567977"/>
            <a:ext cx="245791" cy="245791"/>
          </a:xfrm>
          <a:prstGeom prst="rect">
            <a:avLst/>
          </a:prstGeom>
        </p:spPr>
      </p:pic>
      <p:sp>
        <p:nvSpPr>
          <p:cNvPr id="8" name="Text 4"/>
          <p:cNvSpPr/>
          <p:nvPr/>
        </p:nvSpPr>
        <p:spPr>
          <a:xfrm>
            <a:off x="1371600" y="5038344"/>
            <a:ext cx="2155698" cy="256032"/>
          </a:xfrm>
          <a:prstGeom prst="rect">
            <a:avLst/>
          </a:prstGeom>
          <a:noFill/>
          <a:ln/>
        </p:spPr>
        <p:txBody>
          <a:bodyPr wrap="square" lIns="0" tIns="0" rIns="0" bIns="0" rtlCol="0" anchor="ctr"/>
          <a:lstStyle/>
          <a:p>
            <a:pPr algn="ctr" indent="0" marL="0">
              <a:buNone/>
            </a:pPr>
            <a:r>
              <a:rPr lang="en-US" sz="900" b="1" spc="150" kern="0" dirty="0">
                <a:solidFill>
                  <a:srgbClr val="8B8E93"/>
                </a:solidFill>
                <a:latin typeface="Arial" pitchFamily="34" charset="0"/>
                <a:ea typeface="Arial" pitchFamily="34" charset="-122"/>
                <a:cs typeface="Arial" pitchFamily="34" charset="-120"/>
              </a:rPr>
              <a:t>HEADQUARTERS</a:t>
            </a:r>
            <a:endParaRPr lang="en-US" sz="900" dirty="0"/>
          </a:p>
        </p:txBody>
      </p:sp>
      <p:sp>
        <p:nvSpPr>
          <p:cNvPr id="9" name="Text 5"/>
          <p:cNvSpPr/>
          <p:nvPr/>
        </p:nvSpPr>
        <p:spPr>
          <a:xfrm>
            <a:off x="1371600" y="5276088"/>
            <a:ext cx="2155698" cy="320040"/>
          </a:xfrm>
          <a:prstGeom prst="rect">
            <a:avLst/>
          </a:prstGeom>
          <a:noFill/>
          <a:ln/>
        </p:spPr>
        <p:txBody>
          <a:bodyPr wrap="square" lIns="0" tIns="0" rIns="0" bIns="0" rtlCol="0" anchor="ctr"/>
          <a:lstStyle/>
          <a:p>
            <a:pPr algn="ctr" indent="0" marL="0">
              <a:buNone/>
            </a:pPr>
            <a:r>
              <a:rPr lang="en-US" sz="1050" dirty="0">
                <a:solidFill>
                  <a:srgbClr val="C9CCCF"/>
                </a:solidFill>
                <a:latin typeface="Calibri" pitchFamily="34" charset="0"/>
                <a:ea typeface="Calibri" pitchFamily="34" charset="-122"/>
                <a:cs typeface="Calibri" pitchFamily="34" charset="-120"/>
              </a:rPr>
              <a:t>Riyadh, Kingdom of Saudi Arabia</a:t>
            </a:r>
            <a:endParaRPr lang="en-US" sz="1050" dirty="0"/>
          </a:p>
        </p:txBody>
      </p:sp>
      <p:sp>
        <p:nvSpPr>
          <p:cNvPr id="10" name="Shape 6"/>
          <p:cNvSpPr/>
          <p:nvPr/>
        </p:nvSpPr>
        <p:spPr>
          <a:xfrm>
            <a:off x="4623435" y="4434840"/>
            <a:ext cx="512064" cy="512064"/>
          </a:xfrm>
          <a:prstGeom prst="ellipse">
            <a:avLst/>
          </a:prstGeom>
          <a:solidFill>
            <a:srgbClr val="1B1C1F"/>
          </a:solidFill>
          <a:ln w="12700">
            <a:solidFill>
              <a:srgbClr val="2C2D30"/>
            </a:solidFill>
            <a:prstDash val="solid"/>
          </a:ln>
        </p:spPr>
      </p:sp>
      <p:pic>
        <p:nvPicPr>
          <p:cNvPr id="11" name="Image 2" descr="preencoded.png">    </p:cNvPr>
          <p:cNvPicPr>
            <a:picLocks noChangeAspect="1"/>
          </p:cNvPicPr>
          <p:nvPr/>
        </p:nvPicPr>
        <p:blipFill>
          <a:blip r:embed="rId3"/>
          <a:stretch>
            <a:fillRect/>
          </a:stretch>
        </p:blipFill>
        <p:spPr>
          <a:xfrm>
            <a:off x="4756572" y="4567977"/>
            <a:ext cx="245791" cy="245791"/>
          </a:xfrm>
          <a:prstGeom prst="rect">
            <a:avLst/>
          </a:prstGeom>
        </p:spPr>
      </p:pic>
      <p:sp>
        <p:nvSpPr>
          <p:cNvPr id="12" name="Text 7"/>
          <p:cNvSpPr/>
          <p:nvPr/>
        </p:nvSpPr>
        <p:spPr>
          <a:xfrm>
            <a:off x="3801618" y="5038344"/>
            <a:ext cx="2155698" cy="256032"/>
          </a:xfrm>
          <a:prstGeom prst="rect">
            <a:avLst/>
          </a:prstGeom>
          <a:noFill/>
          <a:ln/>
        </p:spPr>
        <p:txBody>
          <a:bodyPr wrap="square" lIns="0" tIns="0" rIns="0" bIns="0" rtlCol="0" anchor="ctr"/>
          <a:lstStyle/>
          <a:p>
            <a:pPr algn="ctr" indent="0" marL="0">
              <a:buNone/>
            </a:pPr>
            <a:r>
              <a:rPr lang="en-US" sz="900" b="1" spc="150" kern="0" dirty="0">
                <a:solidFill>
                  <a:srgbClr val="8B8E93"/>
                </a:solidFill>
                <a:latin typeface="Arial" pitchFamily="34" charset="0"/>
                <a:ea typeface="Arial" pitchFamily="34" charset="-122"/>
                <a:cs typeface="Arial" pitchFamily="34" charset="-120"/>
              </a:rPr>
              <a:t>EMAIL</a:t>
            </a:r>
            <a:endParaRPr lang="en-US" sz="900" dirty="0"/>
          </a:p>
        </p:txBody>
      </p:sp>
      <p:sp>
        <p:nvSpPr>
          <p:cNvPr id="13" name="Text 8"/>
          <p:cNvSpPr/>
          <p:nvPr/>
        </p:nvSpPr>
        <p:spPr>
          <a:xfrm>
            <a:off x="3801618" y="5276088"/>
            <a:ext cx="2155698" cy="320040"/>
          </a:xfrm>
          <a:prstGeom prst="rect">
            <a:avLst/>
          </a:prstGeom>
          <a:noFill/>
          <a:ln/>
        </p:spPr>
        <p:txBody>
          <a:bodyPr wrap="square" lIns="0" tIns="0" rIns="0" bIns="0" rtlCol="0" anchor="ctr"/>
          <a:lstStyle/>
          <a:p>
            <a:pPr algn="ctr" indent="0" marL="0">
              <a:buNone/>
            </a:pPr>
            <a:r>
              <a:rPr lang="en-US" sz="1050" dirty="0">
                <a:solidFill>
                  <a:srgbClr val="C9CCCF"/>
                </a:solidFill>
                <a:latin typeface="Calibri" pitchFamily="34" charset="0"/>
                <a:ea typeface="Calibri" pitchFamily="34" charset="-122"/>
                <a:cs typeface="Calibri" pitchFamily="34" charset="-120"/>
              </a:rPr>
              <a:t>hello@syntrasmart.com</a:t>
            </a:r>
            <a:endParaRPr lang="en-US" sz="1050" dirty="0"/>
          </a:p>
        </p:txBody>
      </p:sp>
      <p:sp>
        <p:nvSpPr>
          <p:cNvPr id="14" name="Shape 9"/>
          <p:cNvSpPr/>
          <p:nvPr/>
        </p:nvSpPr>
        <p:spPr>
          <a:xfrm>
            <a:off x="7053453" y="4434840"/>
            <a:ext cx="512064" cy="512064"/>
          </a:xfrm>
          <a:prstGeom prst="ellipse">
            <a:avLst/>
          </a:prstGeom>
          <a:solidFill>
            <a:srgbClr val="1B1C1F"/>
          </a:solidFill>
          <a:ln w="12700">
            <a:solidFill>
              <a:srgbClr val="2C2D30"/>
            </a:solidFill>
            <a:prstDash val="solid"/>
          </a:ln>
        </p:spPr>
      </p:sp>
      <p:pic>
        <p:nvPicPr>
          <p:cNvPr id="15" name="Image 3" descr="preencoded.png">    </p:cNvPr>
          <p:cNvPicPr>
            <a:picLocks noChangeAspect="1"/>
          </p:cNvPicPr>
          <p:nvPr/>
        </p:nvPicPr>
        <p:blipFill>
          <a:blip r:embed="rId4"/>
          <a:stretch>
            <a:fillRect/>
          </a:stretch>
        </p:blipFill>
        <p:spPr>
          <a:xfrm>
            <a:off x="7186590" y="4567977"/>
            <a:ext cx="245791" cy="245791"/>
          </a:xfrm>
          <a:prstGeom prst="rect">
            <a:avLst/>
          </a:prstGeom>
        </p:spPr>
      </p:pic>
      <p:sp>
        <p:nvSpPr>
          <p:cNvPr id="16" name="Text 10"/>
          <p:cNvSpPr/>
          <p:nvPr/>
        </p:nvSpPr>
        <p:spPr>
          <a:xfrm>
            <a:off x="6231636" y="5038344"/>
            <a:ext cx="2155698" cy="256032"/>
          </a:xfrm>
          <a:prstGeom prst="rect">
            <a:avLst/>
          </a:prstGeom>
          <a:noFill/>
          <a:ln/>
        </p:spPr>
        <p:txBody>
          <a:bodyPr wrap="square" lIns="0" tIns="0" rIns="0" bIns="0" rtlCol="0" anchor="ctr"/>
          <a:lstStyle/>
          <a:p>
            <a:pPr algn="ctr" indent="0" marL="0">
              <a:buNone/>
            </a:pPr>
            <a:r>
              <a:rPr lang="en-US" sz="900" b="1" spc="150" kern="0" dirty="0">
                <a:solidFill>
                  <a:srgbClr val="8B8E93"/>
                </a:solidFill>
                <a:latin typeface="Arial" pitchFamily="34" charset="0"/>
                <a:ea typeface="Arial" pitchFamily="34" charset="-122"/>
                <a:cs typeface="Arial" pitchFamily="34" charset="-120"/>
              </a:rPr>
              <a:t>WEB</a:t>
            </a:r>
            <a:endParaRPr lang="en-US" sz="900" dirty="0"/>
          </a:p>
        </p:txBody>
      </p:sp>
      <p:sp>
        <p:nvSpPr>
          <p:cNvPr id="17" name="Text 11"/>
          <p:cNvSpPr/>
          <p:nvPr/>
        </p:nvSpPr>
        <p:spPr>
          <a:xfrm>
            <a:off x="6231636" y="5276088"/>
            <a:ext cx="2155698" cy="320040"/>
          </a:xfrm>
          <a:prstGeom prst="rect">
            <a:avLst/>
          </a:prstGeom>
          <a:noFill/>
          <a:ln/>
        </p:spPr>
        <p:txBody>
          <a:bodyPr wrap="square" lIns="0" tIns="0" rIns="0" bIns="0" rtlCol="0" anchor="ctr"/>
          <a:lstStyle/>
          <a:p>
            <a:pPr algn="ctr" indent="0" marL="0">
              <a:buNone/>
            </a:pPr>
            <a:r>
              <a:rPr lang="en-US" sz="1050" dirty="0">
                <a:solidFill>
                  <a:srgbClr val="C9CCCF"/>
                </a:solidFill>
                <a:latin typeface="Calibri" pitchFamily="34" charset="0"/>
                <a:ea typeface="Calibri" pitchFamily="34" charset="-122"/>
                <a:cs typeface="Calibri" pitchFamily="34" charset="-120"/>
              </a:rPr>
              <a:t>www.syntrasmart.com</a:t>
            </a:r>
            <a:endParaRPr lang="en-US" sz="1050" dirty="0"/>
          </a:p>
        </p:txBody>
      </p:sp>
      <p:sp>
        <p:nvSpPr>
          <p:cNvPr id="18" name="Shape 12"/>
          <p:cNvSpPr/>
          <p:nvPr/>
        </p:nvSpPr>
        <p:spPr>
          <a:xfrm>
            <a:off x="9483471" y="4434840"/>
            <a:ext cx="512064" cy="512064"/>
          </a:xfrm>
          <a:prstGeom prst="ellipse">
            <a:avLst/>
          </a:prstGeom>
          <a:solidFill>
            <a:srgbClr val="1B1C1F"/>
          </a:solidFill>
          <a:ln w="12700">
            <a:solidFill>
              <a:srgbClr val="2C2D30"/>
            </a:solidFill>
            <a:prstDash val="solid"/>
          </a:ln>
        </p:spPr>
      </p:sp>
      <p:pic>
        <p:nvPicPr>
          <p:cNvPr id="19" name="Image 4" descr="preencoded.png">    </p:cNvPr>
          <p:cNvPicPr>
            <a:picLocks noChangeAspect="1"/>
          </p:cNvPicPr>
          <p:nvPr/>
        </p:nvPicPr>
        <p:blipFill>
          <a:blip r:embed="rId5"/>
          <a:stretch>
            <a:fillRect/>
          </a:stretch>
        </p:blipFill>
        <p:spPr>
          <a:xfrm>
            <a:off x="9616608" y="4567977"/>
            <a:ext cx="245791" cy="245791"/>
          </a:xfrm>
          <a:prstGeom prst="rect">
            <a:avLst/>
          </a:prstGeom>
        </p:spPr>
      </p:pic>
      <p:sp>
        <p:nvSpPr>
          <p:cNvPr id="20" name="Text 13"/>
          <p:cNvSpPr/>
          <p:nvPr/>
        </p:nvSpPr>
        <p:spPr>
          <a:xfrm>
            <a:off x="8661654" y="5038344"/>
            <a:ext cx="2155698" cy="256032"/>
          </a:xfrm>
          <a:prstGeom prst="rect">
            <a:avLst/>
          </a:prstGeom>
          <a:noFill/>
          <a:ln/>
        </p:spPr>
        <p:txBody>
          <a:bodyPr wrap="square" lIns="0" tIns="0" rIns="0" bIns="0" rtlCol="0" anchor="ctr"/>
          <a:lstStyle/>
          <a:p>
            <a:pPr algn="ctr" indent="0" marL="0">
              <a:buNone/>
            </a:pPr>
            <a:r>
              <a:rPr lang="en-US" sz="900" b="1" spc="150" kern="0" dirty="0">
                <a:solidFill>
                  <a:srgbClr val="8B8E93"/>
                </a:solidFill>
                <a:latin typeface="Arial" pitchFamily="34" charset="0"/>
                <a:ea typeface="Arial" pitchFamily="34" charset="-122"/>
                <a:cs typeface="Arial" pitchFamily="34" charset="-120"/>
              </a:rPr>
              <a:t>CORPORATE</a:t>
            </a:r>
            <a:endParaRPr lang="en-US" sz="900" dirty="0"/>
          </a:p>
        </p:txBody>
      </p:sp>
      <p:sp>
        <p:nvSpPr>
          <p:cNvPr id="21" name="Text 14"/>
          <p:cNvSpPr/>
          <p:nvPr/>
        </p:nvSpPr>
        <p:spPr>
          <a:xfrm>
            <a:off x="8661654" y="5276088"/>
            <a:ext cx="2155698" cy="320040"/>
          </a:xfrm>
          <a:prstGeom prst="rect">
            <a:avLst/>
          </a:prstGeom>
          <a:noFill/>
          <a:ln/>
        </p:spPr>
        <p:txBody>
          <a:bodyPr wrap="square" lIns="0" tIns="0" rIns="0" bIns="0" rtlCol="0" anchor="ctr"/>
          <a:lstStyle/>
          <a:p>
            <a:pPr algn="ctr" indent="0" marL="0">
              <a:buNone/>
            </a:pPr>
            <a:r>
              <a:rPr lang="en-US" sz="1050" dirty="0">
                <a:solidFill>
                  <a:srgbClr val="C9CCCF"/>
                </a:solidFill>
                <a:latin typeface="Calibri" pitchFamily="34" charset="0"/>
                <a:ea typeface="Calibri" pitchFamily="34" charset="-122"/>
                <a:cs typeface="Calibri" pitchFamily="34" charset="-120"/>
              </a:rPr>
              <a:t>+966 (0) 11 000 0000</a:t>
            </a:r>
            <a:endParaRPr lang="en-US" sz="1050" dirty="0"/>
          </a:p>
        </p:txBody>
      </p:sp>
      <p:sp>
        <p:nvSpPr>
          <p:cNvPr id="22" name="Text 15"/>
          <p:cNvSpPr/>
          <p:nvPr/>
        </p:nvSpPr>
        <p:spPr>
          <a:xfrm>
            <a:off x="0" y="6355080"/>
            <a:ext cx="12191695" cy="274320"/>
          </a:xfrm>
          <a:prstGeom prst="rect">
            <a:avLst/>
          </a:prstGeom>
          <a:noFill/>
          <a:ln/>
        </p:spPr>
        <p:txBody>
          <a:bodyPr wrap="square" lIns="0" tIns="0" rIns="0" bIns="0" rtlCol="0" anchor="ctr"/>
          <a:lstStyle/>
          <a:p>
            <a:pPr algn="ctr" indent="0" marL="0">
              <a:buNone/>
            </a:pPr>
            <a:r>
              <a:rPr lang="en-US" sz="900" spc="200" kern="0" dirty="0">
                <a:solidFill>
                  <a:srgbClr val="8B8E93"/>
                </a:solidFill>
                <a:latin typeface="Arial" pitchFamily="34" charset="0"/>
                <a:ea typeface="Arial" pitchFamily="34" charset="-122"/>
                <a:cs typeface="Arial" pitchFamily="34" charset="-120"/>
              </a:rPr>
              <a:t>SYNTRA SMART®  —  SMART LIVING. SEAMLESSLY CONNECTED.</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2026-08-02T11:59:41Z</dcterms:created>
  <dcterms:modified xsi:type="dcterms:W3CDTF">2026-08-02T11:59:41Z</dcterms:modified>
</cp:coreProperties>
</file>