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سرّي  ·  عرض استثماري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حياة ذكية. اتصال سلس بلا حدود.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2700">
            <a:solidFill>
              <a:srgbClr val="B7B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الرياض، المملكة العربية السعودية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أغسطس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في سطرين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بيت في السعودية يمتلئ بأجهزة ذكية.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واحد منها ذكي فعلًا.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تطبيقات متفرقة. علامات أجنبية. قواعد تتعطل أول ما تتغير الحياة. سوق يتجاوز 20 مليار ريال : ولا أحد يملك التجربة.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5171B"/>
          </a:solidFill>
          <a:ln w="12700">
            <a:solidFill>
              <a:srgbClr val="0A5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892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مليار ريال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البيت الذكي وإنترنت الأشياء في السعودية بحلول 2030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البيوت الذكية اليوم أنظمة غبية بتسويق جيد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13760" cy="3108960"/>
          </a:xfrm>
          <a:prstGeom prst="roundRect">
            <a:avLst>
              <a:gd name="adj" fmla="val 2353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286000"/>
            <a:ext cx="3413760" cy="109728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تطبيقات لكل بيت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86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علامة بتطبيقها الخاص. لا شيء يتواصل مع شيء.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3880" y="2286000"/>
            <a:ext cx="3413760" cy="3108960"/>
          </a:xfrm>
          <a:prstGeom prst="roundRect">
            <a:avLst>
              <a:gd name="adj" fmla="val 2353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373880" y="2286000"/>
            <a:ext cx="3413760" cy="109728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48200" y="2743200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قواعد، لا ذكاء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48200" y="3703320"/>
            <a:ext cx="286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أتمتات «إذا-إذن» تتعطل أول ما تحدث الحياة الحقيقية.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7680" y="2286000"/>
            <a:ext cx="3413760" cy="3108960"/>
          </a:xfrm>
          <a:prstGeom prst="roundRect">
            <a:avLst>
              <a:gd name="adj" fmla="val 2353"/>
            </a:avLst>
          </a:prstGeom>
          <a:solidFill>
            <a:srgbClr val="F4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7680" y="2286000"/>
            <a:ext cx="3413760" cy="109728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2743200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 هوية محلية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82000" y="3703320"/>
            <a:ext cx="286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مراكز اتصال خارجية، تطبيقات بالإنجليزية أولًا، لا دعم سعودي.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SYLTRA Adaptive : عقل البيت، لا جهاز إضافي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سعودية واحدة تفهم حالة بيتك : من فيه، كم يكلّف، كيف يشعر ساكنوه : وتخطط باستمرار لكيفية تشغيله. أنت تحدد الهدف، والمحرك يتولى الباقي.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5171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43200"/>
            <a:ext cx="384048" cy="384048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حالة حي للبيت كله: الإشغال، المناخ، الطاقة، الأمن.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5146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5171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743200"/>
            <a:ext cx="384048" cy="384048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يقرر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 أفضل خطة تشغيل لهذه اللحظة : لا قاعدة ثابتة.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5171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743200"/>
            <a:ext cx="384048" cy="384048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يتحقق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حلقة مغلقة: ينفّذ، يقيس النتيجة، يعيد التخطيط إن لم يتحقق الهدف.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25146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5171B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0" y="2743200"/>
            <a:ext cx="384048" cy="384048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يتعلم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3544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تصحيح يدوي منك يعلّمه تفضيلاتك الحقيقية.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A5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شركات الأجهزة تبيع مفاتيح. نحن نبيع طبقة الذكاء التي سيحتاجها الجميع.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 جهازًا معتمدًا. تطبيق واحد. هوية واحدة.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6712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8775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مفاتيح ولوحات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900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خط/خطين/4 خطوط، شاشات 3.5 و11 إنش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8640" y="196596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587240" y="216712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87240" y="258775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7240" y="29900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أقفال، أجراس، كاميرات داخلية وخارجية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7200" y="196596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05800" y="216712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05800" y="258775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حساسات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5800" y="29900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حركة، إضاءة، تسرب مياه، غاز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0416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الراحة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86460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ستائر، تحكم تكييف، إضاءة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58640" y="384048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7240" y="40416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87240" y="446227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87240" y="486460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عقل محلي : يعمل بلا إنترنت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77200" y="384048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5800" y="40416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305800" y="446227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5800" y="486460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أولًا، تطبيق واحد لكل شيء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موديل معتمد للسوق السعودي (سابر + CITC). التسعير أقل بـ15% من متوسط السوق المحلي : صنفًا بصنف.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محركات إيراد، دولاب واحد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13760" cy="2926080"/>
          </a:xfrm>
          <a:prstGeom prst="roundRect">
            <a:avLst>
              <a:gd name="adj" fmla="val 2500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86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تركيب وتشغيل: شقق 11-20 ألف، فلل 20-45 ألف ريال. نقد من الشهر الثاني.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3880" y="1965960"/>
            <a:ext cx="3413760" cy="2926080"/>
          </a:xfrm>
          <a:prstGeom prst="roundRect">
            <a:avLst>
              <a:gd name="adj" fmla="val 2500"/>
            </a:avLst>
          </a:prstGeom>
          <a:solidFill>
            <a:srgbClr val="F4F5F6"/>
          </a:solidFill>
          <a:ln/>
        </p:spPr>
      </p:sp>
      <p:sp>
        <p:nvSpPr>
          <p:cNvPr id="9" name="Text 7"/>
          <p:cNvSpPr/>
          <p:nvPr/>
        </p:nvSpPr>
        <p:spPr>
          <a:xfrm>
            <a:off x="46482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4820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الأجهزة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8200" y="3429000"/>
            <a:ext cx="286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تسعير من 5 طبقات: تجزئة، جملة، وكلاء وفنيون مستقلون. هامش 44-66%.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7680" y="1965960"/>
            <a:ext cx="3413760" cy="2926080"/>
          </a:xfrm>
          <a:prstGeom prst="roundRect">
            <a:avLst>
              <a:gd name="adj" fmla="val 2500"/>
            </a:avLst>
          </a:prstGeom>
          <a:solidFill>
            <a:srgbClr val="0B0C0E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8200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3429000"/>
            <a:ext cx="286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وترخيص SYLTRA Adaptive. الطبقة عالية الهامش التي تتراكم.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A5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 تموّل الأجهزة. الأجهزة تبني قاعدة المنازل. القاعدة تتحول لمشتركين.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تعادل في الشهر 4. استرداد رأس المال في الشهر 9.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السنة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السنة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السنة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الإيراد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 مليون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5.49 مليون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 مليون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الربح التشغيلي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 ألف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 مليون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4.97 مليون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هامش التشغيل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288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9385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818120" y="2450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تعادل تشغيلي شهري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32004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33101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9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818120" y="3822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استرداد كامل رأس المال شامل الرأسمالية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5720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46817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48.9%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818120" y="5193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هامش التشغيل بالسنة الثالثة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السنة الأولى نموذج شهري بصيغ حية : قابل للتدقيق خلية بخلية. السنتان 2-3 بافتراضات محافظة موثّقة في الخطة المالية.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الخندق التنافسي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يصعب تقليدنا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15171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011680"/>
            <a:ext cx="109728" cy="1965960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40280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معمارية، لا مزايا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594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حالة + محرك تخطيط + حلقة مغلقة. المنافس يحتاج بناء من الصفر، لا تحديث تطبيق.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0780" y="20116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15171B"/>
          </a:solidFill>
          <a:ln/>
        </p:spPr>
      </p:sp>
      <p:sp>
        <p:nvSpPr>
          <p:cNvPr id="9" name="Shape 7"/>
          <p:cNvSpPr/>
          <p:nvPr/>
        </p:nvSpPr>
        <p:spPr>
          <a:xfrm>
            <a:off x="6240780" y="2011680"/>
            <a:ext cx="109728" cy="1965960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6606540" y="2240280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تتراكم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606540" y="2743200"/>
            <a:ext cx="4594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دورة تشغيل تجعل المحرك أذكى. الفجوة تتسع مع كل بيت جديد.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15171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297680"/>
            <a:ext cx="109728" cy="1965960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26280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محلي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5840" y="5029200"/>
            <a:ext cx="4594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هوية سعودية، اعتمادات سعودية، فريق دعم سعودي : الجزء الذي لا توطّنه العلامات الأجنبية.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0780" y="42976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15171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0780" y="4297680"/>
            <a:ext cx="109728" cy="1965960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6540" y="4526280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قفل القنوات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06540" y="5029200"/>
            <a:ext cx="4594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الفنيون المستقلون يشترون بسعر الموزع : جيش تركيب بلا رواتب.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الاستثماري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900,000 ريال مقابل 20%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محسوب من احتياج رأسمالي دقيق قدره ~1,059,000 ريال : ليس رقمًا متمنّى.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4F5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استخدامات التمويل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0604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تأسيس وتشغيل 6 أشهر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805,880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3721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دفعة إنتاج 1,000 جهاز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216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≈157,000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4288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احتياطي تشغيلي (~10%)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2885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≈96,000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901184"/>
            <a:ext cx="4709160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5038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الإجمالي المستهدف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0383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≈1,059,000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37744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0B0C0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603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شروط الجولة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قبل الاستثمار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 مليون ريال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3721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بعد الاستثمار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مليون ريال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288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حصة المستثمر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2885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48554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المؤسسون (3)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48554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السيناريو الأساسي: استرداد كامل رأس المال بحلول الشهر 9. السنة الثانية تبدأ بتدفق نقدي موجب : لا حاجة لجولة إضافية.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لنبنِ معًا معيار البيت الذكي السعودي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SYLTRA SMART ® : حياة ذكية. اتصال سلس بلا حدود.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389120"/>
            <a:ext cx="2011680" cy="0"/>
          </a:xfrm>
          <a:prstGeom prst="line">
            <a:avLst/>
          </a:prstGeom>
          <a:noFill/>
          <a:ln w="19050">
            <a:solidFill>
              <a:srgbClr val="0A5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anas.msd.ramsees@gmail.com   ·   الرياض، المملكة العربية السعودية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2026-08-17T23:11:31Z</dcterms:created>
  <dcterms:modified xsi:type="dcterms:W3CDTF">2026-08-17T23:11:31Z</dcterms:modified>
</cp:coreProperties>
</file>