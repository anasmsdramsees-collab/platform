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INVESTOR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Living. Seamlessly Connected.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12700">
            <a:solidFill>
              <a:srgbClr val="B7B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Riyadh, Kingdom of Saudi Arabia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home in Saudi Arabia is filling up with smart devices.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are actually smart.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apps. Foreign brands. Rules that break the moment life changes. A SAR 20B+ market : and nobody owns the experience.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5171B"/>
          </a:solidFill>
          <a:ln w="12700">
            <a:solidFill>
              <a:srgbClr val="0A5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892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20B+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smart home &amp; IoT market by 2030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Homes Today Are Dumb Systems With Good Marketing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apps per home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ships its own app. Nothing talks to anything.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38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3738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82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intelligence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482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automations that break when real life happens.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7680" y="2286000"/>
            <a:ext cx="3413760" cy="3108960"/>
          </a:xfrm>
          <a:prstGeom prst="roundRect">
            <a:avLst>
              <a:gd name="adj" fmla="val 2353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7680" y="2286000"/>
            <a:ext cx="3413760" cy="109728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743200"/>
            <a:ext cx="286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local identity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82000" y="3703320"/>
            <a:ext cx="286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call centers, English-first apps, no Saudi support.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Adaptive : The Home's Brain, Not Another Gadget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Saudi platform that understands the state of your home : who's in it, what it costs, how it feels : and continuously plans how it should run. You set the goal. The engine does the rest.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state model of the whole home: occupancy, climate, energy, security.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best operating plan for this moment : not a fixed rule.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verifies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executes, measures the result, replans if the goal isn't met.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5146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5171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2743200"/>
            <a:ext cx="384048" cy="384048"/>
          </a:xfrm>
          <a:prstGeom prst="ellipse">
            <a:avLst/>
          </a:prstGeom>
          <a:solidFill>
            <a:srgbClr val="0A5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5440" y="37033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manual correction teaches it your real preferences.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companies sell switches. We sell the intelligence layer they'll all need.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Certified Devices. One App. One Identity.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&amp; Panels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1/2/4-gang, 3.5" &amp; 11" displays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864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58724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8724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724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Locks, doorbells, indoor &amp; outdoor cameras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7200" y="196596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5800" y="216712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05800" y="258775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5800" y="299008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light, water leak, gas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Curtains, AC control, lighting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864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24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8724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8724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brain : works without internet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7200" y="3840480"/>
            <a:ext cx="3444240" cy="1600200"/>
          </a:xfrm>
          <a:prstGeom prst="roundRect">
            <a:avLst>
              <a:gd name="adj" fmla="val 4571"/>
            </a:avLst>
          </a:prstGeom>
          <a:solidFill>
            <a:srgbClr val="F4F5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5800" y="4041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5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05800" y="4462272"/>
            <a:ext cx="298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5800" y="4864608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Arabic-first, one app for everything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certified for the Saudi market (SABER + CITC). Priced 15% below the local market average : item by item.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Engines, One Flywheel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commissioning: apartments SAR 11-20K, villas SAR 20-45K. Cash from month 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38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F4F5F6"/>
          </a:solidFill>
          <a:ln/>
        </p:spPr>
      </p:sp>
      <p:sp>
        <p:nvSpPr>
          <p:cNvPr id="9" name="Text 7"/>
          <p:cNvSpPr/>
          <p:nvPr/>
        </p:nvSpPr>
        <p:spPr>
          <a:xfrm>
            <a:off x="46482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482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82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pricing across retail, wholesale, agents &amp; independent technicians. 44-66% gross margin.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680" y="1965960"/>
            <a:ext cx="3413760" cy="2926080"/>
          </a:xfrm>
          <a:prstGeom prst="roundRect">
            <a:avLst>
              <a:gd name="adj" fmla="val 2500"/>
            </a:avLst>
          </a:prstGeom>
          <a:solidFill>
            <a:srgbClr val="0B0C0E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820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3429000"/>
            <a:ext cx="286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Adaptive subscriptions &amp; licensing. The high-margin layer that compounds.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A5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fund devices. Devices build the installed base. The installed base becomes subscribers.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in Month 4. Capital Back in Month 9.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C0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1812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operating break-even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32004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33101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81812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capital recovery incl. capex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5720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46817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818120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by Year 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a monthly, formula-driven model : auditable cell by cell. Years 2-3 use conservative assumptions documented in the financial plan.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Hard to Copy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11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40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not features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model + planning engine + closed loop. Competitors would need to rebuild from zero, not update an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0780" y="2011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9" name="Shape 7"/>
          <p:cNvSpPr/>
          <p:nvPr/>
        </p:nvSpPr>
        <p:spPr>
          <a:xfrm>
            <a:off x="6240780" y="2011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0" name="Text 8"/>
          <p:cNvSpPr/>
          <p:nvPr/>
        </p:nvSpPr>
        <p:spPr>
          <a:xfrm>
            <a:off x="6606540" y="2240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data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06540" y="2743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operating cycle makes the engine smarter. The gap widens with every installed home.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297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26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5840" y="5029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identity, Saudi certifications, Saudi support team : the part foreign brands never localize.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0780" y="42976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15171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0780" y="4297680"/>
            <a:ext cx="109728" cy="1965960"/>
          </a:xfrm>
          <a:prstGeom prst="rect">
            <a:avLst/>
          </a:prstGeom>
          <a:solidFill>
            <a:srgbClr val="0A5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6540" y="4526280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lock-in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06540" y="5029200"/>
            <a:ext cx="4594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technicians buy at distributor pricing : an army of installers with zero payroll.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900,000 for 20%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off a computed capital need of ~SAR 1,059,000 : not a wish.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foundation &amp;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805,880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216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1,000-unit production batch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3721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≈157,000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88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reserve (~10%)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4288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≈96,000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901184"/>
            <a:ext cx="470916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38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targeted need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50383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≈1,059,000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3774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0B0C0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Terms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554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3.6M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721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55480" y="37216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4.5M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288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stake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55480" y="4288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855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(3)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55480" y="4855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full invested capital recovered by Month 9. Year 2 starts cash-flow positive : no follow-on round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Saudi Smart Home Standard : Together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SYLTRA SMART ® : Smart Living. Seamlessly Connected.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2011680" cy="0"/>
          </a:xfrm>
          <a:prstGeom prst="line">
            <a:avLst/>
          </a:prstGeom>
          <a:noFill/>
          <a:ln w="19050">
            <a:solidFill>
              <a:srgbClr val="0A5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anas.msd.ramsees@gmail.com   ·   Riyadh, Kingdom of Saudi Arabia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2026-08-17T23:11:31Z</dcterms:created>
  <dcterms:modified xsi:type="dcterms:W3CDTF">2026-08-17T23:11:31Z</dcterms:modified>
</cp:coreProperties>
</file>