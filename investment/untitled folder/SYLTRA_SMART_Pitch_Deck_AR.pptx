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0A5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D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شهر 1</c:v>
                  </c:pt>
                  <c:pt idx="1">
                    <c:v>شهر 2</c:v>
                  </c:pt>
                  <c:pt idx="2">
                    <c:v>شهر 3</c:v>
                  </c:pt>
                  <c:pt idx="3">
                    <c:v>شهر 4</c:v>
                  </c:pt>
                  <c:pt idx="4">
                    <c:v>شهر 5</c:v>
                  </c:pt>
                  <c:pt idx="5">
                    <c:v>شهر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27000</c:v>
                </c:pt>
                <c:pt idx="2">
                  <c:v>54000</c:v>
                </c:pt>
                <c:pt idx="3">
                  <c:v>108000</c:v>
                </c:pt>
                <c:pt idx="4">
                  <c:v>135000</c:v>
                </c:pt>
                <c:pt idx="5">
                  <c:v>185000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D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FFF"/>
              </a:solidFill>
              <a:effectLst/>
            </c:spPr>
          </c:dPt>
          <c:dPt>
            <c:idx val="1"/>
            <c:bubble3D val="0"/>
            <c:spPr>
              <a:solidFill>
                <a:srgbClr val="0A3FA8"/>
              </a:solidFill>
              <a:effectLst/>
            </c:spPr>
          </c:dPt>
          <c:dPt>
            <c:idx val="2"/>
            <c:bubble3D val="0"/>
            <c:spPr>
              <a:solidFill>
                <a:srgbClr val="5B616B"/>
              </a:solidFill>
              <a:effectLst/>
            </c:spPr>
          </c:dPt>
          <c:dPt>
            <c:idx val="3"/>
            <c:bubble3D val="0"/>
            <c:spPr>
              <a:solidFill>
                <a:srgbClr val="B7BDC6"/>
              </a:solidFill>
              <a:effectLst/>
            </c:spPr>
          </c:dPt>
          <c:dPt>
            <c:idx val="4"/>
            <c:bubble3D val="0"/>
            <c:spPr>
              <a:solidFill>
                <a:srgbClr val="8FA3C7"/>
              </a:solidFill>
              <a:effectLst/>
            </c:spPr>
          </c:dPt>
          <c:dPt>
            <c:idx val="5"/>
            <c:bubble3D val="0"/>
            <c:spPr>
              <a:solidFill>
                <a:srgbClr val="1B1D21"/>
              </a:solidFill>
              <a:effectLst/>
            </c:spPr>
          </c:dPt>
          <c:dPt>
            <c:idx val="6"/>
            <c:bubble3D val="0"/>
            <c:spPr>
              <a:solidFill>
                <a:srgbClr val="B7BDC6"/>
              </a:solidFill>
              <a:effectLst/>
            </c:spPr>
          </c:dPt>
          <c:dPt>
            <c:idx val="7"/>
            <c:bubble3D val="0"/>
            <c:spPr>
              <a:solidFill>
                <a:srgbClr val="0A5F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رواتب الفريق</c:v>
                </c:pt>
                <c:pt idx="1">
                  <c:v>السيارات</c:v>
                </c:pt>
                <c:pt idx="2">
                  <c:v>الإيجار</c:v>
                </c:pt>
                <c:pt idx="3">
                  <c:v>التجهيز</c:v>
                </c:pt>
                <c:pt idx="4">
                  <c:v>التوريد المحلي</c:v>
                </c:pt>
                <c:pt idx="5">
                  <c:v>التسويق</c:v>
                </c:pt>
                <c:pt idx="6">
                  <c:v>معدات</c:v>
                </c:pt>
                <c:pt idx="7">
                  <c:v>أخرى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336000</c:v>
                </c:pt>
                <c:pt idx="1">
                  <c:v>140000</c:v>
                </c:pt>
                <c:pt idx="2">
                  <c:v>55000</c:v>
                </c:pt>
                <c:pt idx="3">
                  <c:v>50000</c:v>
                </c:pt>
                <c:pt idx="4">
                  <c:v>152700</c:v>
                </c:pt>
                <c:pt idx="5">
                  <c:v>15000</c:v>
                </c:pt>
                <c:pt idx="6">
                  <c:v>20000</c:v>
                </c:pt>
                <c:pt idx="7">
                  <c:v>37180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B61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حياة ذكية. اتصال سلس بلا حدود.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سرّي · عرض تقديمي للمستثمرين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الرياض، المملكة العربية السعودية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أغسطس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 السوقية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البيت الذكي في السعودية مجزّأ وينمو بسرعة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رؤية 2030 والمشاريع الضخمة مثل نيوم تدفع طلبًا غير مسبوق على المنازل المتصلة في المملكة.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79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السوق اليوم عبارة عن علامات أجنبية متفرقة : بلا تطبيق موحّد، وبلا دعم محلي، وبلا هوية عربية أولاً.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009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العملاء يريدون نظامًا واحدًا يعمل بسلاسة : تطبيق واحد، هوية واحدة، فريق دعم محلي واحد.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8288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9385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مليار ريال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909560" y="24505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سوق البيت الذكي وإنترنت الأشياء بحلول 2030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32461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3355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09560" y="38679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مؤسسين ولا منافس محلي موحّد عند هذه الشريحة السعرية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6634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4773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09560" y="5285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موديل جهاز SYLTRA عند الإطلاق التجاري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واحدة. تطبيق واحد. كل جهاز.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SYLTRA توحّد البيت الذكي تحت هوية سعودية واحدة : أجهزة وبرمجيات ودعم فني يعملون كنظام واحد بدلًا من أدوات متفرقة لا تتواصل.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موحّد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في الإضاءة والأقفال والكاميرات والحساسات من تطبيق SYLTRA الواحد.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864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0" name="Shape 8"/>
          <p:cNvSpPr/>
          <p:nvPr/>
        </p:nvSpPr>
        <p:spPr>
          <a:xfrm>
            <a:off x="458724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مركزي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724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اتصال محلية تبقي البيت يعمل حتى بدون الإنترنت.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7200" y="233172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05800" y="256032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05800" y="3063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مشاهد وأتمتة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5800" y="3410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تلقائية : إطفاء الإضاءة عند المغادرة، قفل الأبواب ليلًا.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فورية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أمنية وتشغيلية فورية للحركة والتسرّب وفتح الأبواب.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864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24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8724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فني محلي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724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سعودي وهوية سعودية أولاً : ليس مركز اتصال خارجيًا.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77200" y="420624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15171B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5800" y="4434840"/>
            <a:ext cx="365760" cy="36576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05800" y="493776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للتوسّع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05800" y="52852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 تقني يفتح المجال مستقبلًا لخدمات الذكاء الاصطناعي والاشتراكات.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التنافسية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SYLTRA Adaptive : لا نبيع أجهزة، بل بيئة تتكيّف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التقليدية تعمل بقواعد ثابتة: إذا تحقق شرط، نُفّذ إجراء. لكن البيئة الحقيقية لا تتوقف عن التغيّر. SYLTRA Adaptive تدير حالة المكان نفسه، لا الأجهزة فقط.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حالة البيئة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تمثيل موحّد وحي للمكان : الإشغال، الحرارة، الطاقة، الأمن وغيرها، يتحدّث باستمرار.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بالهدف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يحدد الهدف : "اجعل غرفة المعيشة مريحة" : لا عشرات قواعد الأتمتة اليدوية.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22219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التخطيط المتكيّف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أفضل خطة تشغيل للحظة الحالية، آخذًا بالاعتبار تكلفة الطاقة والراحة والقيود.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بحلقة مغلقة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ينفّذ ثم يراقب النتيجة الفعلية. إن لم يتحقق الهدف يعيد التخطيط : لا يكرر نفس الأمر آليًا.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نواة مستقلة عن الجهاز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عبر أجهزة SYLTRA وأجهزة الشركات الأخرى معًا من خلال طبقة قدرات موحّدة.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3584448"/>
            <a:ext cx="3474720" cy="1298448"/>
          </a:xfrm>
          <a:prstGeom prst="roundRect">
            <a:avLst>
              <a:gd name="adj" fmla="val 4930"/>
            </a:avLst>
          </a:prstGeom>
          <a:solidFill>
            <a:srgbClr val="F4F5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3749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A5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مستمر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407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تتعلّم من النتائج وتدخلات المستخدم لتجعل خطط الغد أفضل من اليوم.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065776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0B0C0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6577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شركات الأجهزة تتنافس على عدد المفاتيح والحساسات واللوحات. SYLTRA تتنافس على شيء يصعب تقليده: قدرة النظام على فهم البيئة وتقرير كيفية تشغيلها. الجهاز نقطة تنفيذ : محرك التكيّف هو المنتج الحقيقي.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المنتجات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14 موديل معتمد في كتالوج واحد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مودولات ريلاي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 / 4 خطوط ذكية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757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360045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0045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شاشات لمس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0045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بانل 3.5 إنش و 11 إنش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506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7794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7794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أقفال ذكية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794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دخول داخلي وخارجي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72550" y="178308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5543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55430" y="237744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كاميرات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55430" y="269748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داخلية وخارجية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حساسات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حركة، إضاءة، تسرّب مياه، تسرّب غاز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757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60045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0045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ستائر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0045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آلي للستائر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5060" y="3429000"/>
            <a:ext cx="2548890" cy="1417320"/>
          </a:xfrm>
          <a:prstGeom prst="roundRect">
            <a:avLst>
              <a:gd name="adj" fmla="val 4516"/>
            </a:avLst>
          </a:prstGeom>
          <a:solidFill>
            <a:srgbClr val="F4F5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7794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A5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7940" y="402336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/ Gateway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77940" y="434340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العقل المركزي للاتصال في المنزل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0B0C0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جهاز معتمد للسوق السعودي (سابر + CITC) وموحّد تحت هوية واحدة، تطبيق واحد، ودعم واحد.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تسعير متدرّج من 5 طبقات مع قناة إيراد جديدة مدمجة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1993392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108356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110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 الصافي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المسلّمة من المصنع، بلا هامش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5640" y="2670048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83564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5877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SYLTRA الفني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8437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 الداخلي لمشاريع الشركة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35640" y="3346704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8356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26440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الجملة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لعملاء الشراء بالكمية : مقاولون، مطوّرون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A5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35640" y="402336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564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9410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الوكلاء / الفنيون المستقلون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1970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السعر لقناتين : مصدر الطلب الجديد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8114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35640" y="4700016"/>
            <a:ext cx="329184" cy="329184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83564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617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التجزئة (العميل النهائي)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8737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أقل بـ 15% من السوق المحلي : تسعير اختراق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B0C0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جديدة : الفنيون غير التابعين لـSYLTRA يشترون بنفس سعر الوكلاء/التوزيع لتنفيذ مشاريعهم : حجم مبيعات أكبر بلا أي التزام توظيف وبلا تغيير في الهيكل.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للسوق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 : 6 أشهر تأسيس وتسويق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 التنفيذي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 والاستراتيجية وعلاقات المستثمرين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 الفني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نائب المدير التنفيذي تفعيليًّا : المنصة والتنفيذ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المطوّر الفني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826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التطبيق والمنصة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666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خدمة العملاء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9410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إداري تفعيليًّا : نجاح العميل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3251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مندوبي مبيعات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5994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ريال أساسي + 2% لكل مشروع، الهدف 4 مشاريع لكل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محاسب مستقل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الضبط المالي والتقارير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الإيراد من الشهر 1 إلى 6 (ريال)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720840" y="1920240"/>
          <a:ext cx="4800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المالي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 : التكلفة والإيراد وطريق التعادل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805,880 ريال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تكاليف المرحلة الأولى (6 أشهر)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509,000 ريال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9359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إيراد المرحلة الأولى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-296,880 ريال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51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النتيجة : معظمه منصرفات رأسمالية (≈225 ألف)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0684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71432" y="169164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71432" y="22128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التعادل التشغيلي الشهري (بدون المنصرفات الرأسمالية)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التكاليف (ريال)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38328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338328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0B0C0E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3832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الشهر 5، تعمل الشركة بفائض تشغيلي متصاعد : يقارب 22,133 ريال/شهريًا، ثم يتجاوز 131,000 ريال/شهريًا بعد ارتفاع الطاقة إلى 8 مشاريع/شهر من الشهر 7. العجز المتبقي في الشهر 6 منصرفات تأسيس لمرة واحدة، ليس نزيفًا متكررًا.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التصنيع ومسار التوسّع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مسارات من الصين : اعتماد ثابت وتكلفة للقطعة متناقصة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2651760"/>
                <a:gridCol w="2011680"/>
                <a:gridCol w="2286000"/>
              </a:tblGrid>
              <a:tr h="5943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السيناريو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الكمية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الاستثمار (دولار)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اختبار ميداني؟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تكلفة الاعتماد/قطعة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الدفعة التجريبية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9,600 – 21,100 $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نعم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الأعلى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الدفعة الموسّعة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16,543 – 41,856 $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اختياري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أقل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الإنتاج المباشر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93,000 – 158,000 $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الأدنى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سابر + CITC تكلفة ثابتة لكل موديل منتج (5,150 – 11,700 دولار لـ 14 موديلًا) بغض النظر عن حجم الطلبية : كلما كبرت الدفعة، قلّت تكلفة الاعتماد للقطعة الواحدة.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 التسعير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تسعير مصمّم للفوز : أقل بـ 15% من السوق المحلي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بمتوسط السوق المحلي، صنفًا بصنف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41,185 ريال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محتمل : دفعة تجريبية 218 قطعة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189,600 ريال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 محتمل : دفعة موسّعة 1,000 قطعة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5171B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– 66%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8972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الهامش الإجمالي عبر الكتالوج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تسعير مبني على بحث (Noon, Jarir, Amazon.sa, Aqara KSA) يؤكّد أن SYLTRA يقدر على منافسة العلامات المميّزة بنسبة 15% مع الحفاظ على هامش صحي : استراتيجية اختراق مدروسة لكسب الحصة بسرعة.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التجريبة إلى منصة إقليمية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32720" y="18745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 (الأشهر 1–6)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 القانوني، الفريق الأساسي، أول مشاريع العملاء، بناء الهوية.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79608" y="23957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332720" y="27889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التجريبي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تجريبية 218 قطعة من الصين : إثبات ملاءمة المنتج للسوق.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79608" y="33101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332720" y="37033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الإنتاج الموسّع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86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تجارية 1,000+ قطعة بعد تأكّد الطلب.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79608" y="42245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332720" y="46177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المنصة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9011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وتحليلات وأتمتة مدعومة بالذكاء الاصطناعي فوق التطبيق.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79608" y="5138928"/>
            <a:ext cx="0" cy="713232"/>
          </a:xfrm>
          <a:prstGeom prst="line">
            <a:avLst/>
          </a:prstGeom>
          <a:noFill/>
          <a:ln w="19050">
            <a:solidFill>
              <a:srgbClr val="E7E9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332720" y="5532120"/>
            <a:ext cx="502920" cy="502920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4864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التوسّع الإقليمي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8155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التوسّع خارج الرياض لكامل المملكة، ثم دول الخليج.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الاستثماري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900,000 ريال مقابل 20% : محسوب مباشرة من هذه الخطة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احتياج رأس المال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 (6 أشهر)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36162" y="21488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805,880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دفعة موسّعة (1,000 قطعة، الحد الأقصى)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6162" y="26060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≈157,000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طوارئ تشغيلي (≈10%)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36162" y="30632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≈96,000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212080" cy="0"/>
          </a:xfrm>
          <a:prstGeom prst="line">
            <a:avLst/>
          </a:prstGeom>
          <a:noFill/>
          <a:ln w="12700">
            <a:solidFill>
              <a:srgbClr val="E7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231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احتياج رأس المال المستهدف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6162" y="3520440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≈1,059,000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شروط الجولة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المطلوب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79992" y="21488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900,000 ريال (≈240,000 $)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المقدمة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79992" y="2606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قبل الاستثمار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79992" y="30632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3,600,000 ريال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بعد الاستثمار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79992" y="35204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4,500,000 ريال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الملكية بعد الجولة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467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المؤسس الرئيسي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9359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الشريك المؤسس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5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8251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الشريك المؤسس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5120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5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171432" y="519379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71432" y="571500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المستثمر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E7E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لنبني معًا معيار البيت الذكي السعودي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A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SYLTRA SMART ® : حياة ذكية. اتصال سلس بلا حدود.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B7B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anas.msd.ramsees@gmail.com   ·   الرياض، المملكة العربية السعودية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2026-08-10T21:53:18Z</dcterms:created>
  <dcterms:modified xsi:type="dcterms:W3CDTF">2026-08-10T21:53:18Z</dcterms:modified>
</cp:coreProperties>
</file>