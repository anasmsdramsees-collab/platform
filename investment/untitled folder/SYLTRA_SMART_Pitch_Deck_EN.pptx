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A5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D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27000</c:v>
                </c:pt>
                <c:pt idx="2">
                  <c:v>54000</c:v>
                </c:pt>
                <c:pt idx="3">
                  <c:v>108000</c:v>
                </c:pt>
                <c:pt idx="4">
                  <c:v>135000</c:v>
                </c:pt>
                <c:pt idx="5">
                  <c:v>185000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D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FFF"/>
              </a:solidFill>
              <a:effectLst/>
            </c:spPr>
          </c:dPt>
          <c:dPt>
            <c:idx val="1"/>
            <c:bubble3D val="0"/>
            <c:spPr>
              <a:solidFill>
                <a:srgbClr val="0A3FA8"/>
              </a:solidFill>
              <a:effectLst/>
            </c:spPr>
          </c:dPt>
          <c:dPt>
            <c:idx val="2"/>
            <c:bubble3D val="0"/>
            <c:spPr>
              <a:solidFill>
                <a:srgbClr val="5B616B"/>
              </a:solidFill>
              <a:effectLst/>
            </c:spPr>
          </c:dPt>
          <c:dPt>
            <c:idx val="3"/>
            <c:bubble3D val="0"/>
            <c:spPr>
              <a:solidFill>
                <a:srgbClr val="B7BDC6"/>
              </a:solidFill>
              <a:effectLst/>
            </c:spPr>
          </c:dPt>
          <c:dPt>
            <c:idx val="4"/>
            <c:bubble3D val="0"/>
            <c:spPr>
              <a:solidFill>
                <a:srgbClr val="8FA3C7"/>
              </a:solidFill>
              <a:effectLst/>
            </c:spPr>
          </c:dPt>
          <c:dPt>
            <c:idx val="5"/>
            <c:bubble3D val="0"/>
            <c:spPr>
              <a:solidFill>
                <a:srgbClr val="1B1D21"/>
              </a:solidFill>
              <a:effectLst/>
            </c:spPr>
          </c:dPt>
          <c:dPt>
            <c:idx val="6"/>
            <c:bubble3D val="0"/>
            <c:spPr>
              <a:solidFill>
                <a:srgbClr val="B7BDC6"/>
              </a:solidFill>
              <a:effectLst/>
            </c:spPr>
          </c:dPt>
          <c:dPt>
            <c:idx val="7"/>
            <c:bubble3D val="0"/>
            <c:spPr>
              <a:solidFill>
                <a:srgbClr val="0A5F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Team Salaries</c:v>
                </c:pt>
                <c:pt idx="1">
                  <c:v>Vehicles</c:v>
                </c:pt>
                <c:pt idx="2">
                  <c:v>Rent</c:v>
                </c:pt>
                <c:pt idx="3">
                  <c:v>Fit-Out</c:v>
                </c:pt>
                <c:pt idx="4">
                  <c:v>Local Procurement</c:v>
                </c:pt>
                <c:pt idx="5">
                  <c:v>Marketing</c:v>
                </c:pt>
                <c:pt idx="6">
                  <c:v>Equipment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336000</c:v>
                </c:pt>
                <c:pt idx="1">
                  <c:v>140000</c:v>
                </c:pt>
                <c:pt idx="2">
                  <c:v>55000</c:v>
                </c:pt>
                <c:pt idx="3">
                  <c:v>50000</c:v>
                </c:pt>
                <c:pt idx="4">
                  <c:v>152700</c:v>
                </c:pt>
                <c:pt idx="5">
                  <c:v>15000</c:v>
                </c:pt>
                <c:pt idx="6">
                  <c:v>20000</c:v>
                </c:pt>
                <c:pt idx="7">
                  <c:v>37180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B61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Living. Seamlessly Connected.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INVESTOR PITCH DECK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2700">
            <a:solidFill>
              <a:srgbClr val="B7B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Riyadh, Kingdom of Saudi Arabia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Smart Home Market Is Fragmented : And Growing 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Vision 2030 and NEOM-scale giga-projects are driving unprecedented demand for connected homes across the Kingdom.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79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Today's market is a patchwork of disconnected foreign brands : no unified app, no local support, no Arabic-first identity.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30098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Buyers want one system that just works: one app, one identity, one local support team.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8288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9385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20B+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909560" y="24505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smart home &amp; IoT market by 2030 (est.)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324612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3355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09560" y="38679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0 unified local competitors at this price tier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6634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4773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909560" y="5285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device models at commercial launch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App. Every Device.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unifies the smart home under a single Saudi-built identity : hardware, software, and support working as one system instead of a pile of incompatible gadgets.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10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lighting, locks, cameras and sensors from one SYLTRA-branded app.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8640" y="233172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10" name="Shape 8"/>
          <p:cNvSpPr/>
          <p:nvPr/>
        </p:nvSpPr>
        <p:spPr>
          <a:xfrm>
            <a:off x="4587240" y="256032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3063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7240" y="3410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gateway that keeps the home running even without the internet.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77200" y="233172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05800" y="256032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05800" y="3063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&amp; Automation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5800" y="3410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rules : lights off when you leave, doors locked at night.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377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2852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security and operational notifications for motion, leaks, and doors.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8640" y="420624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240" y="443484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87240" y="49377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Support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87240" y="52852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Saudi-based team, Saudi-first identity : not an overseas call center.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77200" y="420624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26" name="Shape 24"/>
          <p:cNvSpPr/>
          <p:nvPr/>
        </p:nvSpPr>
        <p:spPr>
          <a:xfrm>
            <a:off x="8305800" y="443484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05800" y="49377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05800" y="52852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foundation for future AI, analytics, and subscription services.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Adaptive: We Don't Sell Devices, We Sell an Environment That Adapts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run fixed rules: IF condition THEN action. Real environments never stop changing. SYLTRA Adaptive manages the state of the space itself, not just the devices inside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19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State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unified model of the space : occupancy, temperature, energy, security and more, updated continuously.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219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sets a goal : "make the living room comfortable" : not dozens of manual automation rules.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22219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Planning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best operating plan for right now, factoring in energy cost, comfort, and constraints.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584448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749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Execution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407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then observes the real result. If the goal isn't met, it replans : it doesn't just repeat the same command.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584448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3749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Device-Agnostic 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407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SYLTRA and third-party devices alike through one unified capability layer.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3584448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3749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407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outcomes and user overrides to make tomorrow's plans better than today's.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065776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0B0C0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6577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brands compete on switches, sensors, and panels. SYLTRA competes on something they can't easily copy: the system's ability to understand an environment and decide how to run it. The device is the execution point : the adaptive engine is the product.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Certified Device Models, One Catalog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/ 4-gang smart wiring modules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757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360045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0045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Panels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0045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3.5″ and 11″ smart control panels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506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7794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7794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794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&amp; outdoor access control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7255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5543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5543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5543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&amp; outdoor security monitoring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2336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light, water-leak, gas-leak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7570" y="342900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60045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00450" y="402336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Curtain Motor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00450" y="434340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window covering control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5060" y="342900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37794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7940" y="402336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/ Gateway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77940" y="434340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connectivity brain of the home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0B0C0E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certified for the Saudi market (SABER + CITC) and unified under one identity, one app, one support line.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Five-Tier Pricing Structure : With a Built-In New Revenue Channel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9110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1671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Factory-landed cost, no margin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670048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877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Technical 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8437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price for company-run projects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346704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6440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buyers : contractors, developers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0A5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336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9410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/ Independent Technicians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19709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price, two channels : the new demand source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8114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700016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46177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(End Customer)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8737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below local market : penetration pricing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0B0C0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channel: independent technicians (not on SYLTRA's payroll) buy at the same price as agents/distributors to run their own client projects : more volume, zero hiring commitment, no new price point.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One: A 6-Month Foundation &amp; Marketing Sprint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strategy &amp; investor relations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Manager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deputy : platform &amp; delivery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Developer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826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platform engineering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666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Officer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94106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admin support : client success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3251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Sales Representatives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5994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3,000 base + 2% per project, target 4 projects each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9834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Accountant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controls &amp; reporting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Ramp : Months 1–6 (SAR)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720840" y="1920240"/>
          <a:ext cx="4800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One: Cost, Revenue &amp; the Path to Break-Even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805,880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One cost (6 months, incl. one-time setup)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509,000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9359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One revenue (6 months)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-296,880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251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 : mostly one-time capex (~225K)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7143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7143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operating break-even (excl. one-time capex)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(SAR)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38328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338328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0B0C0E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33832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 5, operations run at a growing surplus : roughly SAR 22,133/month, rising to over SAR 131,000/month once the team scales to 8 projects/month from Month 7. The deficit remaining at Month 6 is one-time foundation capex, not a recurring burn.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SCALE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From China : Same Fixed Certification, Falling Cost Per Unit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2651760"/>
                <a:gridCol w="2011680"/>
                <a:gridCol w="22860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Test?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Cert. Cost /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$9,600 – $21,100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$16,543 – $41,856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$93,000 – $158,000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3484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+ CITC certification is a FIXED cost per product model ($5,150–$11,700 for 14 models) regardless of order size : the larger the batch, the lower the certification cost per unit.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to Win: 15% Below the Local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average local market price, item by item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41,185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retail revenue : 218-unit pilot batch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189,600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retail revenue : 1,000-unit scaled batch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44%–66%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8972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range across the product catalog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Research-grounded pricing (Noon, Jarir, Amazon.sa, Aqara KSA) confirms SYLTRA can undercut premium competitors by 15% while preserving healthy margin : a deliberate penetration strategy to win share fast.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to Regional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(Months 1–6)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579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formation, core team, first client projects, brand build-out.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" y="23957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723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218-unit pilot batch from China : prove product-market fit.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" y="33101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Production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867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unit commercial batch once demand is confirmed.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" y="42245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572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Expansion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9011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analytics, and AI-driven automation layered on the app.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968" y="51389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54864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Growth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8155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Riyadh across the Kingdom, then the GCC.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900,000 for 20% : Sized Directly Off This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Need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 (6-month foundation)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36162" y="21488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805,880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scaled batch (1,000-unit, high end)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36162" y="26060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≈157,000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contingency (≈10%)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36162" y="30632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≈96,000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212080" cy="0"/>
          </a:xfrm>
          <a:prstGeom prst="line">
            <a:avLst/>
          </a:prstGeom>
          <a:noFill/>
          <a:ln w="12700">
            <a:solidFill>
              <a:srgbClr val="E7E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targeted capital need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36162" y="35204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≈1,059,000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Terms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requested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79992" y="21488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900,000 (≈$240,000)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79992" y="26060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79992" y="30632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3,600,000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79992" y="35204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4,500,000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Post-Round Cap Table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5F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0467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Founder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5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9359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5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8251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A5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17143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7143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Saudi Smart Home Standard :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2700">
            <a:solidFill>
              <a:srgbClr val="B7BD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SMART ® : Smart Living. Seamlessly Connected.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anas.msd.ramsees@gmail.com   ·   Riyadh, Kingdom of Saudi Arabia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2026-08-10T21:53:18Z</dcterms:created>
  <dcterms:modified xsi:type="dcterms:W3CDTF">2026-08-10T21:53:18Z</dcterms:modified>
</cp:coreProperties>
</file>